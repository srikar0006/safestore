
<file path=[Content_Types].xml><?xml version="1.0" encoding="utf-8"?>
<Types xmlns="http://schemas.openxmlformats.org/package/2006/content-types">
  <Default Extension="xml" ContentType="application/xml"/>
  <Default Extension="xlsx" ContentType="application/vnd.openxmlformats-officedocument.spreadsheetml.sheet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slides/slide6.xml" ContentType="application/vnd.openxmlformats-officedocument.presentationml.slide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charts/chart1.xml" ContentType="application/vnd.openxmlformats-officedocument.drawingml.chart+xml"/>
  <Override PartName="/ppt/slideLayouts/slideLayout1.xml" ContentType="application/vnd.openxmlformats-officedocument.presentationml.slideLayout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10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12192000" cy="6858000"/>
  <p:notesSz cx="6858000" cy="12192000"/>
  <p:defaultTextStyle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 /><Relationship Id="rId12" Type="http://schemas.openxmlformats.org/officeDocument/2006/relationships/tableStyles" Target="tableStyles.xml" /><Relationship Id="rId13" Type="http://schemas.openxmlformats.org/officeDocument/2006/relationships/viewProps" Target="viewProps.xml" 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 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mc="http://schemas.openxmlformats.org/markup-compatibility/2006" xmlns:c15="http://schemas.microsoft.com/office/drawing/2012/chart" xmlns:c14="http://schemas.microsoft.com/office/drawing/2007/8/2/chart" xmlns:c16r2="http://schemas.microsoft.com/office/drawing/2015/06/chart">
  <c:date1904 val="0"/>
  <c:roundedCorners val="1"/>
  <mc:AlternateContent>
    <mc:Choice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400" b="0" i="0" u="none" strike="noStrike">
                <a:solidFill>
                  <a:srgbClr val="0F1C2B"/>
                </a:solidFill>
                <a:latin typeface="Arial"/>
              </a:defRPr>
            </a:pPr>
            <a:r>
              <a:rPr sz="1400" b="0" i="0" u="none" strike="noStrike">
                <a:solidFill>
                  <a:srgbClr val="0F1C2B"/>
                </a:solidFill>
                <a:latin typeface="Arial"/>
              </a:rPr>
              <a:t>Backup size (MB)</a:t>
            </a:r>
            <a:endParaRPr/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Text set</c:v>
                </c:pt>
              </c:strCache>
            </c:strRef>
          </c:tx>
          <c:spPr bwMode="auto">
            <a:prstGeom prst="rect">
              <a:avLst/>
            </a:prstGeom>
            <a:solidFill>
              <a:srgbClr val="12A58C"/>
            </a:solidFill>
            <a:effectLst/>
          </c:spPr>
          <c:invertIfNegative val="0"/>
          <c:dLbls>
            <c:numFmt formatCode="0.0" sourceLinked="0"/>
            <c:showBubbleSize val="0"/>
            <c:showCatName val="0"/>
            <c:showLeaderLines val="0"/>
            <c:showLegendKey val="0"/>
            <c:showPercent val="0"/>
            <c:showSerName val="0"/>
            <c:showVal val="1"/>
            <c:txPr>
              <a:bodyPr/>
              <a:lstStyle/>
              <a:p>
                <a:pPr>
                  <a:defRPr sz="1000" b="0" i="0" u="none" strike="noStrike">
                    <a:solidFill>
                      <a:srgbClr val="1D2A36"/>
                    </a:solidFill>
                    <a:latin typeface="Arial"/>
                  </a:defRPr>
                </a:pPr>
                <a:endParaRPr/>
              </a:p>
            </c:txPr>
          </c:dLbls>
          <c:cat>
            <c:multiLvlStrRef>
              <c:f>Sheet1!$A$2:$A$5</c:f>
              <c:multiLvlStrCache>
                <c:ptCount val="4"/>
                <c:lvl>
                  <c:pt idx="0">
                    <c:v>Plain copy</c:v>
                  </c:pt>
                  <c:pt idx="1">
                    <c:v>lz4</c:v>
                  </c:pt>
                  <c:pt idx="2">
                    <c:v>AES</c:v>
                  </c:pt>
                  <c:pt idx="3">
                    <c:v>lz4 + AES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51.7</c:v>
                </c:pt>
                <c:pt idx="1">
                  <c:v>22.3</c:v>
                </c:pt>
                <c:pt idx="2">
                  <c:v>51.9</c:v>
                </c:pt>
                <c:pt idx="3">
                  <c:v>22.3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Binary set</c:v>
                </c:pt>
              </c:strCache>
            </c:strRef>
          </c:tx>
          <c:spPr bwMode="auto">
            <a:prstGeom prst="rect">
              <a:avLst/>
            </a:prstGeom>
            <a:solidFill>
              <a:srgbClr val="9AA7B2"/>
            </a:solidFill>
            <a:effectLst/>
          </c:spPr>
          <c:invertIfNegative val="0"/>
          <c:dLbls>
            <c:numFmt formatCode="0.0" sourceLinked="0"/>
            <c:showBubbleSize val="0"/>
            <c:showCatName val="0"/>
            <c:showLeaderLines val="0"/>
            <c:showLegendKey val="0"/>
            <c:showPercent val="0"/>
            <c:showSerName val="0"/>
            <c:showVal val="1"/>
            <c:txPr>
              <a:bodyPr/>
              <a:lstStyle/>
              <a:p>
                <a:pPr>
                  <a:defRPr sz="1000" b="0" i="0" u="none" strike="noStrike">
                    <a:solidFill>
                      <a:srgbClr val="1D2A36"/>
                    </a:solidFill>
                    <a:latin typeface="Arial"/>
                  </a:defRPr>
                </a:pPr>
                <a:endParaRPr/>
              </a:p>
            </c:txPr>
          </c:dLbls>
          <c:cat>
            <c:multiLvlStrRef>
              <c:f>Sheet1!$A$2:$A$5</c:f>
              <c:multiLvlStrCache>
                <c:ptCount val="4"/>
                <c:lvl>
                  <c:pt idx="0">
                    <c:v>Plain copy</c:v>
                  </c:pt>
                  <c:pt idx="1">
                    <c:v>lz4</c:v>
                  </c:pt>
                  <c:pt idx="2">
                    <c:v>AES</c:v>
                  </c:pt>
                  <c:pt idx="3">
                    <c:v>lz4 + AES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50</c:v>
                </c:pt>
                <c:pt idx="1">
                  <c:v>50</c:v>
                </c:pt>
                <c:pt idx="2">
                  <c:v>50</c:v>
                </c:pt>
                <c:pt idx="3">
                  <c:v>50</c:v>
                </c:pt>
              </c:numCache>
            </c:numRef>
          </c:val>
        </c:ser>
        <c:dLbls>
          <c:numFmt formatCode="0.0" sourceLinked="0"/>
          <c:showBubbleSize val="0"/>
          <c:showCatName val="0"/>
          <c:showLeaderLines val="0"/>
          <c:showLegendKey val="0"/>
          <c:showPercent val="0"/>
          <c:showSerName val="0"/>
          <c:showVal val="1"/>
          <c:txPr>
            <a:bodyPr/>
            <a:lstStyle/>
            <a:p>
              <a:pPr>
                <a:defRPr sz="1000" b="0" i="0" u="none" strike="noStrike">
                  <a:solidFill>
                    <a:srgbClr val="1D2A36"/>
                  </a:solidFill>
                  <a:latin typeface="Arial"/>
                </a:defRPr>
              </a:pPr>
              <a:endParaRPr/>
            </a:p>
          </c:txPr>
        </c:dLbls>
        <c:gapWidth val="6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 bwMode="auto">
          <a:prstGeom prst="rect">
            <a:avLst/>
          </a:prstGeom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F7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.000000"/>
        </c:scaling>
        <c:delete val="0"/>
        <c:axPos val="l"/>
        <c:majorGridlines>
          <c:spPr bwMode="auto">
            <a:prstGeom prst="rect">
              <a:avLst/>
            </a:prstGeom>
            <a:ln w="6350" cap="flat">
              <a:solidFill>
                <a:srgbClr val="E6EC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 bwMode="auto">
          <a:prstGeom prst="rect">
            <a:avLst/>
          </a:prstGeom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F7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 bwMode="auto">
        <a:prstGeom prst="rect">
          <a:avLst/>
        </a:prstGeom>
        <a:noFill/>
        <a:ln>
          <a:noFill/>
        </a:ln>
        <a:effectLst/>
      </c:spPr>
    </c:plotArea>
    <c:legend>
      <c:legendPos val="b"/>
      <c:layout/>
      <c:overlay val="0"/>
      <c:txPr>
        <a:bodyPr/>
        <a:lstStyle/>
        <a:p>
          <a:pPr>
            <a:defRPr sz="1100">
              <a:solidFill>
                <a:srgbClr val="1D2A36"/>
              </a:solidFill>
            </a:defRPr>
          </a:pPr>
          <a:endParaRPr lang="en-US"/>
        </a:p>
      </c:txPr>
    </c:legend>
    <c:plotVisOnly val="1"/>
    <c:dispBlanksAs val="span"/>
    <c:showDLblsOverMax val="0"/>
  </c:chart>
  <c:spPr bwMode="auto">
    <a:xfrm rot="0">
      <a:off x="4114800" y="1508759"/>
      <a:ext cx="4663440" cy="4572000"/>
    </a:xfrm>
    <a:prstGeom prst="rect">
      <a:avLst/>
    </a:prstGeom>
    <a:noFill/>
    <a:ln>
      <a:noFill/>
    </a:ln>
    <a:effectLst/>
  </c:spPr>
  <c:externalData r:id="rId1">
    <c:autoUpdate val="1"/>
  </c:externalData>
</c:chartSpace>
</file>

<file path=ppt/embeddings/_rels/Microsoft_Excel_Worksheet1.xlsx.rels><?xml version="1.0" encoding="UTF-8" standalone="yes"?><Relationships xmlns="http://schemas.openxmlformats.org/package/2006/relationships"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7466978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58743448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12795737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321394999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1638234330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87036526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9198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576260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Introduce the team and the one-line pitch: SafeStore backs up any file or folder with optional compression and encryption, keeps every version, and restores any version interactively.</a:t>
            </a:r>
            <a:endParaRPr lang="en-US"/>
          </a:p>
        </p:txBody>
      </p:sp>
      <p:sp>
        <p:nvSpPr>
          <p:cNvPr id="12788350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543967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912083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Walk through do_backup(): resolve path, hash it, timestamp, optionally tar+lz4, optionally AES-256 via OpenSSL with PBKDF2, then log to CSV. The same code path produces four storage formats.</a:t>
            </a:r>
            <a:endParaRPr lang="en-US"/>
          </a:p>
        </p:txBody>
      </p:sp>
      <p:sp>
        <p:nvSpPr>
          <p:cNvPr id="8023086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615923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331201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Emphasise that the novelty is in the combination: zero-setup, per-backup choice of compression/encryption, and a restore that figures out the format by itself. Be honest that dedup-based tools are more storage-efficient.</a:t>
            </a:r>
            <a:endParaRPr lang="en-US"/>
          </a:p>
        </p:txBody>
      </p:sp>
      <p:sp>
        <p:nvSpPr>
          <p:cNvPr id="18011602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619197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417310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Adaptability shows up at three levels: the user adapts the pipeline per backup, a developer swaps a back-end module, and the tool fits different user groups without configuration.</a:t>
            </a:r>
            <a:endParaRPr lang="en-US"/>
          </a:p>
        </p:txBody>
      </p:sp>
      <p:sp>
        <p:nvSpPr>
          <p:cNvPr id="11132747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259857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548176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These numbers come from running the compiled binary. Text data compressed from 51.7 MB to 22.3 MB. Random data did not compress, which justifies making -c optional. All 8 restores matched the originals exactly. AES adds only a small header and padding.</a:t>
            </a:r>
            <a:endParaRPr lang="en-US"/>
          </a:p>
        </p:txBody>
      </p:sp>
      <p:sp>
        <p:nvSpPr>
          <p:cNvPr id="11067590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165024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1140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Accessibility is strong by design: open formats mean nobody is locked in. Dissemination is the weakest area today, so present the concrete plan: README, licence, man page, packages, and a demo video.</a:t>
            </a:r>
            <a:endParaRPr lang="en-US"/>
          </a:p>
        </p:txBody>
      </p:sp>
      <p:sp>
        <p:nvSpPr>
          <p:cNvPr id="1706768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57451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461914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Summarise one point per criterion, then close with future work and invite questions.</a:t>
            </a:r>
            <a:endParaRPr lang="en-US"/>
          </a:p>
        </p:txBody>
      </p:sp>
      <p:sp>
        <p:nvSpPr>
          <p:cNvPr id="13997277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dt="0" ftr="0" hdr="0" sldNum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 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bg>
      <p:bgPr shadeToTitle="0">
        <a:solidFill>
          <a:srgbClr val="0F1C2B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740174" name="Shape 0"/>
          <p:cNvSpPr/>
          <p:nvPr/>
        </p:nvSpPr>
        <p:spPr bwMode="auto">
          <a:xfrm>
            <a:off x="731520" y="822960"/>
            <a:ext cx="1005840" cy="1005840"/>
          </a:xfrm>
          <a:prstGeom prst="ellipse">
            <a:avLst/>
          </a:prstGeom>
          <a:solidFill>
            <a:srgbClr val="12A58C"/>
          </a:solidFill>
          <a:ln w="12700">
            <a:solidFill>
              <a:srgbClr val="12A58C"/>
            </a:solidFill>
            <a:prstDash val="solid"/>
          </a:ln>
        </p:spPr>
      </p:sp>
      <p:pic>
        <p:nvPicPr>
          <p:cNvPr id="877115691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982980" y="1074420"/>
            <a:ext cx="502920" cy="502920"/>
          </a:xfrm>
          <a:prstGeom prst="rect">
            <a:avLst/>
          </a:prstGeom>
        </p:spPr>
      </p:pic>
      <p:sp>
        <p:nvSpPr>
          <p:cNvPr id="1608584762" name="Text 1"/>
          <p:cNvSpPr txBox="1"/>
          <p:nvPr/>
        </p:nvSpPr>
        <p:spPr bwMode="auto">
          <a:xfrm>
            <a:off x="731520" y="20574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6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SafeStore</a:t>
            </a:r>
            <a:endParaRPr lang="en-US" sz="6000"/>
          </a:p>
        </p:txBody>
      </p:sp>
      <p:sp>
        <p:nvSpPr>
          <p:cNvPr id="1855714899" name="Text 2"/>
          <p:cNvSpPr txBox="1"/>
          <p:nvPr/>
        </p:nvSpPr>
        <p:spPr bwMode="auto">
          <a:xfrm>
            <a:off x="731520" y="30632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>
                <a:solidFill>
                  <a:srgbClr val="CFE3E0"/>
                </a:solidFill>
                <a:latin typeface="Calibri"/>
                <a:ea typeface="Calibri"/>
                <a:cs typeface="Calibri"/>
              </a:rPr>
              <a:t>A composable backup &amp; restore utility for Linux, written in C</a:t>
            </a:r>
            <a:endParaRPr lang="en-US" sz="2200"/>
          </a:p>
        </p:txBody>
      </p:sp>
      <p:sp>
        <p:nvSpPr>
          <p:cNvPr id="344511577" name="Text 3"/>
          <p:cNvSpPr txBox="1"/>
          <p:nvPr/>
        </p:nvSpPr>
        <p:spPr bwMode="auto">
          <a:xfrm>
            <a:off x="731520" y="36118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i="1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Operating Systems Project  ·  Methodology Review</a:t>
            </a:r>
            <a:endParaRPr lang="en-US" sz="1600"/>
          </a:p>
        </p:txBody>
      </p:sp>
      <p:sp>
        <p:nvSpPr>
          <p:cNvPr id="226085924" name="Shape 4"/>
          <p:cNvSpPr/>
          <p:nvPr/>
        </p:nvSpPr>
        <p:spPr bwMode="auto">
          <a:xfrm>
            <a:off x="731520" y="4526280"/>
            <a:ext cx="5852160" cy="1600200"/>
          </a:xfrm>
          <a:prstGeom prst="roundRect">
            <a:avLst>
              <a:gd name="adj" fmla="val 6857"/>
            </a:avLst>
          </a:prstGeom>
          <a:solidFill>
            <a:srgbClr val="182A3D"/>
          </a:solidFill>
          <a:ln w="12700">
            <a:solidFill>
              <a:srgbClr val="182A3D"/>
            </a:solidFill>
            <a:prstDash val="solid"/>
          </a:ln>
        </p:spPr>
      </p:sp>
      <p:sp>
        <p:nvSpPr>
          <p:cNvPr id="344491713" name="Text 5"/>
          <p:cNvSpPr txBox="1"/>
          <p:nvPr/>
        </p:nvSpPr>
        <p:spPr bwMode="auto">
          <a:xfrm>
            <a:off x="1005840" y="4663440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  <a:defRPr/>
            </a:pPr>
            <a:r>
              <a:rPr lang="en-US" sz="1200" b="1" spc="300">
                <a:solidFill>
                  <a:srgbClr val="12A58C"/>
                </a:solidFill>
                <a:latin typeface="Calibri"/>
                <a:ea typeface="Calibri"/>
                <a:cs typeface="Calibri"/>
              </a:rPr>
              <a:t>TEAM</a:t>
            </a:r>
            <a:endParaRPr lang="en-US" sz="1600"/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US" sz="1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2510030006  –  N Srikar (Team Lead)</a:t>
            </a:r>
            <a:endParaRPr lang="en-US" sz="1600"/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US" sz="1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2510030147  –  U Yogendra</a:t>
            </a:r>
            <a:endParaRPr lang="en-US" sz="1600"/>
          </a:p>
          <a:p>
            <a:pPr marL="0" indent="0">
              <a:spcAft>
                <a:spcPts val="399"/>
              </a:spcAft>
              <a:buNone/>
              <a:defRPr/>
            </a:pPr>
            <a:r>
              <a:rPr lang="en-US" sz="1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2510030008  –  G Pranav</a:t>
            </a:r>
            <a:br>
              <a:rPr lang="en-US" sz="1600">
                <a:solidFill>
                  <a:srgbClr val="FFFFFF"/>
                </a:solidFill>
                <a:latin typeface="Calibri"/>
                <a:ea typeface="Calibri"/>
                <a:cs typeface="Calibri"/>
              </a:rPr>
            </a:br>
            <a:r>
              <a:rPr lang="en-US" sz="1600" b="0" i="0" u="none" strike="noStrike" cap="none" spc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2510030052  –  </a:t>
            </a:r>
            <a:r>
              <a:rPr lang="en-US" sz="1600" b="0" i="0" u="none" strike="noStrike" cap="none" spc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Suleman Khan</a:t>
            </a:r>
            <a:endParaRPr sz="1600"/>
          </a:p>
        </p:txBody>
      </p:sp>
      <p:sp>
        <p:nvSpPr>
          <p:cNvPr id="1097839963" name="Shape 6"/>
          <p:cNvSpPr/>
          <p:nvPr/>
        </p:nvSpPr>
        <p:spPr bwMode="auto">
          <a:xfrm>
            <a:off x="7406640" y="4526280"/>
            <a:ext cx="4069080" cy="1600200"/>
          </a:xfrm>
          <a:prstGeom prst="roundRect">
            <a:avLst>
              <a:gd name="adj" fmla="val 6857"/>
            </a:avLst>
          </a:prstGeom>
          <a:solidFill>
            <a:srgbClr val="0A1520"/>
          </a:solidFill>
          <a:ln w="12700">
            <a:solidFill>
              <a:srgbClr val="12A58C"/>
            </a:solidFill>
            <a:prstDash val="solid"/>
          </a:ln>
        </p:spPr>
      </p:sp>
      <p:sp>
        <p:nvSpPr>
          <p:cNvPr id="1701144418" name="Text 7"/>
          <p:cNvSpPr txBox="1"/>
          <p:nvPr/>
        </p:nvSpPr>
        <p:spPr bwMode="auto">
          <a:xfrm>
            <a:off x="7635240" y="4663440"/>
            <a:ext cx="3749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800"/>
              </a:spcAft>
              <a:buNone/>
              <a:defRPr/>
            </a:pPr>
            <a:r>
              <a:rPr lang="en-US" sz="1400">
                <a:solidFill>
                  <a:srgbClr val="9FE3D5"/>
                </a:solidFill>
                <a:latin typeface="Courier New"/>
                <a:ea typeface="Courier New"/>
                <a:cs typeface="Courier New"/>
              </a:rPr>
              <a:t>$ safestore -b notes/ -c -e</a:t>
            </a:r>
            <a:endParaRPr lang="en-US" sz="14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400">
                <a:solidFill>
                  <a:srgbClr val="9FE3D5"/>
                </a:solidFill>
                <a:latin typeface="Courier New"/>
                <a:ea typeface="Courier New"/>
                <a:cs typeface="Courier New"/>
              </a:rPr>
              <a:t>$ safestore -l</a:t>
            </a:r>
            <a:endParaRPr lang="en-US" sz="14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400">
                <a:solidFill>
                  <a:srgbClr val="9FE3D5"/>
                </a:solidFill>
                <a:latin typeface="Courier New"/>
                <a:ea typeface="Courier New"/>
                <a:cs typeface="Courier New"/>
              </a:rPr>
              <a:t>$ safestore -r notes/</a:t>
            </a:r>
            <a:endParaRPr lang="en-US" sz="1400"/>
          </a:p>
        </p:txBody>
      </p:sp>
      <p:sp>
        <p:nvSpPr>
          <p:cNvPr id="1112554421" name="Text 8"/>
          <p:cNvSpPr txBox="1"/>
          <p:nvPr/>
        </p:nvSpPr>
        <p:spPr bwMode="auto">
          <a:xfrm>
            <a:off x="7406640" y="621792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1100">
                <a:solidFill>
                  <a:srgbClr val="8FA3B3"/>
                </a:solidFill>
                <a:latin typeface="Calibri"/>
                <a:ea typeface="Calibri"/>
                <a:cs typeface="Calibri"/>
              </a:rPr>
              <a:t>github.com/srikar0006/safestore</a:t>
            </a:r>
            <a:endParaRPr lang="en-US" sz="11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9117819" name="Text 0"/>
          <p:cNvSpPr txBox="1"/>
          <p:nvPr/>
        </p:nvSpPr>
        <p:spPr bwMode="auto"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 spc="300">
                <a:solidFill>
                  <a:srgbClr val="12A58C"/>
                </a:solidFill>
                <a:latin typeface="Arial"/>
                <a:ea typeface="Arial"/>
                <a:cs typeface="Arial"/>
              </a:rPr>
              <a:t>DEVELOPED METHODOLOGY</a:t>
            </a:r>
            <a:endParaRPr lang="en-US" sz="1200"/>
          </a:p>
        </p:txBody>
      </p:sp>
      <p:sp>
        <p:nvSpPr>
          <p:cNvPr id="1493563518" name="Text 1"/>
          <p:cNvSpPr txBox="1"/>
          <p:nvPr/>
        </p:nvSpPr>
        <p:spPr bwMode="auto"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0F1C2B"/>
                </a:solidFill>
                <a:latin typeface="Arial"/>
                <a:ea typeface="Arial"/>
                <a:cs typeface="Arial"/>
              </a:rPr>
              <a:t>One pipeline, four storage modes</a:t>
            </a:r>
            <a:endParaRPr lang="en-US" sz="3200"/>
          </a:p>
        </p:txBody>
      </p:sp>
      <p:sp>
        <p:nvSpPr>
          <p:cNvPr id="1029476592" name="Shape 2"/>
          <p:cNvSpPr/>
          <p:nvPr/>
        </p:nvSpPr>
        <p:spPr bwMode="auto">
          <a:xfrm>
            <a:off x="548640" y="1737360"/>
            <a:ext cx="1691640" cy="1325880"/>
          </a:xfrm>
          <a:prstGeom prst="roundRect">
            <a:avLst>
              <a:gd name="adj" fmla="val 8276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723515281" name="Text 3"/>
          <p:cNvSpPr txBox="1"/>
          <p:nvPr/>
        </p:nvSpPr>
        <p:spPr bwMode="auto">
          <a:xfrm>
            <a:off x="685800" y="184708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2A58C"/>
                </a:solidFill>
                <a:latin typeface="Arial"/>
                <a:ea typeface="Arial"/>
                <a:cs typeface="Arial"/>
              </a:rPr>
              <a:t>1</a:t>
            </a:r>
            <a:endParaRPr lang="en-US" sz="1600"/>
          </a:p>
        </p:txBody>
      </p:sp>
      <p:sp>
        <p:nvSpPr>
          <p:cNvPr id="1571561664" name="Text 4"/>
          <p:cNvSpPr txBox="1"/>
          <p:nvPr/>
        </p:nvSpPr>
        <p:spPr bwMode="auto">
          <a:xfrm>
            <a:off x="685800" y="217627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F1C2B"/>
                </a:solidFill>
                <a:latin typeface="Courier New"/>
                <a:ea typeface="Courier New"/>
                <a:cs typeface="Courier New"/>
              </a:rPr>
              <a:t>realpath()</a:t>
            </a:r>
            <a:endParaRPr lang="en-US" sz="1400"/>
          </a:p>
        </p:txBody>
      </p:sp>
      <p:sp>
        <p:nvSpPr>
          <p:cNvPr id="564433841" name="Text 5"/>
          <p:cNvSpPr txBox="1"/>
          <p:nvPr/>
        </p:nvSpPr>
        <p:spPr bwMode="auto">
          <a:xfrm>
            <a:off x="685800" y="2523744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Resolve to an absolute path</a:t>
            </a:r>
            <a:endParaRPr lang="en-US" sz="1200"/>
          </a:p>
        </p:txBody>
      </p:sp>
      <p:sp>
        <p:nvSpPr>
          <p:cNvPr id="534716868" name="Shape 6"/>
          <p:cNvSpPr/>
          <p:nvPr/>
        </p:nvSpPr>
        <p:spPr bwMode="auto">
          <a:xfrm>
            <a:off x="2423160" y="1737360"/>
            <a:ext cx="1691640" cy="1325880"/>
          </a:xfrm>
          <a:prstGeom prst="roundRect">
            <a:avLst>
              <a:gd name="adj" fmla="val 8276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1098473955" name="Text 7"/>
          <p:cNvSpPr txBox="1"/>
          <p:nvPr/>
        </p:nvSpPr>
        <p:spPr bwMode="auto">
          <a:xfrm>
            <a:off x="2560320" y="184708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2A58C"/>
                </a:solidFill>
                <a:latin typeface="Arial"/>
                <a:ea typeface="Arial"/>
                <a:cs typeface="Arial"/>
              </a:rPr>
              <a:t>2</a:t>
            </a:r>
            <a:endParaRPr lang="en-US" sz="1600"/>
          </a:p>
        </p:txBody>
      </p:sp>
      <p:sp>
        <p:nvSpPr>
          <p:cNvPr id="1088953225" name="Text 8"/>
          <p:cNvSpPr txBox="1"/>
          <p:nvPr/>
        </p:nvSpPr>
        <p:spPr bwMode="auto">
          <a:xfrm>
            <a:off x="2560320" y="217627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F1C2B"/>
                </a:solidFill>
                <a:latin typeface="Courier New"/>
                <a:ea typeface="Courier New"/>
                <a:cs typeface="Courier New"/>
              </a:rPr>
              <a:t>sha1(path)</a:t>
            </a:r>
            <a:endParaRPr lang="en-US" sz="1400"/>
          </a:p>
        </p:txBody>
      </p:sp>
      <p:sp>
        <p:nvSpPr>
          <p:cNvPr id="831291839" name="Text 9"/>
          <p:cNvSpPr txBox="1"/>
          <p:nvPr/>
        </p:nvSpPr>
        <p:spPr bwMode="auto">
          <a:xfrm>
            <a:off x="2560320" y="2523744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Bucket name for the file</a:t>
            </a:r>
            <a:endParaRPr lang="en-US" sz="1200"/>
          </a:p>
        </p:txBody>
      </p:sp>
      <p:sp>
        <p:nvSpPr>
          <p:cNvPr id="194272504" name="Shape 10"/>
          <p:cNvSpPr/>
          <p:nvPr/>
        </p:nvSpPr>
        <p:spPr bwMode="auto">
          <a:xfrm>
            <a:off x="4297680" y="1737360"/>
            <a:ext cx="1691640" cy="1325880"/>
          </a:xfrm>
          <a:prstGeom prst="roundRect">
            <a:avLst>
              <a:gd name="adj" fmla="val 8276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673893502" name="Text 11"/>
          <p:cNvSpPr txBox="1"/>
          <p:nvPr/>
        </p:nvSpPr>
        <p:spPr bwMode="auto">
          <a:xfrm>
            <a:off x="4434840" y="184708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2A58C"/>
                </a:solidFill>
                <a:latin typeface="Arial"/>
                <a:ea typeface="Arial"/>
                <a:cs typeface="Arial"/>
              </a:rPr>
              <a:t>3</a:t>
            </a:r>
            <a:endParaRPr lang="en-US" sz="1600"/>
          </a:p>
        </p:txBody>
      </p:sp>
      <p:sp>
        <p:nvSpPr>
          <p:cNvPr id="1986009193" name="Text 12"/>
          <p:cNvSpPr txBox="1"/>
          <p:nvPr/>
        </p:nvSpPr>
        <p:spPr bwMode="auto">
          <a:xfrm>
            <a:off x="4434840" y="217627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F1C2B"/>
                </a:solidFill>
                <a:latin typeface="Courier New"/>
                <a:ea typeface="Courier New"/>
                <a:cs typeface="Courier New"/>
              </a:rPr>
              <a:t>timestamp</a:t>
            </a:r>
            <a:endParaRPr lang="en-US" sz="1400"/>
          </a:p>
        </p:txBody>
      </p:sp>
      <p:sp>
        <p:nvSpPr>
          <p:cNvPr id="221985504" name="Text 13"/>
          <p:cNvSpPr txBox="1"/>
          <p:nvPr/>
        </p:nvSpPr>
        <p:spPr bwMode="auto">
          <a:xfrm>
            <a:off x="4434840" y="2523744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Snapshot folder YYYYMMDD-HHMMSS</a:t>
            </a:r>
            <a:endParaRPr lang="en-US" sz="1200"/>
          </a:p>
        </p:txBody>
      </p:sp>
      <p:sp>
        <p:nvSpPr>
          <p:cNvPr id="1297403048" name="Shape 14"/>
          <p:cNvSpPr/>
          <p:nvPr/>
        </p:nvSpPr>
        <p:spPr bwMode="auto">
          <a:xfrm>
            <a:off x="6172200" y="1737360"/>
            <a:ext cx="1691640" cy="1325880"/>
          </a:xfrm>
          <a:prstGeom prst="roundRect">
            <a:avLst>
              <a:gd name="adj" fmla="val 8276"/>
            </a:avLst>
          </a:prstGeom>
          <a:solidFill>
            <a:srgbClr val="FFF4E2"/>
          </a:solidFill>
          <a:ln w="12700">
            <a:solidFill>
              <a:srgbClr val="FFF4E2"/>
            </a:solidFill>
            <a:prstDash val="solid"/>
          </a:ln>
        </p:spPr>
      </p:sp>
      <p:sp>
        <p:nvSpPr>
          <p:cNvPr id="251643581" name="Text 15"/>
          <p:cNvSpPr txBox="1"/>
          <p:nvPr/>
        </p:nvSpPr>
        <p:spPr bwMode="auto">
          <a:xfrm>
            <a:off x="6309360" y="184708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B87410"/>
                </a:solidFill>
                <a:latin typeface="Arial"/>
                <a:ea typeface="Arial"/>
                <a:cs typeface="Arial"/>
              </a:rPr>
              <a:t>4</a:t>
            </a:r>
            <a:endParaRPr lang="en-US" sz="1600"/>
          </a:p>
        </p:txBody>
      </p:sp>
      <p:sp>
        <p:nvSpPr>
          <p:cNvPr id="1014648655" name="Text 16"/>
          <p:cNvSpPr txBox="1"/>
          <p:nvPr/>
        </p:nvSpPr>
        <p:spPr bwMode="auto">
          <a:xfrm>
            <a:off x="6309360" y="217627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F1C2B"/>
                </a:solidFill>
                <a:latin typeface="Courier New"/>
                <a:ea typeface="Courier New"/>
                <a:cs typeface="Courier New"/>
              </a:rPr>
              <a:t>tar → lz4</a:t>
            </a:r>
            <a:endParaRPr lang="en-US" sz="1400"/>
          </a:p>
        </p:txBody>
      </p:sp>
      <p:sp>
        <p:nvSpPr>
          <p:cNvPr id="649817490" name="Text 17"/>
          <p:cNvSpPr txBox="1"/>
          <p:nvPr/>
        </p:nvSpPr>
        <p:spPr bwMode="auto">
          <a:xfrm>
            <a:off x="6309360" y="2523744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Optional, with -c</a:t>
            </a:r>
            <a:endParaRPr lang="en-US" sz="1200"/>
          </a:p>
        </p:txBody>
      </p:sp>
      <p:sp>
        <p:nvSpPr>
          <p:cNvPr id="298863274" name="Shape 18"/>
          <p:cNvSpPr/>
          <p:nvPr/>
        </p:nvSpPr>
        <p:spPr bwMode="auto">
          <a:xfrm>
            <a:off x="8046720" y="1737360"/>
            <a:ext cx="1691640" cy="1325880"/>
          </a:xfrm>
          <a:prstGeom prst="roundRect">
            <a:avLst>
              <a:gd name="adj" fmla="val 8276"/>
            </a:avLst>
          </a:prstGeom>
          <a:solidFill>
            <a:srgbClr val="FFF4E2"/>
          </a:solidFill>
          <a:ln w="12700">
            <a:solidFill>
              <a:srgbClr val="FFF4E2"/>
            </a:solidFill>
            <a:prstDash val="solid"/>
          </a:ln>
        </p:spPr>
      </p:sp>
      <p:sp>
        <p:nvSpPr>
          <p:cNvPr id="2108328204" name="Text 19"/>
          <p:cNvSpPr txBox="1"/>
          <p:nvPr/>
        </p:nvSpPr>
        <p:spPr bwMode="auto">
          <a:xfrm>
            <a:off x="8183880" y="184708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B87410"/>
                </a:solidFill>
                <a:latin typeface="Arial"/>
                <a:ea typeface="Arial"/>
                <a:cs typeface="Arial"/>
              </a:rPr>
              <a:t>5</a:t>
            </a:r>
            <a:endParaRPr lang="en-US" sz="1600"/>
          </a:p>
        </p:txBody>
      </p:sp>
      <p:sp>
        <p:nvSpPr>
          <p:cNvPr id="2010138614" name="Text 20"/>
          <p:cNvSpPr txBox="1"/>
          <p:nvPr/>
        </p:nvSpPr>
        <p:spPr bwMode="auto">
          <a:xfrm>
            <a:off x="8183880" y="217627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F1C2B"/>
                </a:solidFill>
                <a:latin typeface="Courier New"/>
                <a:ea typeface="Courier New"/>
                <a:cs typeface="Courier New"/>
              </a:rPr>
              <a:t>AES-256-CBC</a:t>
            </a:r>
            <a:endParaRPr lang="en-US" sz="1400"/>
          </a:p>
        </p:txBody>
      </p:sp>
      <p:sp>
        <p:nvSpPr>
          <p:cNvPr id="1987227473" name="Text 21"/>
          <p:cNvSpPr txBox="1"/>
          <p:nvPr/>
        </p:nvSpPr>
        <p:spPr bwMode="auto">
          <a:xfrm>
            <a:off x="8183880" y="2523744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Optional, with -e (PBKDF2 + salt)</a:t>
            </a:r>
            <a:endParaRPr lang="en-US" sz="1200"/>
          </a:p>
        </p:txBody>
      </p:sp>
      <p:sp>
        <p:nvSpPr>
          <p:cNvPr id="1375049282" name="Shape 22"/>
          <p:cNvSpPr/>
          <p:nvPr/>
        </p:nvSpPr>
        <p:spPr bwMode="auto">
          <a:xfrm>
            <a:off x="9921240" y="1737360"/>
            <a:ext cx="1691640" cy="1325880"/>
          </a:xfrm>
          <a:prstGeom prst="roundRect">
            <a:avLst>
              <a:gd name="adj" fmla="val 8276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1830512933" name="Text 23"/>
          <p:cNvSpPr txBox="1"/>
          <p:nvPr/>
        </p:nvSpPr>
        <p:spPr bwMode="auto">
          <a:xfrm>
            <a:off x="10058400" y="184708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2A58C"/>
                </a:solidFill>
                <a:latin typeface="Arial"/>
                <a:ea typeface="Arial"/>
                <a:cs typeface="Arial"/>
              </a:rPr>
              <a:t>6</a:t>
            </a:r>
            <a:endParaRPr lang="en-US" sz="1600"/>
          </a:p>
        </p:txBody>
      </p:sp>
      <p:sp>
        <p:nvSpPr>
          <p:cNvPr id="365385432" name="Text 24"/>
          <p:cNvSpPr txBox="1"/>
          <p:nvPr/>
        </p:nvSpPr>
        <p:spPr bwMode="auto">
          <a:xfrm>
            <a:off x="10058400" y="217627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F1C2B"/>
                </a:solidFill>
                <a:latin typeface="Courier New"/>
                <a:ea typeface="Courier New"/>
                <a:cs typeface="Courier New"/>
              </a:rPr>
              <a:t>file.csv</a:t>
            </a:r>
            <a:endParaRPr lang="en-US" sz="1400"/>
          </a:p>
        </p:txBody>
      </p:sp>
      <p:sp>
        <p:nvSpPr>
          <p:cNvPr id="1885090321" name="Text 25"/>
          <p:cNvSpPr txBox="1"/>
          <p:nvPr/>
        </p:nvSpPr>
        <p:spPr bwMode="auto">
          <a:xfrm>
            <a:off x="10058400" y="2523744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Append timestamp, path, hash</a:t>
            </a:r>
            <a:endParaRPr lang="en-US" sz="1200"/>
          </a:p>
        </p:txBody>
      </p:sp>
      <p:graphicFrame>
        <p:nvGraphicFramePr>
          <p:cNvPr id="169838884" name="Table 0"/>
          <p:cNvGraphicFramePr>
            <a:graphicFrameLocks xmlns:a="http://schemas.openxmlformats.org/drawingml/2006/main" noGrp="1"/>
          </p:cNvGraphicFramePr>
          <p:nvPr/>
        </p:nvGraphicFramePr>
        <p:xfrm rot="0">
          <a:off x="548640" y="3429000"/>
          <a:ext cx="6949440" cy="9144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737360"/>
                <a:gridCol w="2377440"/>
                <a:gridCol w="2834640"/>
              </a:tblGrid>
              <a:tr h="420624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Flags</a:t>
                      </a:r>
                      <a:endParaRPr lang="en-US" sz="13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0F1C2B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Stored as</a:t>
                      </a:r>
                      <a:endParaRPr lang="en-US" sz="13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0F1C2B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Best for</a:t>
                      </a:r>
                      <a:endParaRPr lang="en-US" sz="13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0F1C2B"/>
                    </a:solidFill>
                  </a:tcPr>
                </a:tc>
              </a:tr>
              <a:tr h="420624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rgbClr val="1D2A36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-b path</a:t>
                      </a:r>
                      <a:endParaRPr lang="en-US" sz="1200">
                        <a:latin typeface="Courier New"/>
                        <a:ea typeface="Courier New"/>
                        <a:cs typeface="Courier New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rgbClr val="1D2A36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path/  (plain cp -r)</a:t>
                      </a:r>
                      <a:endParaRPr lang="en-US" sz="1200">
                        <a:latin typeface="Courier New"/>
                        <a:ea typeface="Courier New"/>
                        <a:cs typeface="Courier New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rgbClr val="1D2A36"/>
                          </a:solidFill>
                          <a:latin typeface="Calibri"/>
                          <a:ea typeface="Calibri"/>
                          <a:cs typeface="Calibri"/>
                        </a:rPr>
                        <a:t>Instant, hand-restorable copies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</a:tcPr>
                </a:tc>
              </a:tr>
              <a:tr h="420624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rgbClr val="1D2A36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-b path -c</a:t>
                      </a:r>
                      <a:endParaRPr lang="en-US" sz="1200">
                        <a:latin typeface="Courier New"/>
                        <a:ea typeface="Courier New"/>
                        <a:cs typeface="Courier New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rgbClr val="1D2A36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path.tar.lz4</a:t>
                      </a:r>
                      <a:endParaRPr lang="en-US" sz="1200">
                        <a:latin typeface="Courier New"/>
                        <a:ea typeface="Courier New"/>
                        <a:cs typeface="Courier New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rgbClr val="1D2A36"/>
                          </a:solidFill>
                          <a:latin typeface="Calibri"/>
                          <a:ea typeface="Calibri"/>
                          <a:cs typeface="Calibri"/>
                        </a:rPr>
                        <a:t>Text, code, logs (space saving)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</a:tcPr>
                </a:tc>
              </a:tr>
              <a:tr h="420624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rgbClr val="1D2A36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-b path -e</a:t>
                      </a:r>
                      <a:endParaRPr lang="en-US" sz="1200">
                        <a:latin typeface="Courier New"/>
                        <a:ea typeface="Courier New"/>
                        <a:cs typeface="Courier New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rgbClr val="1D2A36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path.tar.enc</a:t>
                      </a:r>
                      <a:endParaRPr lang="en-US" sz="1200">
                        <a:latin typeface="Courier New"/>
                        <a:ea typeface="Courier New"/>
                        <a:cs typeface="Courier New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rgbClr val="1D2A36"/>
                          </a:solidFill>
                          <a:latin typeface="Calibri"/>
                          <a:ea typeface="Calibri"/>
                          <a:cs typeface="Calibri"/>
                        </a:rPr>
                        <a:t>Sensitive, already-compressed data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</a:tcPr>
                </a:tc>
              </a:tr>
              <a:tr h="420624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rgbClr val="1D2A36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-b path -c -e</a:t>
                      </a:r>
                      <a:endParaRPr lang="en-US" sz="1200">
                        <a:latin typeface="Courier New"/>
                        <a:ea typeface="Courier New"/>
                        <a:cs typeface="Courier New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rgbClr val="1D2A36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path.tar.lz4.enc</a:t>
                      </a:r>
                      <a:endParaRPr lang="en-US" sz="1200">
                        <a:latin typeface="Courier New"/>
                        <a:ea typeface="Courier New"/>
                        <a:cs typeface="Courier New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rgbClr val="1D2A36"/>
                          </a:solidFill>
                          <a:latin typeface="Calibri"/>
                          <a:ea typeface="Calibri"/>
                          <a:cs typeface="Calibri"/>
                        </a:rPr>
                        <a:t>Sensitive text that leaves the machine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58984270" name="Shape 26"/>
          <p:cNvSpPr/>
          <p:nvPr/>
        </p:nvSpPr>
        <p:spPr bwMode="auto">
          <a:xfrm>
            <a:off x="7863840" y="3429000"/>
            <a:ext cx="3749040" cy="2103120"/>
          </a:xfrm>
          <a:prstGeom prst="roundRect">
            <a:avLst>
              <a:gd name="adj" fmla="val 5217"/>
            </a:avLst>
          </a:prstGeom>
          <a:solidFill>
            <a:srgbClr val="0F1C2B"/>
          </a:solidFill>
          <a:ln w="12700">
            <a:solidFill>
              <a:srgbClr val="0F1C2B"/>
            </a:solidFill>
            <a:prstDash val="solid"/>
          </a:ln>
        </p:spPr>
      </p:sp>
      <p:sp>
        <p:nvSpPr>
          <p:cNvPr id="638322150" name="Text 27"/>
          <p:cNvSpPr txBox="1"/>
          <p:nvPr/>
        </p:nvSpPr>
        <p:spPr bwMode="auto">
          <a:xfrm>
            <a:off x="8092440" y="35661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2A93B"/>
                </a:solidFill>
                <a:latin typeface="Courier New"/>
                <a:ea typeface="Courier New"/>
                <a:cs typeface="Courier New"/>
              </a:rPr>
              <a:t>~/.local/share/safestore/</a:t>
            </a:r>
            <a:endParaRPr lang="en-US" sz="1200"/>
          </a:p>
        </p:txBody>
      </p:sp>
      <p:sp>
        <p:nvSpPr>
          <p:cNvPr id="117361035" name="Text 28"/>
          <p:cNvSpPr txBox="1"/>
          <p:nvPr/>
        </p:nvSpPr>
        <p:spPr bwMode="auto">
          <a:xfrm>
            <a:off x="8092440" y="3931920"/>
            <a:ext cx="3383280" cy="15087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CFE3E0"/>
                </a:solidFill>
                <a:latin typeface="Courier New"/>
                <a:ea typeface="Courier New"/>
                <a:cs typeface="Courier New"/>
              </a:rPr>
              <a:t>Backup/</a:t>
            </a:r>
            <a:endParaRPr lang="en-US" sz="1200"/>
          </a:p>
          <a:p>
            <a:pPr marL="0" indent="0">
              <a:buNone/>
              <a:defRPr/>
            </a:pPr>
            <a:r>
              <a:rPr lang="en-US" sz="1200">
                <a:solidFill>
                  <a:srgbClr val="CFE3E0"/>
                </a:solidFill>
                <a:latin typeface="Courier New"/>
                <a:ea typeface="Courier New"/>
                <a:cs typeface="Courier New"/>
              </a:rPr>
              <a:t> └─ &lt;sha1 of path&gt;/</a:t>
            </a:r>
            <a:endParaRPr lang="en-US" sz="1200"/>
          </a:p>
          <a:p>
            <a:pPr marL="0" indent="0">
              <a:buNone/>
              <a:defRPr/>
            </a:pPr>
            <a:r>
              <a:rPr lang="en-US" sz="1200">
                <a:solidFill>
                  <a:srgbClr val="CFE3E0"/>
                </a:solidFill>
                <a:latin typeface="Courier New"/>
                <a:ea typeface="Courier New"/>
                <a:cs typeface="Courier New"/>
              </a:rPr>
              <a:t>     ├─ 20260916-010747/</a:t>
            </a:r>
            <a:endParaRPr lang="en-US" sz="1200"/>
          </a:p>
          <a:p>
            <a:pPr marL="0" indent="0">
              <a:buNone/>
              <a:defRPr/>
            </a:pPr>
            <a:r>
              <a:rPr lang="en-US" sz="1200">
                <a:solidFill>
                  <a:srgbClr val="CFE3E0"/>
                </a:solidFill>
                <a:latin typeface="Courier New"/>
                <a:ea typeface="Courier New"/>
                <a:cs typeface="Courier New"/>
              </a:rPr>
              <a:t>     │   └─ notes/</a:t>
            </a:r>
            <a:endParaRPr lang="en-US" sz="1200"/>
          </a:p>
          <a:p>
            <a:pPr marL="0" indent="0">
              <a:buNone/>
              <a:defRPr/>
            </a:pPr>
            <a:r>
              <a:rPr lang="en-US" sz="1200">
                <a:solidFill>
                  <a:srgbClr val="CFE3E0"/>
                </a:solidFill>
                <a:latin typeface="Courier New"/>
                <a:ea typeface="Courier New"/>
                <a:cs typeface="Courier New"/>
              </a:rPr>
              <a:t>     └─ 20260916-010751/</a:t>
            </a:r>
            <a:endParaRPr lang="en-US" sz="1200"/>
          </a:p>
          <a:p>
            <a:pPr marL="0" indent="0">
              <a:buNone/>
              <a:defRPr/>
            </a:pPr>
            <a:r>
              <a:rPr lang="en-US" sz="1200">
                <a:solidFill>
                  <a:srgbClr val="CFE3E0"/>
                </a:solidFill>
                <a:latin typeface="Courier New"/>
                <a:ea typeface="Courier New"/>
                <a:cs typeface="Courier New"/>
              </a:rPr>
              <a:t>         └─ notes.tar.lz4.enc</a:t>
            </a:r>
            <a:endParaRPr lang="en-US" sz="1200"/>
          </a:p>
          <a:p>
            <a:pPr marL="0" indent="0">
              <a:buNone/>
              <a:defRPr/>
            </a:pPr>
            <a:r>
              <a:rPr lang="en-US" sz="1200">
                <a:solidFill>
                  <a:srgbClr val="CFE3E0"/>
                </a:solidFill>
                <a:latin typeface="Courier New"/>
                <a:ea typeface="Courier New"/>
                <a:cs typeface="Courier New"/>
              </a:rPr>
              <a:t>file.csv</a:t>
            </a:r>
            <a:endParaRPr lang="en-US" sz="1200"/>
          </a:p>
        </p:txBody>
      </p:sp>
      <p:sp>
        <p:nvSpPr>
          <p:cNvPr id="1164091870" name="Text 29"/>
          <p:cNvSpPr txBox="1"/>
          <p:nvPr/>
        </p:nvSpPr>
        <p:spPr bwMode="auto">
          <a:xfrm>
            <a:off x="548640" y="589788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i="1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Amber steps are optional and composable; restore reverses the pipeline automatically.</a:t>
            </a:r>
            <a:endParaRPr lang="en-US" sz="1300"/>
          </a:p>
        </p:txBody>
      </p:sp>
      <p:sp>
        <p:nvSpPr>
          <p:cNvPr id="482953696" name="Text 30"/>
          <p:cNvSpPr txBox="1"/>
          <p:nvPr/>
        </p:nvSpPr>
        <p:spPr bwMode="auto">
          <a:xfrm>
            <a:off x="8869680" y="6419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10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SafeStore  ·  2</a:t>
            </a:r>
            <a:endParaRPr lang="en-US" sz="1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388656" name="Text 0"/>
          <p:cNvSpPr txBox="1"/>
          <p:nvPr/>
        </p:nvSpPr>
        <p:spPr bwMode="auto"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 spc="300">
                <a:solidFill>
                  <a:srgbClr val="12A58C"/>
                </a:solidFill>
                <a:latin typeface="Arial"/>
                <a:ea typeface="Arial"/>
                <a:cs typeface="Arial"/>
              </a:rPr>
              <a:t>CRITERION 1  ·  NOVELTY OF DEVELOPED METHODOLOGY</a:t>
            </a:r>
            <a:endParaRPr lang="en-US" sz="1200"/>
          </a:p>
        </p:txBody>
      </p:sp>
      <p:sp>
        <p:nvSpPr>
          <p:cNvPr id="831571985" name="Text 1"/>
          <p:cNvSpPr txBox="1"/>
          <p:nvPr/>
        </p:nvSpPr>
        <p:spPr bwMode="auto"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0F1C2B"/>
                </a:solidFill>
                <a:latin typeface="Arial"/>
                <a:ea typeface="Arial"/>
                <a:cs typeface="Arial"/>
              </a:rPr>
              <a:t>What is new in SafeStore's approach</a:t>
            </a:r>
            <a:endParaRPr lang="en-US" sz="3200"/>
          </a:p>
        </p:txBody>
      </p:sp>
      <p:sp>
        <p:nvSpPr>
          <p:cNvPr id="2139870331" name="Shape 2"/>
          <p:cNvSpPr/>
          <p:nvPr/>
        </p:nvSpPr>
        <p:spPr bwMode="auto">
          <a:xfrm>
            <a:off x="548640" y="1645920"/>
            <a:ext cx="548640" cy="548640"/>
          </a:xfrm>
          <a:prstGeom prst="ellipse">
            <a:avLst/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pic>
        <p:nvPicPr>
          <p:cNvPr id="272687475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85800" y="1783080"/>
            <a:ext cx="274320" cy="274320"/>
          </a:xfrm>
          <a:prstGeom prst="rect">
            <a:avLst/>
          </a:prstGeom>
        </p:spPr>
      </p:pic>
      <p:sp>
        <p:nvSpPr>
          <p:cNvPr id="524832481" name="Text 3"/>
          <p:cNvSpPr txBox="1"/>
          <p:nvPr/>
        </p:nvSpPr>
        <p:spPr bwMode="auto">
          <a:xfrm>
            <a:off x="1280160" y="160020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0F1C2B"/>
                </a:solidFill>
                <a:latin typeface="Arial"/>
                <a:ea typeface="Arial"/>
                <a:cs typeface="Arial"/>
              </a:rPr>
              <a:t>Path-hash version buckets</a:t>
            </a:r>
            <a:endParaRPr lang="en-US" sz="1600"/>
          </a:p>
        </p:txBody>
      </p:sp>
      <p:sp>
        <p:nvSpPr>
          <p:cNvPr id="1923944935" name="Text 4"/>
          <p:cNvSpPr txBox="1"/>
          <p:nvPr/>
        </p:nvSpPr>
        <p:spPr bwMode="auto">
          <a:xfrm>
            <a:off x="1280160" y="192938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Every version of a path lives under sha1(abspath)/timestamp, so history is grouped without any database or index.</a:t>
            </a:r>
            <a:endParaRPr lang="en-US" sz="1300"/>
          </a:p>
        </p:txBody>
      </p:sp>
      <p:sp>
        <p:nvSpPr>
          <p:cNvPr id="1087366511" name="Shape 5"/>
          <p:cNvSpPr/>
          <p:nvPr/>
        </p:nvSpPr>
        <p:spPr bwMode="auto">
          <a:xfrm>
            <a:off x="548640" y="2578608"/>
            <a:ext cx="548640" cy="548640"/>
          </a:xfrm>
          <a:prstGeom prst="ellipse">
            <a:avLst/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pic>
        <p:nvPicPr>
          <p:cNvPr id="970066294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685800" y="2715768"/>
            <a:ext cx="274320" cy="274320"/>
          </a:xfrm>
          <a:prstGeom prst="rect">
            <a:avLst/>
          </a:prstGeom>
        </p:spPr>
      </p:pic>
      <p:sp>
        <p:nvSpPr>
          <p:cNvPr id="314862922" name="Text 6"/>
          <p:cNvSpPr txBox="1"/>
          <p:nvPr/>
        </p:nvSpPr>
        <p:spPr bwMode="auto">
          <a:xfrm>
            <a:off x="1280160" y="253288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0F1C2B"/>
                </a:solidFill>
                <a:latin typeface="Arial"/>
                <a:ea typeface="Arial"/>
                <a:cs typeface="Arial"/>
              </a:rPr>
              <a:t>Self-describing restore</a:t>
            </a:r>
            <a:endParaRPr lang="en-US" sz="1600"/>
          </a:p>
        </p:txBody>
      </p:sp>
      <p:sp>
        <p:nvSpPr>
          <p:cNvPr id="1234671925" name="Text 7"/>
          <p:cNvSpPr txBox="1"/>
          <p:nvPr/>
        </p:nvSpPr>
        <p:spPr bwMode="auto">
          <a:xfrm>
            <a:off x="1280160" y="286207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Restore probes file suffixes (.tar.lz4.enc → .tar.enc → .tar.lz4 → .tar → plain) and rebuilds the reverse pipeline with no stored metadata.</a:t>
            </a:r>
            <a:endParaRPr lang="en-US" sz="1300"/>
          </a:p>
        </p:txBody>
      </p:sp>
      <p:sp>
        <p:nvSpPr>
          <p:cNvPr id="448291924" name="Shape 8"/>
          <p:cNvSpPr/>
          <p:nvPr/>
        </p:nvSpPr>
        <p:spPr bwMode="auto">
          <a:xfrm>
            <a:off x="548640" y="3511296"/>
            <a:ext cx="548640" cy="548640"/>
          </a:xfrm>
          <a:prstGeom prst="ellipse">
            <a:avLst/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pic>
        <p:nvPicPr>
          <p:cNvPr id="1740951109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685800" y="3648456"/>
            <a:ext cx="274320" cy="274320"/>
          </a:xfrm>
          <a:prstGeom prst="rect">
            <a:avLst/>
          </a:prstGeom>
        </p:spPr>
      </p:pic>
      <p:sp>
        <p:nvSpPr>
          <p:cNvPr id="881707901" name="Text 9"/>
          <p:cNvSpPr txBox="1"/>
          <p:nvPr/>
        </p:nvSpPr>
        <p:spPr bwMode="auto">
          <a:xfrm>
            <a:off x="1280160" y="346557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0F1C2B"/>
                </a:solidFill>
                <a:latin typeface="Arial"/>
                <a:ea typeface="Arial"/>
                <a:cs typeface="Arial"/>
              </a:rPr>
              <a:t>Interactive snapshot picker</a:t>
            </a:r>
            <a:endParaRPr lang="en-US" sz="1600"/>
          </a:p>
        </p:txBody>
      </p:sp>
      <p:sp>
        <p:nvSpPr>
          <p:cNvPr id="483813161" name="Text 10"/>
          <p:cNvSpPr txBox="1"/>
          <p:nvPr/>
        </p:nvSpPr>
        <p:spPr bwMode="auto">
          <a:xfrm>
            <a:off x="1280160" y="379476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fzf lists every snapshot newest-first; the user selects one visually instead of typing IDs.</a:t>
            </a:r>
            <a:endParaRPr lang="en-US" sz="1300"/>
          </a:p>
        </p:txBody>
      </p:sp>
      <p:sp>
        <p:nvSpPr>
          <p:cNvPr id="2049132046" name="Shape 11"/>
          <p:cNvSpPr/>
          <p:nvPr/>
        </p:nvSpPr>
        <p:spPr bwMode="auto">
          <a:xfrm>
            <a:off x="548640" y="4443984"/>
            <a:ext cx="548640" cy="548640"/>
          </a:xfrm>
          <a:prstGeom prst="ellipse">
            <a:avLst/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pic>
        <p:nvPicPr>
          <p:cNvPr id="1142760588" name="Image 3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685800" y="4581144"/>
            <a:ext cx="274320" cy="274320"/>
          </a:xfrm>
          <a:prstGeom prst="rect">
            <a:avLst/>
          </a:prstGeom>
        </p:spPr>
      </p:pic>
      <p:sp>
        <p:nvSpPr>
          <p:cNvPr id="636415382" name="Text 12"/>
          <p:cNvSpPr txBox="1"/>
          <p:nvPr/>
        </p:nvSpPr>
        <p:spPr bwMode="auto">
          <a:xfrm>
            <a:off x="1280160" y="439826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0F1C2B"/>
                </a:solidFill>
                <a:latin typeface="Arial"/>
                <a:ea typeface="Arial"/>
                <a:cs typeface="Arial"/>
              </a:rPr>
              <a:t>Restore even after deletion</a:t>
            </a:r>
            <a:endParaRPr lang="en-US" sz="1600"/>
          </a:p>
        </p:txBody>
      </p:sp>
      <p:sp>
        <p:nvSpPr>
          <p:cNvPr id="902721473" name="Text 13"/>
          <p:cNvSpPr txBox="1"/>
          <p:nvPr/>
        </p:nvSpPr>
        <p:spPr bwMode="auto">
          <a:xfrm>
            <a:off x="1280160" y="472744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resolve_abspath() rebuilds the original path when the file no longer exists, which is exactly when restore is needed.</a:t>
            </a:r>
            <a:endParaRPr lang="en-US" sz="1300"/>
          </a:p>
        </p:txBody>
      </p:sp>
      <p:sp>
        <p:nvSpPr>
          <p:cNvPr id="1210430968" name="Shape 14"/>
          <p:cNvSpPr/>
          <p:nvPr/>
        </p:nvSpPr>
        <p:spPr bwMode="auto">
          <a:xfrm>
            <a:off x="548640" y="5376672"/>
            <a:ext cx="548640" cy="548640"/>
          </a:xfrm>
          <a:prstGeom prst="ellipse">
            <a:avLst/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pic>
        <p:nvPicPr>
          <p:cNvPr id="1372395410" name="Image 4" descr="preencoded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685800" y="5513832"/>
            <a:ext cx="274320" cy="274320"/>
          </a:xfrm>
          <a:prstGeom prst="rect">
            <a:avLst/>
          </a:prstGeom>
        </p:spPr>
      </p:pic>
      <p:sp>
        <p:nvSpPr>
          <p:cNvPr id="111494258" name="Text 15"/>
          <p:cNvSpPr txBox="1"/>
          <p:nvPr/>
        </p:nvSpPr>
        <p:spPr bwMode="auto">
          <a:xfrm>
            <a:off x="1280160" y="533095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0F1C2B"/>
                </a:solidFill>
                <a:latin typeface="Arial"/>
                <a:ea typeface="Arial"/>
                <a:cs typeface="Arial"/>
              </a:rPr>
              <a:t>Human-readable CSV ledger</a:t>
            </a:r>
            <a:endParaRPr lang="en-US" sz="1600"/>
          </a:p>
        </p:txBody>
      </p:sp>
      <p:sp>
        <p:nvSpPr>
          <p:cNvPr id="961093336" name="Text 16"/>
          <p:cNvSpPr txBox="1"/>
          <p:nvPr/>
        </p:nvSpPr>
        <p:spPr bwMode="auto">
          <a:xfrm>
            <a:off x="1280160" y="566013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The backup log opens in any spreadsheet or grep, unlike the binary repositories of Borg or restic.</a:t>
            </a:r>
            <a:endParaRPr lang="en-US" sz="1300"/>
          </a:p>
        </p:txBody>
      </p:sp>
      <p:sp>
        <p:nvSpPr>
          <p:cNvPr id="62613233" name="Text 17"/>
          <p:cNvSpPr txBox="1"/>
          <p:nvPr/>
        </p:nvSpPr>
        <p:spPr bwMode="auto">
          <a:xfrm>
            <a:off x="6858000" y="16002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F1C2B"/>
                </a:solidFill>
                <a:latin typeface="Arial"/>
                <a:ea typeface="Arial"/>
                <a:cs typeface="Arial"/>
              </a:rPr>
              <a:t>Positioning against existing tools</a:t>
            </a:r>
            <a:endParaRPr lang="en-US" sz="1400"/>
          </a:p>
        </p:txBody>
      </p:sp>
      <p:graphicFrame>
        <p:nvGraphicFramePr>
          <p:cNvPr id="1835475749" name="Table 0"/>
          <p:cNvGraphicFramePr>
            <a:graphicFrameLocks xmlns:a="http://schemas.openxmlformats.org/drawingml/2006/main" noGrp="1"/>
          </p:cNvGraphicFramePr>
          <p:nvPr/>
        </p:nvGraphicFramePr>
        <p:xfrm rot="0">
          <a:off x="6858000" y="2011680"/>
          <a:ext cx="4754880" cy="9144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280160"/>
                <a:gridCol w="822960"/>
                <a:gridCol w="868680"/>
                <a:gridCol w="914400"/>
                <a:gridCol w="868680"/>
              </a:tblGrid>
              <a:tr h="45720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Tool</a:t>
                      </a:r>
                      <a:endParaRPr lang="en-US" sz="12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0F1C2B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Zero setup</a:t>
                      </a:r>
                      <a:endParaRPr lang="en-US" sz="12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0F1C2B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Opt. crypt</a:t>
                      </a:r>
                      <a:endParaRPr lang="en-US" sz="12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0F1C2B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Plain-file store</a:t>
                      </a:r>
                      <a:endParaRPr lang="en-US" sz="12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0F1C2B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Pick-list restore</a:t>
                      </a:r>
                      <a:endParaRPr lang="en-US" sz="12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0F1C2B"/>
                    </a:solidFill>
                  </a:tcPr>
                </a:tc>
              </a:tr>
              <a:tr h="45720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00" b="1">
                          <a:solidFill>
                            <a:srgbClr val="1D2A36"/>
                          </a:solidFill>
                          <a:latin typeface="Calibri"/>
                          <a:ea typeface="Calibri"/>
                          <a:cs typeface="Calibri"/>
                        </a:rPr>
                        <a:t>SafeStore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E0F3E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300" b="1">
                          <a:solidFill>
                            <a:srgbClr val="12A58C"/>
                          </a:solidFill>
                          <a:latin typeface="Calibri"/>
                          <a:ea typeface="Calibri"/>
                          <a:cs typeface="Calibri"/>
                        </a:rPr>
                        <a:t>✓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E0F3E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300" b="1">
                          <a:solidFill>
                            <a:srgbClr val="12A58C"/>
                          </a:solidFill>
                          <a:latin typeface="Calibri"/>
                          <a:ea typeface="Calibri"/>
                          <a:cs typeface="Calibri"/>
                        </a:rPr>
                        <a:t>✓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E0F3E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300" b="1">
                          <a:solidFill>
                            <a:srgbClr val="12A58C"/>
                          </a:solidFill>
                          <a:latin typeface="Calibri"/>
                          <a:ea typeface="Calibri"/>
                          <a:cs typeface="Calibri"/>
                        </a:rPr>
                        <a:t>✓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E0F3E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300" b="1">
                          <a:solidFill>
                            <a:srgbClr val="12A58C"/>
                          </a:solidFill>
                          <a:latin typeface="Calibri"/>
                          <a:ea typeface="Calibri"/>
                          <a:cs typeface="Calibri"/>
                        </a:rPr>
                        <a:t>✓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E0F3EF"/>
                    </a:solidFill>
                  </a:tcPr>
                </a:tc>
              </a:tr>
              <a:tr h="45720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00" b="1">
                          <a:solidFill>
                            <a:srgbClr val="1D2A36"/>
                          </a:solidFill>
                          <a:latin typeface="Calibri"/>
                          <a:ea typeface="Calibri"/>
                          <a:cs typeface="Calibri"/>
                        </a:rPr>
                        <a:t>rsync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300" b="1">
                          <a:solidFill>
                            <a:srgbClr val="12A58C"/>
                          </a:solidFill>
                          <a:latin typeface="Calibri"/>
                          <a:ea typeface="Calibri"/>
                          <a:cs typeface="Calibri"/>
                        </a:rPr>
                        <a:t>✓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300">
                          <a:solidFill>
                            <a:srgbClr val="9AA7B2"/>
                          </a:solidFill>
                          <a:latin typeface="Calibri"/>
                          <a:ea typeface="Calibri"/>
                          <a:cs typeface="Calibri"/>
                        </a:rPr>
                        <a:t>–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300" b="1">
                          <a:solidFill>
                            <a:srgbClr val="12A58C"/>
                          </a:solidFill>
                          <a:latin typeface="Calibri"/>
                          <a:ea typeface="Calibri"/>
                          <a:cs typeface="Calibri"/>
                        </a:rPr>
                        <a:t>✓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300">
                          <a:solidFill>
                            <a:srgbClr val="9AA7B2"/>
                          </a:solidFill>
                          <a:latin typeface="Calibri"/>
                          <a:ea typeface="Calibri"/>
                          <a:cs typeface="Calibri"/>
                        </a:rPr>
                        <a:t>–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00" b="1">
                          <a:solidFill>
                            <a:srgbClr val="1D2A36"/>
                          </a:solidFill>
                          <a:latin typeface="Calibri"/>
                          <a:ea typeface="Calibri"/>
                          <a:cs typeface="Calibri"/>
                        </a:rPr>
                        <a:t>Borg / restic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300">
                          <a:solidFill>
                            <a:srgbClr val="9AA7B2"/>
                          </a:solidFill>
                          <a:latin typeface="Calibri"/>
                          <a:ea typeface="Calibri"/>
                          <a:cs typeface="Calibri"/>
                        </a:rPr>
                        <a:t>–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300" b="1">
                          <a:solidFill>
                            <a:srgbClr val="12A58C"/>
                          </a:solidFill>
                          <a:latin typeface="Calibri"/>
                          <a:ea typeface="Calibri"/>
                          <a:cs typeface="Calibri"/>
                        </a:rPr>
                        <a:t>✓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300">
                          <a:solidFill>
                            <a:srgbClr val="9AA7B2"/>
                          </a:solidFill>
                          <a:latin typeface="Calibri"/>
                          <a:ea typeface="Calibri"/>
                          <a:cs typeface="Calibri"/>
                        </a:rPr>
                        <a:t>–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300">
                          <a:solidFill>
                            <a:srgbClr val="9AA7B2"/>
                          </a:solidFill>
                          <a:latin typeface="Calibri"/>
                          <a:ea typeface="Calibri"/>
                          <a:cs typeface="Calibri"/>
                        </a:rPr>
                        <a:t>–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00" b="1">
                          <a:solidFill>
                            <a:srgbClr val="1D2A36"/>
                          </a:solidFill>
                          <a:latin typeface="Calibri"/>
                          <a:ea typeface="Calibri"/>
                          <a:cs typeface="Calibri"/>
                        </a:rPr>
                        <a:t>Timeshift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300">
                          <a:solidFill>
                            <a:srgbClr val="9AA7B2"/>
                          </a:solidFill>
                          <a:latin typeface="Calibri"/>
                          <a:ea typeface="Calibri"/>
                          <a:cs typeface="Calibri"/>
                        </a:rPr>
                        <a:t>–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300">
                          <a:solidFill>
                            <a:srgbClr val="9AA7B2"/>
                          </a:solidFill>
                          <a:latin typeface="Calibri"/>
                          <a:ea typeface="Calibri"/>
                          <a:cs typeface="Calibri"/>
                        </a:rPr>
                        <a:t>–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300" b="1">
                          <a:solidFill>
                            <a:srgbClr val="12A58C"/>
                          </a:solidFill>
                          <a:latin typeface="Calibri"/>
                          <a:ea typeface="Calibri"/>
                          <a:cs typeface="Calibri"/>
                        </a:rPr>
                        <a:t>✓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300" b="1">
                          <a:solidFill>
                            <a:srgbClr val="12A58C"/>
                          </a:solidFill>
                          <a:latin typeface="Calibri"/>
                          <a:ea typeface="Calibri"/>
                          <a:cs typeface="Calibri"/>
                        </a:rPr>
                        <a:t>✓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00" b="1">
                          <a:solidFill>
                            <a:srgbClr val="1D2A36"/>
                          </a:solidFill>
                          <a:latin typeface="Calibri"/>
                          <a:ea typeface="Calibri"/>
                          <a:cs typeface="Calibri"/>
                        </a:rPr>
                        <a:t>Duplicity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300">
                          <a:solidFill>
                            <a:srgbClr val="9AA7B2"/>
                          </a:solidFill>
                          <a:latin typeface="Calibri"/>
                          <a:ea typeface="Calibri"/>
                          <a:cs typeface="Calibri"/>
                        </a:rPr>
                        <a:t>–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300" b="1">
                          <a:solidFill>
                            <a:srgbClr val="12A58C"/>
                          </a:solidFill>
                          <a:latin typeface="Calibri"/>
                          <a:ea typeface="Calibri"/>
                          <a:cs typeface="Calibri"/>
                        </a:rPr>
                        <a:t>✓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300">
                          <a:solidFill>
                            <a:srgbClr val="9AA7B2"/>
                          </a:solidFill>
                          <a:latin typeface="Calibri"/>
                          <a:ea typeface="Calibri"/>
                          <a:cs typeface="Calibri"/>
                        </a:rPr>
                        <a:t>–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300">
                          <a:solidFill>
                            <a:srgbClr val="9AA7B2"/>
                          </a:solidFill>
                          <a:latin typeface="Calibri"/>
                          <a:ea typeface="Calibri"/>
                          <a:cs typeface="Calibri"/>
                        </a:rPr>
                        <a:t>–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6350" algn="ctr">
                      <a:solidFill>
                        <a:srgbClr val="D5DEE3"/>
                      </a:solidFill>
                    </a:lnL>
                    <a:lnR w="6350" algn="ctr">
                      <a:solidFill>
                        <a:srgbClr val="D5DEE3"/>
                      </a:solidFill>
                    </a:lnR>
                    <a:lnT w="6350" algn="ctr">
                      <a:solidFill>
                        <a:srgbClr val="D5DEE3"/>
                      </a:solidFill>
                    </a:lnT>
                    <a:lnB w="6350" algn="ctr">
                      <a:solidFill>
                        <a:srgbClr val="D5DEE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53965825" name="Text 18"/>
          <p:cNvSpPr txBox="1"/>
          <p:nvPr/>
        </p:nvSpPr>
        <p:spPr bwMode="auto">
          <a:xfrm>
            <a:off x="6858000" y="484632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100" i="1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“Zero setup” = no repository init, config file or daemon. Timeshift pick-list is GUI-based. Borg/restic are stronger on deduplication, which SafeStore does not attempt.</a:t>
            </a:r>
            <a:endParaRPr lang="en-US" sz="1100"/>
          </a:p>
        </p:txBody>
      </p:sp>
      <p:sp>
        <p:nvSpPr>
          <p:cNvPr id="795398209" name="Text 19"/>
          <p:cNvSpPr txBox="1"/>
          <p:nvPr/>
        </p:nvSpPr>
        <p:spPr bwMode="auto">
          <a:xfrm>
            <a:off x="8869680" y="6419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10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SafeStore  ·  3</a:t>
            </a:r>
            <a:endParaRPr lang="en-US" sz="1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2349467" name="Text 0"/>
          <p:cNvSpPr txBox="1"/>
          <p:nvPr/>
        </p:nvSpPr>
        <p:spPr bwMode="auto"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 spc="300">
                <a:solidFill>
                  <a:srgbClr val="12A58C"/>
                </a:solidFill>
                <a:latin typeface="Arial"/>
                <a:ea typeface="Arial"/>
                <a:cs typeface="Arial"/>
              </a:rPr>
              <a:t>CRITERION 2  ·  ADAPTABILITY OF METHODOLOGY</a:t>
            </a:r>
            <a:endParaRPr lang="en-US" sz="1200"/>
          </a:p>
        </p:txBody>
      </p:sp>
      <p:sp>
        <p:nvSpPr>
          <p:cNvPr id="1993164327" name="Text 1"/>
          <p:cNvSpPr txBox="1"/>
          <p:nvPr/>
        </p:nvSpPr>
        <p:spPr bwMode="auto"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0F1C2B"/>
                </a:solidFill>
                <a:latin typeface="Arial"/>
                <a:ea typeface="Arial"/>
                <a:cs typeface="Arial"/>
              </a:rPr>
              <a:t>Built to be swapped, extended and reused</a:t>
            </a:r>
            <a:endParaRPr lang="en-US" sz="3200"/>
          </a:p>
        </p:txBody>
      </p:sp>
      <p:sp>
        <p:nvSpPr>
          <p:cNvPr id="308714356" name="Text 2"/>
          <p:cNvSpPr txBox="1"/>
          <p:nvPr/>
        </p:nvSpPr>
        <p:spPr bwMode="auto">
          <a:xfrm>
            <a:off x="54864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F1C2B"/>
                </a:solidFill>
                <a:latin typeface="Arial"/>
                <a:ea typeface="Arial"/>
                <a:cs typeface="Arial"/>
              </a:rPr>
              <a:t>8 single-purpose modules, each behind a .h interface</a:t>
            </a:r>
            <a:endParaRPr lang="en-US" sz="1400"/>
          </a:p>
        </p:txBody>
      </p:sp>
      <p:sp>
        <p:nvSpPr>
          <p:cNvPr id="1429553274" name="Shape 3"/>
          <p:cNvSpPr/>
          <p:nvPr/>
        </p:nvSpPr>
        <p:spPr bwMode="auto">
          <a:xfrm>
            <a:off x="548640" y="2011680"/>
            <a:ext cx="2606040" cy="685800"/>
          </a:xfrm>
          <a:prstGeom prst="roundRect">
            <a:avLst>
              <a:gd name="adj" fmla="val 16000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2091226371" name="Text 4"/>
          <p:cNvSpPr txBox="1"/>
          <p:nvPr/>
        </p:nvSpPr>
        <p:spPr bwMode="auto">
          <a:xfrm>
            <a:off x="731520" y="208483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0F1C2B"/>
                </a:solidFill>
                <a:latin typeface="Courier New"/>
                <a:ea typeface="Courier New"/>
                <a:cs typeface="Courier New"/>
              </a:rPr>
              <a:t>main.c</a:t>
            </a:r>
            <a:endParaRPr lang="en-US" sz="1300"/>
          </a:p>
        </p:txBody>
      </p:sp>
      <p:sp>
        <p:nvSpPr>
          <p:cNvPr id="1164303457" name="Text 5"/>
          <p:cNvSpPr txBox="1"/>
          <p:nvPr/>
        </p:nvSpPr>
        <p:spPr bwMode="auto">
          <a:xfrm>
            <a:off x="731520" y="237744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CLI parsing</a:t>
            </a:r>
            <a:endParaRPr lang="en-US" sz="1200"/>
          </a:p>
        </p:txBody>
      </p:sp>
      <p:sp>
        <p:nvSpPr>
          <p:cNvPr id="1109286519" name="Shape 6"/>
          <p:cNvSpPr/>
          <p:nvPr/>
        </p:nvSpPr>
        <p:spPr bwMode="auto">
          <a:xfrm>
            <a:off x="3337560" y="2011680"/>
            <a:ext cx="2606040" cy="685800"/>
          </a:xfrm>
          <a:prstGeom prst="roundRect">
            <a:avLst>
              <a:gd name="adj" fmla="val 16000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500703507" name="Text 7"/>
          <p:cNvSpPr txBox="1"/>
          <p:nvPr/>
        </p:nvSpPr>
        <p:spPr bwMode="auto">
          <a:xfrm>
            <a:off x="3520440" y="208483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0F1C2B"/>
                </a:solidFill>
                <a:latin typeface="Courier New"/>
                <a:ea typeface="Courier New"/>
                <a:cs typeface="Courier New"/>
              </a:rPr>
              <a:t>backup.c</a:t>
            </a:r>
            <a:endParaRPr lang="en-US" sz="1300"/>
          </a:p>
        </p:txBody>
      </p:sp>
      <p:sp>
        <p:nvSpPr>
          <p:cNvPr id="1952746368" name="Text 8"/>
          <p:cNvSpPr txBox="1"/>
          <p:nvPr/>
        </p:nvSpPr>
        <p:spPr bwMode="auto">
          <a:xfrm>
            <a:off x="3520440" y="237744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Backup pipeline</a:t>
            </a:r>
            <a:endParaRPr lang="en-US" sz="1200"/>
          </a:p>
        </p:txBody>
      </p:sp>
      <p:sp>
        <p:nvSpPr>
          <p:cNvPr id="471386141" name="Shape 9"/>
          <p:cNvSpPr/>
          <p:nvPr/>
        </p:nvSpPr>
        <p:spPr bwMode="auto">
          <a:xfrm>
            <a:off x="548640" y="2852928"/>
            <a:ext cx="2606040" cy="685800"/>
          </a:xfrm>
          <a:prstGeom prst="roundRect">
            <a:avLst>
              <a:gd name="adj" fmla="val 16000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1799547082" name="Text 10"/>
          <p:cNvSpPr txBox="1"/>
          <p:nvPr/>
        </p:nvSpPr>
        <p:spPr bwMode="auto">
          <a:xfrm>
            <a:off x="731520" y="29260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0F1C2B"/>
                </a:solidFill>
                <a:latin typeface="Courier New"/>
                <a:ea typeface="Courier New"/>
                <a:cs typeface="Courier New"/>
              </a:rPr>
              <a:t>restore.c</a:t>
            </a:r>
            <a:endParaRPr lang="en-US" sz="1300"/>
          </a:p>
        </p:txBody>
      </p:sp>
      <p:sp>
        <p:nvSpPr>
          <p:cNvPr id="2088679665" name="Text 11"/>
          <p:cNvSpPr txBox="1"/>
          <p:nvPr/>
        </p:nvSpPr>
        <p:spPr bwMode="auto">
          <a:xfrm>
            <a:off x="731520" y="32186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Restore pipeline</a:t>
            </a:r>
            <a:endParaRPr lang="en-US" sz="1200"/>
          </a:p>
        </p:txBody>
      </p:sp>
      <p:sp>
        <p:nvSpPr>
          <p:cNvPr id="714550752" name="Shape 12"/>
          <p:cNvSpPr/>
          <p:nvPr/>
        </p:nvSpPr>
        <p:spPr bwMode="auto">
          <a:xfrm>
            <a:off x="3337560" y="2852928"/>
            <a:ext cx="2606040" cy="685800"/>
          </a:xfrm>
          <a:prstGeom prst="roundRect">
            <a:avLst>
              <a:gd name="adj" fmla="val 16000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1109290980" name="Text 13"/>
          <p:cNvSpPr txBox="1"/>
          <p:nvPr/>
        </p:nvSpPr>
        <p:spPr bwMode="auto">
          <a:xfrm>
            <a:off x="3520440" y="29260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0F1C2B"/>
                </a:solidFill>
                <a:latin typeface="Courier New"/>
                <a:ea typeface="Courier New"/>
                <a:cs typeface="Courier New"/>
              </a:rPr>
              <a:t>list.c</a:t>
            </a:r>
            <a:endParaRPr lang="en-US" sz="1300"/>
          </a:p>
        </p:txBody>
      </p:sp>
      <p:sp>
        <p:nvSpPr>
          <p:cNvPr id="589878048" name="Text 14"/>
          <p:cNvSpPr txBox="1"/>
          <p:nvPr/>
        </p:nvSpPr>
        <p:spPr bwMode="auto">
          <a:xfrm>
            <a:off x="3520440" y="32186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History view</a:t>
            </a:r>
            <a:endParaRPr lang="en-US" sz="1200"/>
          </a:p>
        </p:txBody>
      </p:sp>
      <p:sp>
        <p:nvSpPr>
          <p:cNvPr id="1297407251" name="Shape 15"/>
          <p:cNvSpPr/>
          <p:nvPr/>
        </p:nvSpPr>
        <p:spPr bwMode="auto">
          <a:xfrm>
            <a:off x="548640" y="3694176"/>
            <a:ext cx="2606040" cy="685800"/>
          </a:xfrm>
          <a:prstGeom prst="roundRect">
            <a:avLst>
              <a:gd name="adj" fmla="val 16000"/>
            </a:avLst>
          </a:prstGeom>
          <a:solidFill>
            <a:srgbClr val="FFF4E2"/>
          </a:solidFill>
          <a:ln w="12700">
            <a:solidFill>
              <a:srgbClr val="FFF4E2"/>
            </a:solidFill>
            <a:prstDash val="solid"/>
          </a:ln>
        </p:spPr>
      </p:sp>
      <p:sp>
        <p:nvSpPr>
          <p:cNvPr id="510453432" name="Text 16"/>
          <p:cNvSpPr txBox="1"/>
          <p:nvPr/>
        </p:nvSpPr>
        <p:spPr bwMode="auto">
          <a:xfrm>
            <a:off x="731520" y="37673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0F1C2B"/>
                </a:solidFill>
                <a:latin typeface="Courier New"/>
                <a:ea typeface="Courier New"/>
                <a:cs typeface="Courier New"/>
              </a:rPr>
              <a:t>compress.c</a:t>
            </a:r>
            <a:endParaRPr lang="en-US" sz="1300"/>
          </a:p>
        </p:txBody>
      </p:sp>
      <p:sp>
        <p:nvSpPr>
          <p:cNvPr id="563291048" name="Text 17"/>
          <p:cNvSpPr txBox="1"/>
          <p:nvPr/>
        </p:nvSpPr>
        <p:spPr bwMode="auto">
          <a:xfrm>
            <a:off x="731520" y="40599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tar + lz4</a:t>
            </a:r>
            <a:endParaRPr lang="en-US" sz="1200"/>
          </a:p>
        </p:txBody>
      </p:sp>
      <p:sp>
        <p:nvSpPr>
          <p:cNvPr id="932310553" name="Shape 18"/>
          <p:cNvSpPr/>
          <p:nvPr/>
        </p:nvSpPr>
        <p:spPr bwMode="auto">
          <a:xfrm>
            <a:off x="3337560" y="3694176"/>
            <a:ext cx="2606040" cy="685800"/>
          </a:xfrm>
          <a:prstGeom prst="roundRect">
            <a:avLst>
              <a:gd name="adj" fmla="val 16000"/>
            </a:avLst>
          </a:prstGeom>
          <a:solidFill>
            <a:srgbClr val="FFF4E2"/>
          </a:solidFill>
          <a:ln w="12700">
            <a:solidFill>
              <a:srgbClr val="FFF4E2"/>
            </a:solidFill>
            <a:prstDash val="solid"/>
          </a:ln>
        </p:spPr>
      </p:sp>
      <p:sp>
        <p:nvSpPr>
          <p:cNvPr id="362221696" name="Text 19"/>
          <p:cNvSpPr txBox="1"/>
          <p:nvPr/>
        </p:nvSpPr>
        <p:spPr bwMode="auto">
          <a:xfrm>
            <a:off x="3520440" y="37673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0F1C2B"/>
                </a:solidFill>
                <a:latin typeface="Courier New"/>
                <a:ea typeface="Courier New"/>
                <a:cs typeface="Courier New"/>
              </a:rPr>
              <a:t>encrypt.c</a:t>
            </a:r>
            <a:endParaRPr lang="en-US" sz="1300"/>
          </a:p>
        </p:txBody>
      </p:sp>
      <p:sp>
        <p:nvSpPr>
          <p:cNvPr id="597861025" name="Text 20"/>
          <p:cNvSpPr txBox="1"/>
          <p:nvPr/>
        </p:nvSpPr>
        <p:spPr bwMode="auto">
          <a:xfrm>
            <a:off x="3520440" y="40599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AES-256 / PBKDF2</a:t>
            </a:r>
            <a:endParaRPr lang="en-US" sz="1200"/>
          </a:p>
        </p:txBody>
      </p:sp>
      <p:sp>
        <p:nvSpPr>
          <p:cNvPr id="2079724058" name="Shape 21"/>
          <p:cNvSpPr/>
          <p:nvPr/>
        </p:nvSpPr>
        <p:spPr bwMode="auto">
          <a:xfrm>
            <a:off x="548640" y="4535424"/>
            <a:ext cx="2606040" cy="685800"/>
          </a:xfrm>
          <a:prstGeom prst="roundRect">
            <a:avLst>
              <a:gd name="adj" fmla="val 16000"/>
            </a:avLst>
          </a:prstGeom>
          <a:solidFill>
            <a:srgbClr val="FFF4E2"/>
          </a:solidFill>
          <a:ln w="12700">
            <a:solidFill>
              <a:srgbClr val="FFF4E2"/>
            </a:solidFill>
            <a:prstDash val="solid"/>
          </a:ln>
        </p:spPr>
      </p:sp>
      <p:sp>
        <p:nvSpPr>
          <p:cNvPr id="1856606074" name="Text 22"/>
          <p:cNvSpPr txBox="1"/>
          <p:nvPr/>
        </p:nvSpPr>
        <p:spPr bwMode="auto">
          <a:xfrm>
            <a:off x="731520" y="460857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0F1C2B"/>
                </a:solidFill>
                <a:latin typeface="Courier New"/>
                <a:ea typeface="Courier New"/>
                <a:cs typeface="Courier New"/>
              </a:rPr>
              <a:t>hash.c</a:t>
            </a:r>
            <a:endParaRPr lang="en-US" sz="1300"/>
          </a:p>
        </p:txBody>
      </p:sp>
      <p:sp>
        <p:nvSpPr>
          <p:cNvPr id="378383754" name="Text 23"/>
          <p:cNvSpPr txBox="1"/>
          <p:nvPr/>
        </p:nvSpPr>
        <p:spPr bwMode="auto">
          <a:xfrm>
            <a:off x="731520" y="490118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SHA-1 bucketing</a:t>
            </a:r>
            <a:endParaRPr lang="en-US" sz="1200"/>
          </a:p>
        </p:txBody>
      </p:sp>
      <p:sp>
        <p:nvSpPr>
          <p:cNvPr id="425702948" name="Shape 24"/>
          <p:cNvSpPr/>
          <p:nvPr/>
        </p:nvSpPr>
        <p:spPr bwMode="auto">
          <a:xfrm>
            <a:off x="3337560" y="4535424"/>
            <a:ext cx="2606040" cy="685800"/>
          </a:xfrm>
          <a:prstGeom prst="roundRect">
            <a:avLst>
              <a:gd name="adj" fmla="val 16000"/>
            </a:avLst>
          </a:prstGeom>
          <a:solidFill>
            <a:srgbClr val="FFF4E2"/>
          </a:solidFill>
          <a:ln w="12700">
            <a:solidFill>
              <a:srgbClr val="FFF4E2"/>
            </a:solidFill>
            <a:prstDash val="solid"/>
          </a:ln>
        </p:spPr>
      </p:sp>
      <p:sp>
        <p:nvSpPr>
          <p:cNvPr id="1861478827" name="Text 25"/>
          <p:cNvSpPr txBox="1"/>
          <p:nvPr/>
        </p:nvSpPr>
        <p:spPr bwMode="auto">
          <a:xfrm>
            <a:off x="3520440" y="460857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0F1C2B"/>
                </a:solidFill>
                <a:latin typeface="Courier New"/>
                <a:ea typeface="Courier New"/>
                <a:cs typeface="Courier New"/>
              </a:rPr>
              <a:t>fsutil.c</a:t>
            </a:r>
            <a:endParaRPr lang="en-US" sz="1300"/>
          </a:p>
        </p:txBody>
      </p:sp>
      <p:sp>
        <p:nvSpPr>
          <p:cNvPr id="695062512" name="Text 26"/>
          <p:cNvSpPr txBox="1"/>
          <p:nvPr/>
        </p:nvSpPr>
        <p:spPr bwMode="auto">
          <a:xfrm>
            <a:off x="3520440" y="490118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mkdir -p, copy</a:t>
            </a:r>
            <a:endParaRPr lang="en-US" sz="1200"/>
          </a:p>
        </p:txBody>
      </p:sp>
      <p:sp>
        <p:nvSpPr>
          <p:cNvPr id="606239235" name="Text 27"/>
          <p:cNvSpPr txBox="1"/>
          <p:nvPr/>
        </p:nvSpPr>
        <p:spPr bwMode="auto">
          <a:xfrm>
            <a:off x="548640" y="5440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i="1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Amber modules are the swappable back-ends.</a:t>
            </a:r>
            <a:endParaRPr lang="en-US" sz="1200"/>
          </a:p>
        </p:txBody>
      </p:sp>
      <p:sp>
        <p:nvSpPr>
          <p:cNvPr id="432982561" name="Shape 28"/>
          <p:cNvSpPr/>
          <p:nvPr/>
        </p:nvSpPr>
        <p:spPr bwMode="auto">
          <a:xfrm>
            <a:off x="6492240" y="1600200"/>
            <a:ext cx="530352" cy="530352"/>
          </a:xfrm>
          <a:prstGeom prst="ellipse">
            <a:avLst/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pic>
        <p:nvPicPr>
          <p:cNvPr id="1366935305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624828" y="1732788"/>
            <a:ext cx="265176" cy="265176"/>
          </a:xfrm>
          <a:prstGeom prst="rect">
            <a:avLst/>
          </a:prstGeom>
        </p:spPr>
      </p:pic>
      <p:sp>
        <p:nvSpPr>
          <p:cNvPr id="2060723379" name="Text 29"/>
          <p:cNvSpPr txBox="1"/>
          <p:nvPr/>
        </p:nvSpPr>
        <p:spPr bwMode="auto">
          <a:xfrm>
            <a:off x="7178039" y="155448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0F1C2B"/>
                </a:solidFill>
                <a:latin typeface="Arial"/>
                <a:ea typeface="Arial"/>
                <a:cs typeface="Arial"/>
              </a:rPr>
              <a:t>Per-backup choice</a:t>
            </a:r>
            <a:endParaRPr lang="en-US" sz="1500"/>
          </a:p>
        </p:txBody>
      </p:sp>
      <p:sp>
        <p:nvSpPr>
          <p:cNvPr id="1310087029" name="Text 30"/>
          <p:cNvSpPr txBox="1"/>
          <p:nvPr/>
        </p:nvSpPr>
        <p:spPr bwMode="auto">
          <a:xfrm>
            <a:off x="7178039" y="1865376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Users pick speed, size or secrecy per run with -c and -e; no global config to change.</a:t>
            </a:r>
            <a:endParaRPr lang="en-US" sz="1300"/>
          </a:p>
        </p:txBody>
      </p:sp>
      <p:sp>
        <p:nvSpPr>
          <p:cNvPr id="33351814" name="Shape 31"/>
          <p:cNvSpPr/>
          <p:nvPr/>
        </p:nvSpPr>
        <p:spPr bwMode="auto">
          <a:xfrm>
            <a:off x="6492240" y="2532888"/>
            <a:ext cx="530352" cy="530352"/>
          </a:xfrm>
          <a:prstGeom prst="ellipse">
            <a:avLst/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pic>
        <p:nvPicPr>
          <p:cNvPr id="1698439561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6624828" y="2665476"/>
            <a:ext cx="265176" cy="265176"/>
          </a:xfrm>
          <a:prstGeom prst="rect">
            <a:avLst/>
          </a:prstGeom>
        </p:spPr>
      </p:pic>
      <p:sp>
        <p:nvSpPr>
          <p:cNvPr id="189477737" name="Text 32"/>
          <p:cNvSpPr txBox="1"/>
          <p:nvPr/>
        </p:nvSpPr>
        <p:spPr bwMode="auto">
          <a:xfrm>
            <a:off x="7178039" y="2487168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0F1C2B"/>
                </a:solidFill>
                <a:latin typeface="Arial"/>
                <a:ea typeface="Arial"/>
                <a:cs typeface="Arial"/>
              </a:rPr>
              <a:t>Swappable back-ends</a:t>
            </a:r>
            <a:endParaRPr lang="en-US" sz="1500"/>
          </a:p>
        </p:txBody>
      </p:sp>
      <p:sp>
        <p:nvSpPr>
          <p:cNvPr id="1355600488" name="Text 33"/>
          <p:cNvSpPr txBox="1"/>
          <p:nvPr/>
        </p:nvSpPr>
        <p:spPr bwMode="auto">
          <a:xfrm>
            <a:off x="7178039" y="279806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lz4 → zstd, or AES-CBC → AES-GCM, is a one-line change in compress.c or encrypt.c.</a:t>
            </a:r>
            <a:endParaRPr lang="en-US" sz="1300"/>
          </a:p>
        </p:txBody>
      </p:sp>
      <p:sp>
        <p:nvSpPr>
          <p:cNvPr id="1698925201" name="Shape 34"/>
          <p:cNvSpPr/>
          <p:nvPr/>
        </p:nvSpPr>
        <p:spPr bwMode="auto">
          <a:xfrm>
            <a:off x="6492240" y="3465576"/>
            <a:ext cx="530352" cy="530352"/>
          </a:xfrm>
          <a:prstGeom prst="ellipse">
            <a:avLst/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pic>
        <p:nvPicPr>
          <p:cNvPr id="633178486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6624828" y="3598164"/>
            <a:ext cx="265176" cy="265176"/>
          </a:xfrm>
          <a:prstGeom prst="rect">
            <a:avLst/>
          </a:prstGeom>
        </p:spPr>
      </p:pic>
      <p:sp>
        <p:nvSpPr>
          <p:cNvPr id="607386580" name="Text 35"/>
          <p:cNvSpPr txBox="1"/>
          <p:nvPr/>
        </p:nvSpPr>
        <p:spPr bwMode="auto">
          <a:xfrm>
            <a:off x="7178039" y="3419856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0F1C2B"/>
                </a:solidFill>
                <a:latin typeface="Arial"/>
                <a:ea typeface="Arial"/>
                <a:cs typeface="Arial"/>
              </a:rPr>
              <a:t>Files or whole folders</a:t>
            </a:r>
            <a:endParaRPr lang="en-US" sz="1500"/>
          </a:p>
        </p:txBody>
      </p:sp>
      <p:sp>
        <p:nvSpPr>
          <p:cNvPr id="91183802" name="Text 36"/>
          <p:cNvSpPr txBox="1"/>
          <p:nvPr/>
        </p:nvSpPr>
        <p:spPr bwMode="auto">
          <a:xfrm>
            <a:off x="7178039" y="373075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The same command handles a single note, a project tree, or a config directory.</a:t>
            </a:r>
            <a:endParaRPr lang="en-US" sz="1300"/>
          </a:p>
        </p:txBody>
      </p:sp>
      <p:sp>
        <p:nvSpPr>
          <p:cNvPr id="98345897" name="Shape 37"/>
          <p:cNvSpPr/>
          <p:nvPr/>
        </p:nvSpPr>
        <p:spPr bwMode="auto">
          <a:xfrm>
            <a:off x="6492240" y="4398264"/>
            <a:ext cx="530352" cy="530352"/>
          </a:xfrm>
          <a:prstGeom prst="ellipse">
            <a:avLst/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pic>
        <p:nvPicPr>
          <p:cNvPr id="244372899" name="Image 3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6624828" y="4530852"/>
            <a:ext cx="265176" cy="265176"/>
          </a:xfrm>
          <a:prstGeom prst="rect">
            <a:avLst/>
          </a:prstGeom>
        </p:spPr>
      </p:pic>
      <p:sp>
        <p:nvSpPr>
          <p:cNvPr id="1894065505" name="Text 38"/>
          <p:cNvSpPr txBox="1"/>
          <p:nvPr/>
        </p:nvSpPr>
        <p:spPr bwMode="auto">
          <a:xfrm>
            <a:off x="7178039" y="4352544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0F1C2B"/>
                </a:solidFill>
                <a:latin typeface="Arial"/>
                <a:ea typeface="Arial"/>
                <a:cs typeface="Arial"/>
              </a:rPr>
              <a:t>Portable foundation</a:t>
            </a:r>
            <a:endParaRPr lang="en-US" sz="1500"/>
          </a:p>
        </p:txBody>
      </p:sp>
      <p:sp>
        <p:nvSpPr>
          <p:cNvPr id="736097178" name="Text 39"/>
          <p:cNvSpPr txBox="1"/>
          <p:nvPr/>
        </p:nvSpPr>
        <p:spPr bwMode="auto">
          <a:xfrm>
            <a:off x="7178039" y="466344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Only standard tools (tar, lz4, openssl, sha1sum, fzf); runs on Linux and WSL.</a:t>
            </a:r>
            <a:endParaRPr lang="en-US" sz="1300"/>
          </a:p>
        </p:txBody>
      </p:sp>
      <p:sp>
        <p:nvSpPr>
          <p:cNvPr id="64960671" name="Shape 40"/>
          <p:cNvSpPr/>
          <p:nvPr/>
        </p:nvSpPr>
        <p:spPr bwMode="auto">
          <a:xfrm>
            <a:off x="6492240" y="5330952"/>
            <a:ext cx="530352" cy="530352"/>
          </a:xfrm>
          <a:prstGeom prst="ellipse">
            <a:avLst/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pic>
        <p:nvPicPr>
          <p:cNvPr id="1924914032" name="Image 4" descr="preencoded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6624828" y="5463539"/>
            <a:ext cx="265176" cy="265176"/>
          </a:xfrm>
          <a:prstGeom prst="rect">
            <a:avLst/>
          </a:prstGeom>
        </p:spPr>
      </p:pic>
      <p:sp>
        <p:nvSpPr>
          <p:cNvPr id="552822624" name="Text 41"/>
          <p:cNvSpPr txBox="1"/>
          <p:nvPr/>
        </p:nvSpPr>
        <p:spPr bwMode="auto">
          <a:xfrm>
            <a:off x="7178039" y="5285232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0F1C2B"/>
                </a:solidFill>
                <a:latin typeface="Arial"/>
                <a:ea typeface="Arial"/>
                <a:cs typeface="Arial"/>
              </a:rPr>
              <a:t>Many user groups</a:t>
            </a:r>
            <a:endParaRPr lang="en-US" sz="1500"/>
          </a:p>
        </p:txBody>
      </p:sp>
      <p:sp>
        <p:nvSpPr>
          <p:cNvPr id="324680945" name="Text 42"/>
          <p:cNvSpPr txBox="1"/>
          <p:nvPr/>
        </p:nvSpPr>
        <p:spPr bwMode="auto">
          <a:xfrm>
            <a:off x="7178039" y="55961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Students' assignments, developers' repos, admins' /etc snapshots before an upgrade.</a:t>
            </a:r>
            <a:endParaRPr lang="en-US" sz="1300"/>
          </a:p>
        </p:txBody>
      </p:sp>
      <p:sp>
        <p:nvSpPr>
          <p:cNvPr id="1747611117" name="Text 43"/>
          <p:cNvSpPr txBox="1"/>
          <p:nvPr/>
        </p:nvSpPr>
        <p:spPr bwMode="auto">
          <a:xfrm>
            <a:off x="8869680" y="6419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10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SafeStore  ·  4</a:t>
            </a:r>
            <a:endParaRPr lang="en-US" sz="1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840569" name="Text 0"/>
          <p:cNvSpPr txBox="1"/>
          <p:nvPr/>
        </p:nvSpPr>
        <p:spPr bwMode="auto"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 spc="300">
                <a:solidFill>
                  <a:srgbClr val="12A58C"/>
                </a:solidFill>
                <a:latin typeface="Arial"/>
                <a:ea typeface="Arial"/>
                <a:cs typeface="Arial"/>
              </a:rPr>
              <a:t>CRITERION 3  ·  METHODOLOGY EVALUATION</a:t>
            </a:r>
            <a:endParaRPr lang="en-US" sz="1200"/>
          </a:p>
        </p:txBody>
      </p:sp>
      <p:sp>
        <p:nvSpPr>
          <p:cNvPr id="1530283519" name="Text 1"/>
          <p:cNvSpPr txBox="1"/>
          <p:nvPr/>
        </p:nvSpPr>
        <p:spPr bwMode="auto"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0F1C2B"/>
                </a:solidFill>
                <a:latin typeface="Arial"/>
                <a:ea typeface="Arial"/>
                <a:cs typeface="Arial"/>
              </a:rPr>
              <a:t>Test results: storage and integrity</a:t>
            </a:r>
            <a:endParaRPr lang="en-US" sz="3200"/>
          </a:p>
        </p:txBody>
      </p:sp>
      <p:sp>
        <p:nvSpPr>
          <p:cNvPr id="1882028057" name="Shape 2"/>
          <p:cNvSpPr/>
          <p:nvPr/>
        </p:nvSpPr>
        <p:spPr bwMode="auto">
          <a:xfrm>
            <a:off x="548640" y="1554480"/>
            <a:ext cx="3291840" cy="4526280"/>
          </a:xfrm>
          <a:prstGeom prst="roundRect">
            <a:avLst>
              <a:gd name="adj" fmla="val 3333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265329803" name="Text 3"/>
          <p:cNvSpPr txBox="1"/>
          <p:nvPr/>
        </p:nvSpPr>
        <p:spPr bwMode="auto">
          <a:xfrm>
            <a:off x="777240" y="16916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0F1C2B"/>
                </a:solidFill>
                <a:latin typeface="Arial"/>
                <a:ea typeface="Arial"/>
                <a:cs typeface="Arial"/>
              </a:rPr>
              <a:t>Test setup</a:t>
            </a:r>
            <a:endParaRPr lang="en-US" sz="1500"/>
          </a:p>
        </p:txBody>
      </p:sp>
      <p:sp>
        <p:nvSpPr>
          <p:cNvPr id="209889393" name="Text 4"/>
          <p:cNvSpPr txBox="1"/>
          <p:nvPr/>
        </p:nvSpPr>
        <p:spPr bwMode="auto">
          <a:xfrm>
            <a:off x="777240" y="2103120"/>
            <a:ext cx="29260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300">
                <a:solidFill>
                  <a:srgbClr val="1D2A36"/>
                </a:solidFill>
                <a:latin typeface="Calibri"/>
                <a:ea typeface="Calibri"/>
                <a:cs typeface="Calibri"/>
              </a:rPr>
              <a:t>Text set: 200 log files + source code, 51.7 MB</a:t>
            </a:r>
            <a:endParaRPr lang="en-US" sz="13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300">
                <a:solidFill>
                  <a:srgbClr val="1D2A36"/>
                </a:solidFill>
                <a:latin typeface="Calibri"/>
                <a:ea typeface="Calibri"/>
                <a:cs typeface="Calibri"/>
              </a:rPr>
              <a:t>Binary set: 50 MB of random bytes (incompressible)</a:t>
            </a:r>
            <a:endParaRPr lang="en-US" sz="13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300">
                <a:solidFill>
                  <a:srgbClr val="1D2A36"/>
                </a:solidFill>
                <a:latin typeface="Calibri"/>
                <a:ea typeface="Calibri"/>
                <a:cs typeface="Calibri"/>
              </a:rPr>
              <a:t>Each set backed up in all 4 modes, deleted, then restored from every snapshot</a:t>
            </a:r>
            <a:endParaRPr lang="en-US" sz="13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300">
                <a:solidFill>
                  <a:srgbClr val="1D2A36"/>
                </a:solidFill>
                <a:latin typeface="Calibri"/>
                <a:ea typeface="Calibri"/>
                <a:cs typeface="Calibri"/>
              </a:rPr>
              <a:t>Integrity checked by comparing SHA-1 of every file before and after</a:t>
            </a:r>
            <a:endParaRPr lang="en-US" sz="13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300">
                <a:solidFill>
                  <a:srgbClr val="1D2A36"/>
                </a:solidFill>
                <a:latin typeface="Calibri"/>
                <a:ea typeface="Calibri"/>
                <a:cs typeface="Calibri"/>
              </a:rPr>
              <a:t>Ubuntu 24.04, GCC -O2, lz4 and OpenSSL 3</a:t>
            </a:r>
            <a:endParaRPr lang="en-US" sz="1300"/>
          </a:p>
        </p:txBody>
      </p:sp>
      <p:graphicFrame>
        <p:nvGraphicFramePr>
          <p:cNvPr id="2043316627" name="Chart 0" descr=""/>
          <p:cNvGraphicFramePr>
            <a:graphicFrameLocks xmlns:a="http://schemas.openxmlformats.org/drawingml/2006/main"/>
          </p:cNvGraphicFramePr>
          <p:nvPr/>
        </p:nvGraphicFramePr>
        <p:xfrm rot="0">
          <a:off x="4114800" y="1508759"/>
          <a:ext cx="466344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7627985" name="Shape 5"/>
          <p:cNvSpPr/>
          <p:nvPr/>
        </p:nvSpPr>
        <p:spPr bwMode="auto">
          <a:xfrm>
            <a:off x="9052560" y="155448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1744557774" name="Text 6"/>
          <p:cNvSpPr txBox="1"/>
          <p:nvPr/>
        </p:nvSpPr>
        <p:spPr bwMode="auto">
          <a:xfrm>
            <a:off x="9235440" y="166420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600" b="1">
                <a:solidFill>
                  <a:srgbClr val="12A58C"/>
                </a:solidFill>
                <a:latin typeface="Arial"/>
                <a:ea typeface="Arial"/>
                <a:cs typeface="Arial"/>
              </a:rPr>
              <a:t>57%</a:t>
            </a:r>
            <a:endParaRPr lang="en-US" sz="3600"/>
          </a:p>
        </p:txBody>
      </p:sp>
      <p:sp>
        <p:nvSpPr>
          <p:cNvPr id="1924520070" name="Text 7"/>
          <p:cNvSpPr txBox="1"/>
          <p:nvPr/>
        </p:nvSpPr>
        <p:spPr bwMode="auto">
          <a:xfrm>
            <a:off x="9235440" y="235915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D2A36"/>
                </a:solidFill>
                <a:latin typeface="Calibri"/>
                <a:ea typeface="Calibri"/>
                <a:cs typeface="Calibri"/>
              </a:rPr>
              <a:t>smaller backup for text data with lz4</a:t>
            </a:r>
            <a:endParaRPr lang="en-US" sz="1200"/>
          </a:p>
        </p:txBody>
      </p:sp>
      <p:sp>
        <p:nvSpPr>
          <p:cNvPr id="306631709" name="Shape 8"/>
          <p:cNvSpPr/>
          <p:nvPr/>
        </p:nvSpPr>
        <p:spPr bwMode="auto">
          <a:xfrm>
            <a:off x="9052560" y="3090672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E0F3EF"/>
          </a:solidFill>
          <a:ln w="12700">
            <a:solidFill>
              <a:srgbClr val="E0F3EF"/>
            </a:solidFill>
            <a:prstDash val="solid"/>
          </a:ln>
        </p:spPr>
      </p:sp>
      <p:sp>
        <p:nvSpPr>
          <p:cNvPr id="1382100455" name="Text 9"/>
          <p:cNvSpPr txBox="1"/>
          <p:nvPr/>
        </p:nvSpPr>
        <p:spPr bwMode="auto">
          <a:xfrm>
            <a:off x="9235440" y="32004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600" b="1">
                <a:solidFill>
                  <a:srgbClr val="12A58C"/>
                </a:solidFill>
                <a:latin typeface="Arial"/>
                <a:ea typeface="Arial"/>
                <a:cs typeface="Arial"/>
              </a:rPr>
              <a:t>8 / 8</a:t>
            </a:r>
            <a:endParaRPr lang="en-US" sz="3600"/>
          </a:p>
        </p:txBody>
      </p:sp>
      <p:sp>
        <p:nvSpPr>
          <p:cNvPr id="827073836" name="Text 10"/>
          <p:cNvSpPr txBox="1"/>
          <p:nvPr/>
        </p:nvSpPr>
        <p:spPr bwMode="auto">
          <a:xfrm>
            <a:off x="9235440" y="3895343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D2A36"/>
                </a:solidFill>
                <a:latin typeface="Calibri"/>
                <a:ea typeface="Calibri"/>
                <a:cs typeface="Calibri"/>
              </a:rPr>
              <a:t>restores bit-identical (SHA-1 match)</a:t>
            </a:r>
            <a:endParaRPr lang="en-US" sz="1200"/>
          </a:p>
        </p:txBody>
      </p:sp>
      <p:sp>
        <p:nvSpPr>
          <p:cNvPr id="1159441939" name="Shape 11"/>
          <p:cNvSpPr/>
          <p:nvPr/>
        </p:nvSpPr>
        <p:spPr bwMode="auto">
          <a:xfrm>
            <a:off x="9052560" y="4626864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85415891" name="Text 12"/>
          <p:cNvSpPr txBox="1"/>
          <p:nvPr/>
        </p:nvSpPr>
        <p:spPr bwMode="auto">
          <a:xfrm>
            <a:off x="9235440" y="473659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600" b="1">
                <a:solidFill>
                  <a:srgbClr val="5F6F7E"/>
                </a:solidFill>
                <a:latin typeface="Arial"/>
                <a:ea typeface="Arial"/>
                <a:cs typeface="Arial"/>
              </a:rPr>
              <a:t>0%</a:t>
            </a:r>
            <a:endParaRPr lang="en-US" sz="3600"/>
          </a:p>
        </p:txBody>
      </p:sp>
      <p:sp>
        <p:nvSpPr>
          <p:cNvPr id="238537941" name="Text 13"/>
          <p:cNvSpPr txBox="1"/>
          <p:nvPr/>
        </p:nvSpPr>
        <p:spPr bwMode="auto">
          <a:xfrm>
            <a:off x="9235440" y="543153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D2A36"/>
                </a:solidFill>
                <a:latin typeface="Calibri"/>
                <a:ea typeface="Calibri"/>
                <a:cs typeface="Calibri"/>
              </a:rPr>
              <a:t>gain on random data, so -c is optional</a:t>
            </a:r>
            <a:endParaRPr lang="en-US" sz="1200"/>
          </a:p>
        </p:txBody>
      </p:sp>
      <p:sp>
        <p:nvSpPr>
          <p:cNvPr id="351207143" name="Text 14"/>
          <p:cNvSpPr txBox="1"/>
          <p:nvPr/>
        </p:nvSpPr>
        <p:spPr bwMode="auto">
          <a:xfrm>
            <a:off x="4114800" y="6144768"/>
            <a:ext cx="7543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i="1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Every 50 MB backup finished in under 0.25 s (warm cache). Wrong passwords were rejected by OpenSSL.</a:t>
            </a:r>
            <a:endParaRPr lang="en-US" sz="1100"/>
          </a:p>
        </p:txBody>
      </p:sp>
      <p:sp>
        <p:nvSpPr>
          <p:cNvPr id="2055478049" name="Text 15"/>
          <p:cNvSpPr txBox="1"/>
          <p:nvPr/>
        </p:nvSpPr>
        <p:spPr bwMode="auto">
          <a:xfrm>
            <a:off x="8869680" y="6419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10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SafeStore  ·  5</a:t>
            </a:r>
            <a:endParaRPr lang="en-US" sz="1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2993698" name="Text 0"/>
          <p:cNvSpPr txBox="1"/>
          <p:nvPr/>
        </p:nvSpPr>
        <p:spPr bwMode="auto"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 spc="300">
                <a:solidFill>
                  <a:srgbClr val="12A58C"/>
                </a:solidFill>
                <a:latin typeface="Arial"/>
                <a:ea typeface="Arial"/>
                <a:cs typeface="Arial"/>
              </a:rPr>
              <a:t>CRITERION 4  ·  DISSEMINATION AND ACCESSIBILITY</a:t>
            </a:r>
            <a:endParaRPr lang="en-US" sz="1200"/>
          </a:p>
        </p:txBody>
      </p:sp>
      <p:sp>
        <p:nvSpPr>
          <p:cNvPr id="1662223985" name="Text 1"/>
          <p:cNvSpPr txBox="1"/>
          <p:nvPr/>
        </p:nvSpPr>
        <p:spPr bwMode="auto"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0F1C2B"/>
                </a:solidFill>
                <a:latin typeface="Arial"/>
                <a:ea typeface="Arial"/>
                <a:cs typeface="Arial"/>
              </a:rPr>
              <a:t>Easy to get, easy to run, easy to read</a:t>
            </a:r>
            <a:endParaRPr lang="en-US" sz="3200"/>
          </a:p>
        </p:txBody>
      </p:sp>
      <p:sp>
        <p:nvSpPr>
          <p:cNvPr id="1269641033" name="Text 2"/>
          <p:cNvSpPr txBox="1"/>
          <p:nvPr/>
        </p:nvSpPr>
        <p:spPr bwMode="auto">
          <a:xfrm>
            <a:off x="54864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2A58C"/>
                </a:solidFill>
                <a:latin typeface="Arial"/>
                <a:ea typeface="Arial"/>
                <a:cs typeface="Arial"/>
              </a:rPr>
              <a:t>Available today</a:t>
            </a:r>
            <a:endParaRPr lang="en-US" sz="1600"/>
          </a:p>
        </p:txBody>
      </p:sp>
      <p:sp>
        <p:nvSpPr>
          <p:cNvPr id="1636602726" name="Shape 3"/>
          <p:cNvSpPr/>
          <p:nvPr/>
        </p:nvSpPr>
        <p:spPr bwMode="auto">
          <a:xfrm>
            <a:off x="548640" y="2011680"/>
            <a:ext cx="502920" cy="502920"/>
          </a:xfrm>
          <a:prstGeom prst="ellipse">
            <a:avLst/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pic>
        <p:nvPicPr>
          <p:cNvPr id="1192398105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74370" y="2137410"/>
            <a:ext cx="251460" cy="251460"/>
          </a:xfrm>
          <a:prstGeom prst="rect">
            <a:avLst/>
          </a:prstGeom>
        </p:spPr>
      </p:pic>
      <p:sp>
        <p:nvSpPr>
          <p:cNvPr id="126812963" name="Text 4"/>
          <p:cNvSpPr txBox="1"/>
          <p:nvPr/>
        </p:nvSpPr>
        <p:spPr bwMode="auto">
          <a:xfrm>
            <a:off x="1234440" y="197510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F1C2B"/>
                </a:solidFill>
                <a:latin typeface="Arial"/>
                <a:ea typeface="Arial"/>
                <a:cs typeface="Arial"/>
              </a:rPr>
              <a:t>Public GitHub repository</a:t>
            </a:r>
            <a:endParaRPr lang="en-US" sz="1400"/>
          </a:p>
        </p:txBody>
      </p:sp>
      <p:sp>
        <p:nvSpPr>
          <p:cNvPr id="518258758" name="Text 5"/>
          <p:cNvSpPr txBox="1"/>
          <p:nvPr/>
        </p:nvSpPr>
        <p:spPr bwMode="auto">
          <a:xfrm>
            <a:off x="1234440" y="226771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Source, Makefile, prebuilt binary and review slides in one place.</a:t>
            </a:r>
            <a:endParaRPr lang="en-US" sz="1200"/>
          </a:p>
        </p:txBody>
      </p:sp>
      <p:sp>
        <p:nvSpPr>
          <p:cNvPr id="1768382226" name="Shape 6"/>
          <p:cNvSpPr/>
          <p:nvPr/>
        </p:nvSpPr>
        <p:spPr bwMode="auto">
          <a:xfrm>
            <a:off x="548640" y="2834640"/>
            <a:ext cx="502920" cy="502920"/>
          </a:xfrm>
          <a:prstGeom prst="ellipse">
            <a:avLst/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pic>
        <p:nvPicPr>
          <p:cNvPr id="1701171061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674370" y="2960370"/>
            <a:ext cx="251460" cy="251460"/>
          </a:xfrm>
          <a:prstGeom prst="rect">
            <a:avLst/>
          </a:prstGeom>
        </p:spPr>
      </p:pic>
      <p:sp>
        <p:nvSpPr>
          <p:cNvPr id="2027316648" name="Text 7"/>
          <p:cNvSpPr txBox="1"/>
          <p:nvPr/>
        </p:nvSpPr>
        <p:spPr bwMode="auto">
          <a:xfrm>
            <a:off x="1234440" y="279806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F1C2B"/>
                </a:solidFill>
                <a:latin typeface="Arial"/>
                <a:ea typeface="Arial"/>
                <a:cs typeface="Arial"/>
              </a:rPr>
              <a:t>One-command build</a:t>
            </a:r>
            <a:endParaRPr lang="en-US" sz="1400"/>
          </a:p>
        </p:txBody>
      </p:sp>
      <p:sp>
        <p:nvSpPr>
          <p:cNvPr id="1053319673" name="Text 8"/>
          <p:cNvSpPr txBox="1"/>
          <p:nvPr/>
        </p:nvSpPr>
        <p:spPr bwMode="auto">
          <a:xfrm>
            <a:off x="1234440" y="309067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make produces the binary; no config file, daemon or repository init.</a:t>
            </a:r>
            <a:endParaRPr lang="en-US" sz="1200"/>
          </a:p>
        </p:txBody>
      </p:sp>
      <p:sp>
        <p:nvSpPr>
          <p:cNvPr id="1080527544" name="Shape 9"/>
          <p:cNvSpPr/>
          <p:nvPr/>
        </p:nvSpPr>
        <p:spPr bwMode="auto">
          <a:xfrm>
            <a:off x="548640" y="3657600"/>
            <a:ext cx="502920" cy="502920"/>
          </a:xfrm>
          <a:prstGeom prst="ellipse">
            <a:avLst/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pic>
        <p:nvPicPr>
          <p:cNvPr id="2139618397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674370" y="3783330"/>
            <a:ext cx="251460" cy="251460"/>
          </a:xfrm>
          <a:prstGeom prst="rect">
            <a:avLst/>
          </a:prstGeom>
        </p:spPr>
      </p:pic>
      <p:sp>
        <p:nvSpPr>
          <p:cNvPr id="1721166138" name="Text 10"/>
          <p:cNvSpPr txBox="1"/>
          <p:nvPr/>
        </p:nvSpPr>
        <p:spPr bwMode="auto">
          <a:xfrm>
            <a:off x="1234440" y="362102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F1C2B"/>
                </a:solidFill>
                <a:latin typeface="Arial"/>
                <a:ea typeface="Arial"/>
                <a:cs typeface="Arial"/>
              </a:rPr>
              <a:t>Small, readable codebase</a:t>
            </a:r>
            <a:endParaRPr lang="en-US" sz="1400"/>
          </a:p>
        </p:txBody>
      </p:sp>
      <p:sp>
        <p:nvSpPr>
          <p:cNvPr id="1670586472" name="Text 11"/>
          <p:cNvSpPr txBox="1"/>
          <p:nvPr/>
        </p:nvSpPr>
        <p:spPr bwMode="auto">
          <a:xfrm>
            <a:off x="1234440" y="391363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About 490 lines of C across 8 modules; auditable in one sitting.</a:t>
            </a:r>
            <a:endParaRPr lang="en-US" sz="1200"/>
          </a:p>
        </p:txBody>
      </p:sp>
      <p:sp>
        <p:nvSpPr>
          <p:cNvPr id="1713379333" name="Shape 12"/>
          <p:cNvSpPr/>
          <p:nvPr/>
        </p:nvSpPr>
        <p:spPr bwMode="auto">
          <a:xfrm>
            <a:off x="548640" y="4480560"/>
            <a:ext cx="502920" cy="502920"/>
          </a:xfrm>
          <a:prstGeom prst="ellipse">
            <a:avLst/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pic>
        <p:nvPicPr>
          <p:cNvPr id="785217528" name="Image 3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674370" y="4606290"/>
            <a:ext cx="251460" cy="251460"/>
          </a:xfrm>
          <a:prstGeom prst="rect">
            <a:avLst/>
          </a:prstGeom>
        </p:spPr>
      </p:pic>
      <p:sp>
        <p:nvSpPr>
          <p:cNvPr id="417159310" name="Text 13"/>
          <p:cNvSpPr txBox="1"/>
          <p:nvPr/>
        </p:nvSpPr>
        <p:spPr bwMode="auto">
          <a:xfrm>
            <a:off x="1234440" y="444398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F1C2B"/>
                </a:solidFill>
                <a:latin typeface="Arial"/>
                <a:ea typeface="Arial"/>
                <a:cs typeface="Arial"/>
              </a:rPr>
              <a:t>Open, standard formats</a:t>
            </a:r>
            <a:endParaRPr lang="en-US" sz="1400"/>
          </a:p>
        </p:txBody>
      </p:sp>
      <p:sp>
        <p:nvSpPr>
          <p:cNvPr id="554369333" name="Text 14"/>
          <p:cNvSpPr txBox="1"/>
          <p:nvPr/>
        </p:nvSpPr>
        <p:spPr bwMode="auto">
          <a:xfrm>
            <a:off x="1234440" y="473659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Backups are plain folders, .tar, .lz4 or OpenSSL files; the log is CSV.</a:t>
            </a:r>
            <a:endParaRPr lang="en-US" sz="1200"/>
          </a:p>
        </p:txBody>
      </p:sp>
      <p:sp>
        <p:nvSpPr>
          <p:cNvPr id="707057022" name="Shape 15"/>
          <p:cNvSpPr/>
          <p:nvPr/>
        </p:nvSpPr>
        <p:spPr bwMode="auto">
          <a:xfrm>
            <a:off x="548640" y="5303520"/>
            <a:ext cx="502920" cy="502920"/>
          </a:xfrm>
          <a:prstGeom prst="ellipse">
            <a:avLst/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pic>
        <p:nvPicPr>
          <p:cNvPr id="376304678" name="Image 4" descr="preencoded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674370" y="5429250"/>
            <a:ext cx="251460" cy="251460"/>
          </a:xfrm>
          <a:prstGeom prst="rect">
            <a:avLst/>
          </a:prstGeom>
        </p:spPr>
      </p:pic>
      <p:sp>
        <p:nvSpPr>
          <p:cNvPr id="1159217862" name="Text 16"/>
          <p:cNvSpPr txBox="1"/>
          <p:nvPr/>
        </p:nvSpPr>
        <p:spPr bwMode="auto">
          <a:xfrm>
            <a:off x="1234440" y="52669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F1C2B"/>
                </a:solidFill>
                <a:latin typeface="Arial"/>
                <a:ea typeface="Arial"/>
                <a:cs typeface="Arial"/>
              </a:rPr>
              <a:t>Recoverable without SafeStore</a:t>
            </a:r>
            <a:endParaRPr lang="en-US" sz="1400"/>
          </a:p>
        </p:txBody>
      </p:sp>
      <p:sp>
        <p:nvSpPr>
          <p:cNvPr id="565885354" name="Text 17"/>
          <p:cNvSpPr txBox="1"/>
          <p:nvPr/>
        </p:nvSpPr>
        <p:spPr bwMode="auto">
          <a:xfrm>
            <a:off x="1234440" y="55595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Any Linux user can restore by hand with cp, tar, lz4 and openssl.</a:t>
            </a:r>
            <a:endParaRPr lang="en-US" sz="1200"/>
          </a:p>
        </p:txBody>
      </p:sp>
      <p:sp>
        <p:nvSpPr>
          <p:cNvPr id="844352389" name="Shape 18"/>
          <p:cNvSpPr/>
          <p:nvPr/>
        </p:nvSpPr>
        <p:spPr bwMode="auto">
          <a:xfrm>
            <a:off x="6400800" y="1554480"/>
            <a:ext cx="5257800" cy="4617720"/>
          </a:xfrm>
          <a:prstGeom prst="roundRect">
            <a:avLst>
              <a:gd name="adj" fmla="val 2376"/>
            </a:avLst>
          </a:prstGeom>
          <a:solidFill>
            <a:srgbClr val="0F1C2B"/>
          </a:solidFill>
          <a:ln w="12700">
            <a:solidFill>
              <a:srgbClr val="0F1C2B"/>
            </a:solidFill>
            <a:prstDash val="solid"/>
          </a:ln>
        </p:spPr>
      </p:sp>
      <p:sp>
        <p:nvSpPr>
          <p:cNvPr id="900994744" name="Text 19"/>
          <p:cNvSpPr txBox="1"/>
          <p:nvPr/>
        </p:nvSpPr>
        <p:spPr bwMode="auto">
          <a:xfrm>
            <a:off x="6675120" y="17373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F2A93B"/>
                </a:solidFill>
                <a:latin typeface="Arial"/>
                <a:ea typeface="Arial"/>
                <a:cs typeface="Arial"/>
              </a:rPr>
              <a:t>Dissemination plan</a:t>
            </a:r>
            <a:endParaRPr lang="en-US" sz="1600"/>
          </a:p>
        </p:txBody>
      </p:sp>
      <p:sp>
        <p:nvSpPr>
          <p:cNvPr id="1093996039" name="Shape 20"/>
          <p:cNvSpPr/>
          <p:nvPr/>
        </p:nvSpPr>
        <p:spPr bwMode="auto">
          <a:xfrm>
            <a:off x="6675120" y="2295144"/>
            <a:ext cx="329184" cy="329184"/>
          </a:xfrm>
          <a:prstGeom prst="ellipse">
            <a:avLst/>
          </a:prstGeom>
          <a:solidFill>
            <a:srgbClr val="12A58C"/>
          </a:solidFill>
          <a:ln w="12700">
            <a:solidFill>
              <a:srgbClr val="12A58C"/>
            </a:solidFill>
            <a:prstDash val="solid"/>
          </a:ln>
        </p:spPr>
      </p:sp>
      <p:sp>
        <p:nvSpPr>
          <p:cNvPr id="1602811605" name="Text 21"/>
          <p:cNvSpPr txBox="1"/>
          <p:nvPr/>
        </p:nvSpPr>
        <p:spPr bwMode="auto">
          <a:xfrm>
            <a:off x="6675120" y="22951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  <a:endParaRPr lang="en-US" sz="1200"/>
          </a:p>
        </p:txBody>
      </p:sp>
      <p:sp>
        <p:nvSpPr>
          <p:cNvPr id="1003134590" name="Text 22"/>
          <p:cNvSpPr txBox="1"/>
          <p:nvPr/>
        </p:nvSpPr>
        <p:spPr bwMode="auto">
          <a:xfrm>
            <a:off x="7178039" y="222199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README + usage examples</a:t>
            </a:r>
            <a:endParaRPr lang="en-US" sz="1400"/>
          </a:p>
        </p:txBody>
      </p:sp>
      <p:sp>
        <p:nvSpPr>
          <p:cNvPr id="2054094891" name="Text 23"/>
          <p:cNvSpPr txBox="1"/>
          <p:nvPr/>
        </p:nvSpPr>
        <p:spPr bwMode="auto">
          <a:xfrm>
            <a:off x="7178039" y="249631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A9BDCB"/>
                </a:solidFill>
                <a:latin typeface="Calibri"/>
                <a:ea typeface="Calibri"/>
                <a:cs typeface="Calibri"/>
              </a:rPr>
              <a:t>The repo currently has no description</a:t>
            </a:r>
            <a:endParaRPr lang="en-US" sz="1200"/>
          </a:p>
        </p:txBody>
      </p:sp>
      <p:sp>
        <p:nvSpPr>
          <p:cNvPr id="1181723180" name="Shape 24"/>
          <p:cNvSpPr/>
          <p:nvPr/>
        </p:nvSpPr>
        <p:spPr bwMode="auto">
          <a:xfrm>
            <a:off x="6675120" y="2935224"/>
            <a:ext cx="329184" cy="329184"/>
          </a:xfrm>
          <a:prstGeom prst="ellipse">
            <a:avLst/>
          </a:prstGeom>
          <a:solidFill>
            <a:srgbClr val="12A58C"/>
          </a:solidFill>
          <a:ln w="12700">
            <a:solidFill>
              <a:srgbClr val="12A58C"/>
            </a:solidFill>
            <a:prstDash val="solid"/>
          </a:ln>
        </p:spPr>
      </p:sp>
      <p:sp>
        <p:nvSpPr>
          <p:cNvPr id="1967789619" name="Text 25"/>
          <p:cNvSpPr txBox="1"/>
          <p:nvPr/>
        </p:nvSpPr>
        <p:spPr bwMode="auto">
          <a:xfrm>
            <a:off x="6675120" y="29352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  <a:endParaRPr lang="en-US" sz="1200"/>
          </a:p>
        </p:txBody>
      </p:sp>
      <p:sp>
        <p:nvSpPr>
          <p:cNvPr id="1722635426" name="Text 26"/>
          <p:cNvSpPr txBox="1"/>
          <p:nvPr/>
        </p:nvSpPr>
        <p:spPr bwMode="auto">
          <a:xfrm>
            <a:off x="7178039" y="286207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Open-source licence (MIT)</a:t>
            </a:r>
            <a:endParaRPr lang="en-US" sz="1400"/>
          </a:p>
        </p:txBody>
      </p:sp>
      <p:sp>
        <p:nvSpPr>
          <p:cNvPr id="1831715641" name="Text 27"/>
          <p:cNvSpPr txBox="1"/>
          <p:nvPr/>
        </p:nvSpPr>
        <p:spPr bwMode="auto">
          <a:xfrm>
            <a:off x="7178039" y="313639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A9BDCB"/>
                </a:solidFill>
                <a:latin typeface="Calibri"/>
                <a:ea typeface="Calibri"/>
                <a:cs typeface="Calibri"/>
              </a:rPr>
              <a:t>Lets others legally reuse and fork</a:t>
            </a:r>
            <a:endParaRPr lang="en-US" sz="1200"/>
          </a:p>
        </p:txBody>
      </p:sp>
      <p:sp>
        <p:nvSpPr>
          <p:cNvPr id="2136146523" name="Shape 28"/>
          <p:cNvSpPr/>
          <p:nvPr/>
        </p:nvSpPr>
        <p:spPr bwMode="auto">
          <a:xfrm>
            <a:off x="6675120" y="3575303"/>
            <a:ext cx="329184" cy="329184"/>
          </a:xfrm>
          <a:prstGeom prst="ellipse">
            <a:avLst/>
          </a:prstGeom>
          <a:solidFill>
            <a:srgbClr val="12A58C"/>
          </a:solidFill>
          <a:ln w="12700">
            <a:solidFill>
              <a:srgbClr val="12A58C"/>
            </a:solidFill>
            <a:prstDash val="solid"/>
          </a:ln>
        </p:spPr>
      </p:sp>
      <p:sp>
        <p:nvSpPr>
          <p:cNvPr id="234603935" name="Text 29"/>
          <p:cNvSpPr txBox="1"/>
          <p:nvPr/>
        </p:nvSpPr>
        <p:spPr bwMode="auto">
          <a:xfrm>
            <a:off x="6675120" y="357530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  <a:endParaRPr lang="en-US" sz="1200"/>
          </a:p>
        </p:txBody>
      </p:sp>
      <p:sp>
        <p:nvSpPr>
          <p:cNvPr id="446668185" name="Text 30"/>
          <p:cNvSpPr txBox="1"/>
          <p:nvPr/>
        </p:nvSpPr>
        <p:spPr bwMode="auto">
          <a:xfrm>
            <a:off x="7178039" y="350215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man page and --help</a:t>
            </a:r>
            <a:endParaRPr lang="en-US" sz="1400"/>
          </a:p>
        </p:txBody>
      </p:sp>
      <p:sp>
        <p:nvSpPr>
          <p:cNvPr id="1792765577" name="Text 31"/>
          <p:cNvSpPr txBox="1"/>
          <p:nvPr/>
        </p:nvSpPr>
        <p:spPr bwMode="auto">
          <a:xfrm>
            <a:off x="7178039" y="377647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A9BDCB"/>
                </a:solidFill>
                <a:latin typeface="Calibri"/>
                <a:ea typeface="Calibri"/>
                <a:cs typeface="Calibri"/>
              </a:rPr>
              <a:t>Built-in documentation in the terminal</a:t>
            </a:r>
            <a:endParaRPr lang="en-US" sz="1200"/>
          </a:p>
        </p:txBody>
      </p:sp>
      <p:sp>
        <p:nvSpPr>
          <p:cNvPr id="252876598" name="Shape 32"/>
          <p:cNvSpPr/>
          <p:nvPr/>
        </p:nvSpPr>
        <p:spPr bwMode="auto">
          <a:xfrm>
            <a:off x="6675120" y="4215384"/>
            <a:ext cx="329184" cy="329184"/>
          </a:xfrm>
          <a:prstGeom prst="ellipse">
            <a:avLst/>
          </a:prstGeom>
          <a:solidFill>
            <a:srgbClr val="12A58C"/>
          </a:solidFill>
          <a:ln w="12700">
            <a:solidFill>
              <a:srgbClr val="12A58C"/>
            </a:solidFill>
            <a:prstDash val="solid"/>
          </a:ln>
        </p:spPr>
      </p:sp>
      <p:sp>
        <p:nvSpPr>
          <p:cNvPr id="911463419" name="Text 33"/>
          <p:cNvSpPr txBox="1"/>
          <p:nvPr/>
        </p:nvSpPr>
        <p:spPr bwMode="auto">
          <a:xfrm>
            <a:off x="6675120" y="4215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  <a:endParaRPr lang="en-US" sz="1200"/>
          </a:p>
        </p:txBody>
      </p:sp>
      <p:sp>
        <p:nvSpPr>
          <p:cNvPr id="575916078" name="Text 34"/>
          <p:cNvSpPr txBox="1"/>
          <p:nvPr/>
        </p:nvSpPr>
        <p:spPr bwMode="auto">
          <a:xfrm>
            <a:off x="7178039" y="414223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Packages: .deb and AUR</a:t>
            </a:r>
            <a:endParaRPr lang="en-US" sz="1400"/>
          </a:p>
        </p:txBody>
      </p:sp>
      <p:sp>
        <p:nvSpPr>
          <p:cNvPr id="301237331" name="Text 35"/>
          <p:cNvSpPr txBox="1"/>
          <p:nvPr/>
        </p:nvSpPr>
        <p:spPr bwMode="auto">
          <a:xfrm>
            <a:off x="7178039" y="441655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A9BDCB"/>
                </a:solidFill>
                <a:latin typeface="Calibri"/>
                <a:ea typeface="Calibri"/>
                <a:cs typeface="Calibri"/>
              </a:rPr>
              <a:t>Install with apt or yay</a:t>
            </a:r>
            <a:endParaRPr lang="en-US" sz="1200"/>
          </a:p>
        </p:txBody>
      </p:sp>
      <p:sp>
        <p:nvSpPr>
          <p:cNvPr id="1730510139" name="Shape 36"/>
          <p:cNvSpPr/>
          <p:nvPr/>
        </p:nvSpPr>
        <p:spPr bwMode="auto">
          <a:xfrm>
            <a:off x="6675120" y="4855464"/>
            <a:ext cx="329184" cy="329184"/>
          </a:xfrm>
          <a:prstGeom prst="ellipse">
            <a:avLst/>
          </a:prstGeom>
          <a:solidFill>
            <a:srgbClr val="12A58C"/>
          </a:solidFill>
          <a:ln w="12700">
            <a:solidFill>
              <a:srgbClr val="12A58C"/>
            </a:solidFill>
            <a:prstDash val="solid"/>
          </a:ln>
        </p:spPr>
      </p:sp>
      <p:sp>
        <p:nvSpPr>
          <p:cNvPr id="640707862" name="Text 37"/>
          <p:cNvSpPr txBox="1"/>
          <p:nvPr/>
        </p:nvSpPr>
        <p:spPr bwMode="auto">
          <a:xfrm>
            <a:off x="6675120" y="48554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  <a:endParaRPr lang="en-US" sz="1200"/>
          </a:p>
        </p:txBody>
      </p:sp>
      <p:sp>
        <p:nvSpPr>
          <p:cNvPr id="133175567" name="Text 38"/>
          <p:cNvSpPr txBox="1"/>
          <p:nvPr/>
        </p:nvSpPr>
        <p:spPr bwMode="auto">
          <a:xfrm>
            <a:off x="7178039" y="478231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Demo video + GitHub release</a:t>
            </a:r>
            <a:endParaRPr lang="en-US" sz="1400"/>
          </a:p>
        </p:txBody>
      </p:sp>
      <p:sp>
        <p:nvSpPr>
          <p:cNvPr id="302723976" name="Text 39"/>
          <p:cNvSpPr txBox="1"/>
          <p:nvPr/>
        </p:nvSpPr>
        <p:spPr bwMode="auto">
          <a:xfrm>
            <a:off x="7178039" y="505663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A9BDCB"/>
                </a:solidFill>
                <a:latin typeface="Calibri"/>
                <a:ea typeface="Calibri"/>
                <a:cs typeface="Calibri"/>
              </a:rPr>
              <a:t>Tagged version with changelog</a:t>
            </a:r>
            <a:endParaRPr lang="en-US" sz="1200"/>
          </a:p>
        </p:txBody>
      </p:sp>
      <p:sp>
        <p:nvSpPr>
          <p:cNvPr id="1975284735" name="Shape 40"/>
          <p:cNvSpPr/>
          <p:nvPr/>
        </p:nvSpPr>
        <p:spPr bwMode="auto">
          <a:xfrm>
            <a:off x="6675120" y="5495544"/>
            <a:ext cx="329184" cy="329184"/>
          </a:xfrm>
          <a:prstGeom prst="ellipse">
            <a:avLst/>
          </a:prstGeom>
          <a:solidFill>
            <a:srgbClr val="12A58C"/>
          </a:solidFill>
          <a:ln w="12700">
            <a:solidFill>
              <a:srgbClr val="12A58C"/>
            </a:solidFill>
            <a:prstDash val="solid"/>
          </a:ln>
        </p:spPr>
      </p:sp>
      <p:sp>
        <p:nvSpPr>
          <p:cNvPr id="187899582" name="Text 41"/>
          <p:cNvSpPr txBox="1"/>
          <p:nvPr/>
        </p:nvSpPr>
        <p:spPr bwMode="auto">
          <a:xfrm>
            <a:off x="6675120" y="54955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  <a:endParaRPr lang="en-US" sz="1200"/>
          </a:p>
        </p:txBody>
      </p:sp>
      <p:sp>
        <p:nvSpPr>
          <p:cNvPr id="1763912246" name="Text 42"/>
          <p:cNvSpPr txBox="1"/>
          <p:nvPr/>
        </p:nvSpPr>
        <p:spPr bwMode="auto">
          <a:xfrm>
            <a:off x="7178039" y="542239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Dependency check at start-up</a:t>
            </a:r>
            <a:endParaRPr lang="en-US" sz="1400"/>
          </a:p>
        </p:txBody>
      </p:sp>
      <p:sp>
        <p:nvSpPr>
          <p:cNvPr id="305755487" name="Text 43"/>
          <p:cNvSpPr txBox="1"/>
          <p:nvPr/>
        </p:nvSpPr>
        <p:spPr bwMode="auto">
          <a:xfrm>
            <a:off x="7178039" y="569671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A9BDCB"/>
                </a:solidFill>
                <a:latin typeface="Calibri"/>
                <a:ea typeface="Calibri"/>
                <a:cs typeface="Calibri"/>
              </a:rPr>
              <a:t>Friendly message if lz4 / fzf missing</a:t>
            </a:r>
            <a:endParaRPr lang="en-US" sz="1200"/>
          </a:p>
        </p:txBody>
      </p:sp>
      <p:sp>
        <p:nvSpPr>
          <p:cNvPr id="1879779928" name="Text 44"/>
          <p:cNvSpPr txBox="1"/>
          <p:nvPr/>
        </p:nvSpPr>
        <p:spPr bwMode="auto">
          <a:xfrm>
            <a:off x="8869680" y="6419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1000">
                <a:solidFill>
                  <a:srgbClr val="5F6F7E"/>
                </a:solidFill>
                <a:latin typeface="Calibri"/>
                <a:ea typeface="Calibri"/>
                <a:cs typeface="Calibri"/>
              </a:rPr>
              <a:t>SafeStore  ·  6</a:t>
            </a:r>
            <a:endParaRPr lang="en-US" sz="1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7">
    <p:bg>
      <p:bgPr shadeToTitle="0">
        <a:solidFill>
          <a:srgbClr val="0F1C2B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4101332" name="Text 0"/>
          <p:cNvSpPr txBox="1"/>
          <p:nvPr/>
        </p:nvSpPr>
        <p:spPr bwMode="auto">
          <a:xfrm>
            <a:off x="731520" y="640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4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Conclusion</a:t>
            </a:r>
            <a:endParaRPr lang="en-US" sz="4000"/>
          </a:p>
        </p:txBody>
      </p:sp>
      <p:sp>
        <p:nvSpPr>
          <p:cNvPr id="1769816968" name="Shape 1"/>
          <p:cNvSpPr/>
          <p:nvPr/>
        </p:nvSpPr>
        <p:spPr bwMode="auto">
          <a:xfrm>
            <a:off x="731520" y="1783080"/>
            <a:ext cx="2514600" cy="2377440"/>
          </a:xfrm>
          <a:prstGeom prst="roundRect">
            <a:avLst>
              <a:gd name="adj" fmla="val 4615"/>
            </a:avLst>
          </a:prstGeom>
          <a:solidFill>
            <a:srgbClr val="182A3D"/>
          </a:solidFill>
          <a:ln w="12700">
            <a:solidFill>
              <a:srgbClr val="182A3D"/>
            </a:solidFill>
            <a:prstDash val="solid"/>
          </a:ln>
        </p:spPr>
      </p:sp>
      <p:sp>
        <p:nvSpPr>
          <p:cNvPr id="2057891839" name="Text 2"/>
          <p:cNvSpPr txBox="1"/>
          <p:nvPr/>
        </p:nvSpPr>
        <p:spPr bwMode="auto">
          <a:xfrm>
            <a:off x="960120" y="19659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rgbClr val="F2A93B"/>
                </a:solidFill>
                <a:latin typeface="Arial"/>
                <a:ea typeface="Arial"/>
                <a:cs typeface="Arial"/>
              </a:rPr>
              <a:t>Novelty</a:t>
            </a:r>
            <a:endParaRPr lang="en-US" sz="1800"/>
          </a:p>
        </p:txBody>
      </p:sp>
      <p:sp>
        <p:nvSpPr>
          <p:cNvPr id="1410750967" name="Text 3"/>
          <p:cNvSpPr txBox="1"/>
          <p:nvPr/>
        </p:nvSpPr>
        <p:spPr bwMode="auto">
          <a:xfrm>
            <a:off x="960120" y="2423160"/>
            <a:ext cx="2103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E3ECEF"/>
                </a:solidFill>
                <a:latin typeface="Calibri"/>
                <a:ea typeface="Calibri"/>
                <a:cs typeface="Calibri"/>
              </a:rPr>
              <a:t>Composable per-backup pipeline with a restore that detects its own format</a:t>
            </a:r>
            <a:endParaRPr lang="en-US" sz="1400"/>
          </a:p>
        </p:txBody>
      </p:sp>
      <p:sp>
        <p:nvSpPr>
          <p:cNvPr id="1967517779" name="Shape 4"/>
          <p:cNvSpPr/>
          <p:nvPr/>
        </p:nvSpPr>
        <p:spPr bwMode="auto">
          <a:xfrm>
            <a:off x="3474720" y="1783080"/>
            <a:ext cx="2514600" cy="2377440"/>
          </a:xfrm>
          <a:prstGeom prst="roundRect">
            <a:avLst>
              <a:gd name="adj" fmla="val 4615"/>
            </a:avLst>
          </a:prstGeom>
          <a:solidFill>
            <a:srgbClr val="182A3D"/>
          </a:solidFill>
          <a:ln w="12700">
            <a:solidFill>
              <a:srgbClr val="182A3D"/>
            </a:solidFill>
            <a:prstDash val="solid"/>
          </a:ln>
        </p:spPr>
      </p:sp>
      <p:sp>
        <p:nvSpPr>
          <p:cNvPr id="595812669" name="Text 5"/>
          <p:cNvSpPr txBox="1"/>
          <p:nvPr/>
        </p:nvSpPr>
        <p:spPr bwMode="auto">
          <a:xfrm>
            <a:off x="3703320" y="19659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rgbClr val="F2A93B"/>
                </a:solidFill>
                <a:latin typeface="Arial"/>
                <a:ea typeface="Arial"/>
                <a:cs typeface="Arial"/>
              </a:rPr>
              <a:t>Adaptability</a:t>
            </a:r>
            <a:endParaRPr lang="en-US" sz="1800"/>
          </a:p>
        </p:txBody>
      </p:sp>
      <p:sp>
        <p:nvSpPr>
          <p:cNvPr id="2135727143" name="Text 6"/>
          <p:cNvSpPr txBox="1"/>
          <p:nvPr/>
        </p:nvSpPr>
        <p:spPr bwMode="auto">
          <a:xfrm>
            <a:off x="3703320" y="2423160"/>
            <a:ext cx="2103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E3ECEF"/>
                </a:solidFill>
                <a:latin typeface="Calibri"/>
                <a:ea typeface="Calibri"/>
                <a:cs typeface="Calibri"/>
              </a:rPr>
              <a:t>8 swappable modules, file or folder, many user groups</a:t>
            </a:r>
            <a:endParaRPr lang="en-US" sz="1400"/>
          </a:p>
        </p:txBody>
      </p:sp>
      <p:sp>
        <p:nvSpPr>
          <p:cNvPr id="745842450" name="Shape 7"/>
          <p:cNvSpPr/>
          <p:nvPr/>
        </p:nvSpPr>
        <p:spPr bwMode="auto">
          <a:xfrm>
            <a:off x="6217920" y="1783080"/>
            <a:ext cx="2514600" cy="2377440"/>
          </a:xfrm>
          <a:prstGeom prst="roundRect">
            <a:avLst>
              <a:gd name="adj" fmla="val 4615"/>
            </a:avLst>
          </a:prstGeom>
          <a:solidFill>
            <a:srgbClr val="182A3D"/>
          </a:solidFill>
          <a:ln w="12700">
            <a:solidFill>
              <a:srgbClr val="182A3D"/>
            </a:solidFill>
            <a:prstDash val="solid"/>
          </a:ln>
        </p:spPr>
      </p:sp>
      <p:sp>
        <p:nvSpPr>
          <p:cNvPr id="776377056" name="Text 8"/>
          <p:cNvSpPr txBox="1"/>
          <p:nvPr/>
        </p:nvSpPr>
        <p:spPr bwMode="auto">
          <a:xfrm>
            <a:off x="6446520" y="19659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rgbClr val="F2A93B"/>
                </a:solidFill>
                <a:latin typeface="Arial"/>
                <a:ea typeface="Arial"/>
                <a:cs typeface="Arial"/>
              </a:rPr>
              <a:t>Evaluation</a:t>
            </a:r>
            <a:endParaRPr lang="en-US" sz="1800"/>
          </a:p>
        </p:txBody>
      </p:sp>
      <p:sp>
        <p:nvSpPr>
          <p:cNvPr id="1469823403" name="Text 9"/>
          <p:cNvSpPr txBox="1"/>
          <p:nvPr/>
        </p:nvSpPr>
        <p:spPr bwMode="auto">
          <a:xfrm>
            <a:off x="6446520" y="2423160"/>
            <a:ext cx="2103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E3ECEF"/>
                </a:solidFill>
                <a:latin typeface="Calibri"/>
                <a:ea typeface="Calibri"/>
                <a:cs typeface="Calibri"/>
              </a:rPr>
              <a:t>57% space saving on text data and 8/8 bit-identical restores</a:t>
            </a:r>
            <a:endParaRPr lang="en-US" sz="1400"/>
          </a:p>
        </p:txBody>
      </p:sp>
      <p:sp>
        <p:nvSpPr>
          <p:cNvPr id="930879762" name="Shape 10"/>
          <p:cNvSpPr/>
          <p:nvPr/>
        </p:nvSpPr>
        <p:spPr bwMode="auto">
          <a:xfrm>
            <a:off x="8961120" y="1783080"/>
            <a:ext cx="2514600" cy="2377440"/>
          </a:xfrm>
          <a:prstGeom prst="roundRect">
            <a:avLst>
              <a:gd name="adj" fmla="val 4615"/>
            </a:avLst>
          </a:prstGeom>
          <a:solidFill>
            <a:srgbClr val="182A3D"/>
          </a:solidFill>
          <a:ln w="12700">
            <a:solidFill>
              <a:srgbClr val="182A3D"/>
            </a:solidFill>
            <a:prstDash val="solid"/>
          </a:ln>
        </p:spPr>
      </p:sp>
      <p:sp>
        <p:nvSpPr>
          <p:cNvPr id="688132825" name="Text 11"/>
          <p:cNvSpPr txBox="1"/>
          <p:nvPr/>
        </p:nvSpPr>
        <p:spPr bwMode="auto">
          <a:xfrm>
            <a:off x="9189720" y="19659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rgbClr val="F2A93B"/>
                </a:solidFill>
                <a:latin typeface="Arial"/>
                <a:ea typeface="Arial"/>
                <a:cs typeface="Arial"/>
              </a:rPr>
              <a:t>Dissemination</a:t>
            </a:r>
            <a:endParaRPr lang="en-US" sz="1800"/>
          </a:p>
        </p:txBody>
      </p:sp>
      <p:sp>
        <p:nvSpPr>
          <p:cNvPr id="699088214" name="Text 12"/>
          <p:cNvSpPr txBox="1"/>
          <p:nvPr/>
        </p:nvSpPr>
        <p:spPr bwMode="auto">
          <a:xfrm>
            <a:off x="9189720" y="2423160"/>
            <a:ext cx="2103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E3ECEF"/>
                </a:solidFill>
                <a:latin typeface="Calibri"/>
                <a:ea typeface="Calibri"/>
                <a:cs typeface="Calibri"/>
              </a:rPr>
              <a:t>Public repo, open formats; README, licence and packages next</a:t>
            </a:r>
            <a:endParaRPr lang="en-US" sz="1400"/>
          </a:p>
        </p:txBody>
      </p:sp>
      <p:sp>
        <p:nvSpPr>
          <p:cNvPr id="11095546" name="Text 13"/>
          <p:cNvSpPr txBox="1"/>
          <p:nvPr/>
        </p:nvSpPr>
        <p:spPr bwMode="auto">
          <a:xfrm>
            <a:off x="731520" y="4526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rgbClr val="12A58C"/>
                </a:solidFill>
                <a:latin typeface="Arial"/>
                <a:ea typeface="Arial"/>
                <a:cs typeface="Arial"/>
              </a:rPr>
              <a:t>Future work</a:t>
            </a:r>
            <a:endParaRPr lang="en-US" sz="1800"/>
          </a:p>
        </p:txBody>
      </p:sp>
      <p:sp>
        <p:nvSpPr>
          <p:cNvPr id="1728189851" name="Text 14"/>
          <p:cNvSpPr txBox="1"/>
          <p:nvPr/>
        </p:nvSpPr>
        <p:spPr bwMode="auto">
          <a:xfrm>
            <a:off x="731520" y="4937760"/>
            <a:ext cx="6858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Restore into a temp folder first, then swap in</a:t>
            </a:r>
            <a:endParaRPr lang="en-US" sz="15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Retention policy (keep last N) and deduplication</a:t>
            </a:r>
            <a:endParaRPr lang="en-US" sz="15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Scheduled backups with cron / systemd timers</a:t>
            </a:r>
            <a:endParaRPr lang="en-US" sz="1500"/>
          </a:p>
        </p:txBody>
      </p:sp>
      <p:sp>
        <p:nvSpPr>
          <p:cNvPr id="938187245" name="Text 15"/>
          <p:cNvSpPr txBox="1"/>
          <p:nvPr/>
        </p:nvSpPr>
        <p:spPr bwMode="auto">
          <a:xfrm>
            <a:off x="7589520" y="5394960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2200" b="1">
                <a:solidFill>
                  <a:srgbClr val="F2A93B"/>
                </a:solidFill>
                <a:latin typeface="Arial"/>
                <a:ea typeface="Arial"/>
                <a:cs typeface="Arial"/>
              </a:rPr>
              <a:t>Thank you  ·  Questions?</a:t>
            </a:r>
            <a:endParaRPr lang="en-US" sz="2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7</Slides>
  <Notes>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SafeStore – Backup &amp; Restore Utility</dc:title>
  <dc:subject>PptxGenJS Presentation</dc:subject>
  <dc:creator>PptxGenJS</dc:creator>
  <cp:lastModifiedBy/>
  <cp:revision>2</cp:revision>
  <dcterms:created xsi:type="dcterms:W3CDTF">2026-09-16T01:16:22Z</dcterms:created>
  <dcterms:modified xsi:type="dcterms:W3CDTF">2026-09-16T08:41:48Z</dcterms:modified>
</cp:coreProperties>
</file>