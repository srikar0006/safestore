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notesSlides/notesSlide6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88941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9198141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85542722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2209472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10873309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9697520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0409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9106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Introduce the team and the one-line pitch: SafeStore backs up any file or folder with optional compression and encryption, keeps every version, and restores any version interactively.</a:t>
            </a:r>
            <a:endParaRPr lang="en-US"/>
          </a:p>
        </p:txBody>
      </p:sp>
      <p:sp>
        <p:nvSpPr>
          <p:cNvPr id="1014824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9669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767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Walk through do_backup(): resolve path, hash it, timestamp, optionally tar+lz4, optionally AES-256 via OpenSSL with PBKDF2, then log to CSV. The same code path produces four storage formats.</a:t>
            </a:r>
            <a:endParaRPr lang="en-US"/>
          </a:p>
        </p:txBody>
      </p:sp>
      <p:sp>
        <p:nvSpPr>
          <p:cNvPr id="503420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74641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5903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Emphasise that the novelty is in the combination: zero-setup, per-backup choice of compression/encryption, and a restore that figures out the format by itself. Be honest that dedup-based tools are more storage-efficient.</a:t>
            </a:r>
            <a:endParaRPr lang="en-US"/>
          </a:p>
        </p:txBody>
      </p:sp>
      <p:sp>
        <p:nvSpPr>
          <p:cNvPr id="19110346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4483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3688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Adaptability shows up at three levels: the user adapts the pipeline per backup, a developer swaps a back-end module, and the tool fits different user groups without configuration.</a:t>
            </a:r>
            <a:endParaRPr lang="en-US"/>
          </a:p>
        </p:txBody>
      </p:sp>
      <p:sp>
        <p:nvSpPr>
          <p:cNvPr id="18180746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5163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6538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Accessibility is strong by design: open formats mean nobody is locked in. Dissemination is the weakest area today, so present the concrete plan: README, licence, man page, packages, and a demo video.</a:t>
            </a:r>
            <a:endParaRPr lang="en-US"/>
          </a:p>
        </p:txBody>
      </p:sp>
      <p:sp>
        <p:nvSpPr>
          <p:cNvPr id="15371706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551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5754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Summarise one point per criterion, then close with future work and invite questions.</a:t>
            </a:r>
            <a:endParaRPr lang="en-US"/>
          </a:p>
        </p:txBody>
      </p:sp>
      <p:sp>
        <p:nvSpPr>
          <p:cNvPr id="1331014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0F1C2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666581" name="Shape 0"/>
          <p:cNvSpPr/>
          <p:nvPr/>
        </p:nvSpPr>
        <p:spPr bwMode="auto">
          <a:xfrm>
            <a:off x="731520" y="822960"/>
            <a:ext cx="1005840" cy="1005840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pic>
        <p:nvPicPr>
          <p:cNvPr id="1118858376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82980" y="1074420"/>
            <a:ext cx="502920" cy="502920"/>
          </a:xfrm>
          <a:prstGeom prst="rect">
            <a:avLst/>
          </a:prstGeom>
        </p:spPr>
      </p:pic>
      <p:sp>
        <p:nvSpPr>
          <p:cNvPr id="1745531976" name="Text 1"/>
          <p:cNvSpPr txBox="1"/>
          <p:nvPr/>
        </p:nvSpPr>
        <p:spPr bwMode="auto">
          <a:xfrm>
            <a:off x="731520" y="20574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SafeStore</a:t>
            </a:r>
            <a:endParaRPr lang="en-US" sz="6000"/>
          </a:p>
        </p:txBody>
      </p:sp>
      <p:sp>
        <p:nvSpPr>
          <p:cNvPr id="362927913" name="Text 2"/>
          <p:cNvSpPr txBox="1"/>
          <p:nvPr/>
        </p:nvSpPr>
        <p:spPr bwMode="auto">
          <a:xfrm>
            <a:off x="73152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>
                <a:solidFill>
                  <a:srgbClr val="CFE3E0"/>
                </a:solidFill>
                <a:latin typeface="Calibri"/>
                <a:ea typeface="Calibri"/>
                <a:cs typeface="Calibri"/>
              </a:rPr>
              <a:t>A composable backup &amp; restore utility for Linux, written in C</a:t>
            </a:r>
            <a:endParaRPr lang="en-US" sz="2200"/>
          </a:p>
        </p:txBody>
      </p:sp>
      <p:sp>
        <p:nvSpPr>
          <p:cNvPr id="1552830071" name="Text 3"/>
          <p:cNvSpPr txBox="1"/>
          <p:nvPr/>
        </p:nvSpPr>
        <p:spPr bwMode="auto">
          <a:xfrm>
            <a:off x="731520" y="3611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i="1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Operating Systems Project  ·  Methodology Review</a:t>
            </a:r>
            <a:endParaRPr lang="en-US" sz="1600"/>
          </a:p>
        </p:txBody>
      </p:sp>
      <p:sp>
        <p:nvSpPr>
          <p:cNvPr id="524613018" name="Shape 4"/>
          <p:cNvSpPr/>
          <p:nvPr/>
        </p:nvSpPr>
        <p:spPr bwMode="auto">
          <a:xfrm>
            <a:off x="731520" y="4526280"/>
            <a:ext cx="5852160" cy="1600200"/>
          </a:xfrm>
          <a:prstGeom prst="roundRect">
            <a:avLst>
              <a:gd name="adj" fmla="val 6857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2030438258" name="Text 5"/>
          <p:cNvSpPr txBox="1"/>
          <p:nvPr/>
        </p:nvSpPr>
        <p:spPr bwMode="auto">
          <a:xfrm>
            <a:off x="1005840" y="46634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Calibri"/>
                <a:ea typeface="Calibri"/>
                <a:cs typeface="Calibri"/>
              </a:rPr>
              <a:t>TEAM</a:t>
            </a:r>
            <a:endParaRPr lang="en-US" sz="16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2510030006  –  N Srikar (Team Lead)</a:t>
            </a:r>
            <a:endParaRPr lang="en-US" sz="16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2510030147  –  U Yogendra</a:t>
            </a:r>
            <a:endParaRPr lang="en-US" sz="1600"/>
          </a:p>
          <a:p>
            <a:pPr marL="0" indent="0">
              <a:spcAft>
                <a:spcPts val="398"/>
              </a:spcAft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2510030008  –  G Pranav</a:t>
            </a:r>
            <a:b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1600" b="0" i="0" u="none" strike="noStrike" cap="none" spc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2510030052  –  </a:t>
            </a:r>
            <a:r>
              <a:rPr lang="en-US" sz="1600" b="0" i="0" u="none" strike="noStrike" cap="none" spc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Suleman Khan</a:t>
            </a:r>
            <a:endParaRPr sz="1600"/>
          </a:p>
        </p:txBody>
      </p:sp>
      <p:sp>
        <p:nvSpPr>
          <p:cNvPr id="167316573" name="Shape 6"/>
          <p:cNvSpPr/>
          <p:nvPr/>
        </p:nvSpPr>
        <p:spPr bwMode="auto">
          <a:xfrm>
            <a:off x="7406640" y="4526280"/>
            <a:ext cx="4069080" cy="1600200"/>
          </a:xfrm>
          <a:prstGeom prst="roundRect">
            <a:avLst>
              <a:gd name="adj" fmla="val 6857"/>
            </a:avLst>
          </a:prstGeom>
          <a:solidFill>
            <a:srgbClr val="0A1520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075641470" name="Text 7"/>
          <p:cNvSpPr txBox="1"/>
          <p:nvPr/>
        </p:nvSpPr>
        <p:spPr bwMode="auto">
          <a:xfrm>
            <a:off x="7635240" y="466344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rgbClr val="9FE3D5"/>
                </a:solidFill>
                <a:latin typeface="Courier New"/>
                <a:ea typeface="Courier New"/>
                <a:cs typeface="Courier New"/>
              </a:rPr>
              <a:t>$ safestore -b notes/ -c -e</a:t>
            </a:r>
            <a:endParaRPr lang="en-US" sz="14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rgbClr val="9FE3D5"/>
                </a:solidFill>
                <a:latin typeface="Courier New"/>
                <a:ea typeface="Courier New"/>
                <a:cs typeface="Courier New"/>
              </a:rPr>
              <a:t>$ safestore -l</a:t>
            </a:r>
            <a:endParaRPr lang="en-US" sz="14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rgbClr val="9FE3D5"/>
                </a:solidFill>
                <a:latin typeface="Courier New"/>
                <a:ea typeface="Courier New"/>
                <a:cs typeface="Courier New"/>
              </a:rPr>
              <a:t>$ safestore -r notes/</a:t>
            </a:r>
            <a:endParaRPr lang="en-US" sz="1400"/>
          </a:p>
        </p:txBody>
      </p:sp>
      <p:sp>
        <p:nvSpPr>
          <p:cNvPr id="922730751" name="Text 8"/>
          <p:cNvSpPr txBox="1"/>
          <p:nvPr/>
        </p:nvSpPr>
        <p:spPr bwMode="auto">
          <a:xfrm>
            <a:off x="7406640" y="62179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100">
                <a:solidFill>
                  <a:srgbClr val="8FA3B3"/>
                </a:solidFill>
                <a:latin typeface="Calibri"/>
                <a:ea typeface="Calibri"/>
                <a:cs typeface="Calibri"/>
              </a:rPr>
              <a:t>github.com/srikar0006/safestore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363093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DEVELOPED METHODOLOGY</a:t>
            </a:r>
            <a:endParaRPr lang="en-US" sz="1200"/>
          </a:p>
        </p:txBody>
      </p:sp>
      <p:sp>
        <p:nvSpPr>
          <p:cNvPr id="265030178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One pipeline, four storage modes</a:t>
            </a:r>
            <a:endParaRPr lang="en-US" sz="3200"/>
          </a:p>
        </p:txBody>
      </p:sp>
      <p:sp>
        <p:nvSpPr>
          <p:cNvPr id="318154238" name="Shape 2"/>
          <p:cNvSpPr/>
          <p:nvPr/>
        </p:nvSpPr>
        <p:spPr bwMode="auto">
          <a:xfrm>
            <a:off x="54864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90195063" name="Text 3"/>
          <p:cNvSpPr txBox="1"/>
          <p:nvPr/>
        </p:nvSpPr>
        <p:spPr bwMode="auto">
          <a:xfrm>
            <a:off x="68580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1</a:t>
            </a:r>
            <a:endParaRPr lang="en-US" sz="1600"/>
          </a:p>
        </p:txBody>
      </p:sp>
      <p:sp>
        <p:nvSpPr>
          <p:cNvPr id="683495949" name="Text 4"/>
          <p:cNvSpPr txBox="1"/>
          <p:nvPr/>
        </p:nvSpPr>
        <p:spPr bwMode="auto">
          <a:xfrm>
            <a:off x="68580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realpath()</a:t>
            </a:r>
            <a:endParaRPr lang="en-US" sz="1400"/>
          </a:p>
        </p:txBody>
      </p:sp>
      <p:sp>
        <p:nvSpPr>
          <p:cNvPr id="2008000922" name="Text 5"/>
          <p:cNvSpPr txBox="1"/>
          <p:nvPr/>
        </p:nvSpPr>
        <p:spPr bwMode="auto">
          <a:xfrm>
            <a:off x="68580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Resolve to an absolute path</a:t>
            </a:r>
            <a:endParaRPr lang="en-US" sz="1200"/>
          </a:p>
        </p:txBody>
      </p:sp>
      <p:sp>
        <p:nvSpPr>
          <p:cNvPr id="1835807089" name="Shape 6"/>
          <p:cNvSpPr/>
          <p:nvPr/>
        </p:nvSpPr>
        <p:spPr bwMode="auto">
          <a:xfrm>
            <a:off x="242316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21254901" name="Text 7"/>
          <p:cNvSpPr txBox="1"/>
          <p:nvPr/>
        </p:nvSpPr>
        <p:spPr bwMode="auto">
          <a:xfrm>
            <a:off x="256032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2</a:t>
            </a:r>
            <a:endParaRPr lang="en-US" sz="1600"/>
          </a:p>
        </p:txBody>
      </p:sp>
      <p:sp>
        <p:nvSpPr>
          <p:cNvPr id="559725191" name="Text 8"/>
          <p:cNvSpPr txBox="1"/>
          <p:nvPr/>
        </p:nvSpPr>
        <p:spPr bwMode="auto">
          <a:xfrm>
            <a:off x="256032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sha1(path)</a:t>
            </a:r>
            <a:endParaRPr lang="en-US" sz="1400"/>
          </a:p>
        </p:txBody>
      </p:sp>
      <p:sp>
        <p:nvSpPr>
          <p:cNvPr id="1056456695" name="Text 9"/>
          <p:cNvSpPr txBox="1"/>
          <p:nvPr/>
        </p:nvSpPr>
        <p:spPr bwMode="auto">
          <a:xfrm>
            <a:off x="256032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Bucket name for the file</a:t>
            </a:r>
            <a:endParaRPr lang="en-US" sz="1200"/>
          </a:p>
        </p:txBody>
      </p:sp>
      <p:sp>
        <p:nvSpPr>
          <p:cNvPr id="2028316015" name="Shape 10"/>
          <p:cNvSpPr/>
          <p:nvPr/>
        </p:nvSpPr>
        <p:spPr bwMode="auto">
          <a:xfrm>
            <a:off x="429768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72430074" name="Text 11"/>
          <p:cNvSpPr txBox="1"/>
          <p:nvPr/>
        </p:nvSpPr>
        <p:spPr bwMode="auto">
          <a:xfrm>
            <a:off x="443484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3</a:t>
            </a:r>
            <a:endParaRPr lang="en-US" sz="1600"/>
          </a:p>
        </p:txBody>
      </p:sp>
      <p:sp>
        <p:nvSpPr>
          <p:cNvPr id="1420133618" name="Text 12"/>
          <p:cNvSpPr txBox="1"/>
          <p:nvPr/>
        </p:nvSpPr>
        <p:spPr bwMode="auto">
          <a:xfrm>
            <a:off x="443484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timestamp</a:t>
            </a:r>
            <a:endParaRPr lang="en-US" sz="1400"/>
          </a:p>
        </p:txBody>
      </p:sp>
      <p:sp>
        <p:nvSpPr>
          <p:cNvPr id="1677232751" name="Text 13"/>
          <p:cNvSpPr txBox="1"/>
          <p:nvPr/>
        </p:nvSpPr>
        <p:spPr bwMode="auto">
          <a:xfrm>
            <a:off x="443484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Snapshot folder YYYYMMDD-HHMMSS</a:t>
            </a:r>
            <a:endParaRPr lang="en-US" sz="1200"/>
          </a:p>
        </p:txBody>
      </p:sp>
      <p:sp>
        <p:nvSpPr>
          <p:cNvPr id="514404328" name="Shape 14"/>
          <p:cNvSpPr/>
          <p:nvPr/>
        </p:nvSpPr>
        <p:spPr bwMode="auto">
          <a:xfrm>
            <a:off x="617220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847240618" name="Text 15"/>
          <p:cNvSpPr txBox="1"/>
          <p:nvPr/>
        </p:nvSpPr>
        <p:spPr bwMode="auto">
          <a:xfrm>
            <a:off x="630936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B87410"/>
                </a:solidFill>
                <a:latin typeface="Arial"/>
                <a:ea typeface="Arial"/>
                <a:cs typeface="Arial"/>
              </a:rPr>
              <a:t>4</a:t>
            </a:r>
            <a:endParaRPr lang="en-US" sz="1600"/>
          </a:p>
        </p:txBody>
      </p:sp>
      <p:sp>
        <p:nvSpPr>
          <p:cNvPr id="20515964" name="Text 16"/>
          <p:cNvSpPr txBox="1"/>
          <p:nvPr/>
        </p:nvSpPr>
        <p:spPr bwMode="auto">
          <a:xfrm>
            <a:off x="630936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tar → lz4</a:t>
            </a:r>
            <a:endParaRPr lang="en-US" sz="1400"/>
          </a:p>
        </p:txBody>
      </p:sp>
      <p:sp>
        <p:nvSpPr>
          <p:cNvPr id="1977338374" name="Text 17"/>
          <p:cNvSpPr txBox="1"/>
          <p:nvPr/>
        </p:nvSpPr>
        <p:spPr bwMode="auto">
          <a:xfrm>
            <a:off x="630936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Optional, with -c</a:t>
            </a:r>
            <a:endParaRPr lang="en-US" sz="1200"/>
          </a:p>
        </p:txBody>
      </p:sp>
      <p:sp>
        <p:nvSpPr>
          <p:cNvPr id="1206734331" name="Shape 18"/>
          <p:cNvSpPr/>
          <p:nvPr/>
        </p:nvSpPr>
        <p:spPr bwMode="auto">
          <a:xfrm>
            <a:off x="804672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1678522402" name="Text 19"/>
          <p:cNvSpPr txBox="1"/>
          <p:nvPr/>
        </p:nvSpPr>
        <p:spPr bwMode="auto">
          <a:xfrm>
            <a:off x="818388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B87410"/>
                </a:solidFill>
                <a:latin typeface="Arial"/>
                <a:ea typeface="Arial"/>
                <a:cs typeface="Arial"/>
              </a:rPr>
              <a:t>5</a:t>
            </a:r>
            <a:endParaRPr lang="en-US" sz="1600"/>
          </a:p>
        </p:txBody>
      </p:sp>
      <p:sp>
        <p:nvSpPr>
          <p:cNvPr id="2008715504" name="Text 20"/>
          <p:cNvSpPr txBox="1"/>
          <p:nvPr/>
        </p:nvSpPr>
        <p:spPr bwMode="auto">
          <a:xfrm>
            <a:off x="818388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AES-256-CBC</a:t>
            </a:r>
            <a:endParaRPr lang="en-US" sz="1400"/>
          </a:p>
        </p:txBody>
      </p:sp>
      <p:sp>
        <p:nvSpPr>
          <p:cNvPr id="1156516331" name="Text 21"/>
          <p:cNvSpPr txBox="1"/>
          <p:nvPr/>
        </p:nvSpPr>
        <p:spPr bwMode="auto">
          <a:xfrm>
            <a:off x="818388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Optional, with -e (PBKDF2 + salt)</a:t>
            </a:r>
            <a:endParaRPr lang="en-US" sz="1200"/>
          </a:p>
        </p:txBody>
      </p:sp>
      <p:sp>
        <p:nvSpPr>
          <p:cNvPr id="340770250" name="Shape 22"/>
          <p:cNvSpPr/>
          <p:nvPr/>
        </p:nvSpPr>
        <p:spPr bwMode="auto">
          <a:xfrm>
            <a:off x="992124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144132402" name="Text 23"/>
          <p:cNvSpPr txBox="1"/>
          <p:nvPr/>
        </p:nvSpPr>
        <p:spPr bwMode="auto">
          <a:xfrm>
            <a:off x="1005840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6</a:t>
            </a:r>
            <a:endParaRPr lang="en-US" sz="1600"/>
          </a:p>
        </p:txBody>
      </p:sp>
      <p:sp>
        <p:nvSpPr>
          <p:cNvPr id="1425618913" name="Text 24"/>
          <p:cNvSpPr txBox="1"/>
          <p:nvPr/>
        </p:nvSpPr>
        <p:spPr bwMode="auto">
          <a:xfrm>
            <a:off x="1005840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file.csv</a:t>
            </a:r>
            <a:endParaRPr lang="en-US" sz="1400"/>
          </a:p>
        </p:txBody>
      </p:sp>
      <p:sp>
        <p:nvSpPr>
          <p:cNvPr id="1629209593" name="Text 25"/>
          <p:cNvSpPr txBox="1"/>
          <p:nvPr/>
        </p:nvSpPr>
        <p:spPr bwMode="auto">
          <a:xfrm>
            <a:off x="1005840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Append timestamp, path, hash</a:t>
            </a:r>
            <a:endParaRPr lang="en-US" sz="1200"/>
          </a:p>
        </p:txBody>
      </p:sp>
      <p:graphicFrame>
        <p:nvGraphicFramePr>
          <p:cNvPr id="1586334327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3429000"/>
          <a:ext cx="694944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737360"/>
                <a:gridCol w="2377440"/>
                <a:gridCol w="2834640"/>
              </a:tblGrid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Flags</a:t>
                      </a:r>
                      <a:endParaRPr lang="en-US" sz="13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Stored as</a:t>
                      </a:r>
                      <a:endParaRPr lang="en-US" sz="13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Best for</a:t>
                      </a:r>
                      <a:endParaRPr lang="en-US" sz="13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</a:tr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-b path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path/  (plain cp -r)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Instant, hand-restorable copies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-b path -c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path.tar.lz4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Text, code, logs (space saving)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-b path -e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path.tar.enc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Sensitive, already-compressed data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-b path -c -e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path.tar.lz4.enc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Sensitive text that leaves the machine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1517669" name="Shape 26"/>
          <p:cNvSpPr/>
          <p:nvPr/>
        </p:nvSpPr>
        <p:spPr bwMode="auto">
          <a:xfrm>
            <a:off x="7863840" y="3429000"/>
            <a:ext cx="3749040" cy="2103120"/>
          </a:xfrm>
          <a:prstGeom prst="roundRect">
            <a:avLst>
              <a:gd name="adj" fmla="val 5217"/>
            </a:avLst>
          </a:prstGeom>
          <a:solidFill>
            <a:srgbClr val="0F1C2B"/>
          </a:solidFill>
          <a:ln w="12700">
            <a:solidFill>
              <a:srgbClr val="0F1C2B"/>
            </a:solidFill>
            <a:prstDash val="solid"/>
          </a:ln>
        </p:spPr>
      </p:sp>
      <p:sp>
        <p:nvSpPr>
          <p:cNvPr id="749405881" name="Text 27"/>
          <p:cNvSpPr txBox="1"/>
          <p:nvPr/>
        </p:nvSpPr>
        <p:spPr bwMode="auto">
          <a:xfrm>
            <a:off x="809244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2A93B"/>
                </a:solidFill>
                <a:latin typeface="Courier New"/>
                <a:ea typeface="Courier New"/>
                <a:cs typeface="Courier New"/>
              </a:rPr>
              <a:t>~/.local/share/safestore/</a:t>
            </a:r>
            <a:endParaRPr lang="en-US" sz="1200"/>
          </a:p>
        </p:txBody>
      </p:sp>
      <p:sp>
        <p:nvSpPr>
          <p:cNvPr id="2115903276" name="Text 28"/>
          <p:cNvSpPr txBox="1"/>
          <p:nvPr/>
        </p:nvSpPr>
        <p:spPr bwMode="auto">
          <a:xfrm>
            <a:off x="8092440" y="3931920"/>
            <a:ext cx="3383280" cy="1508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Backup/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└─ &lt;sha1 of path&gt;/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    ├─ 20260916-010747/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    │   └─ notes/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    └─ 20260916-010751/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        └─ notes.tar.lz4.enc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file.csv</a:t>
            </a:r>
            <a:endParaRPr lang="en-US" sz="1200"/>
          </a:p>
        </p:txBody>
      </p:sp>
      <p:sp>
        <p:nvSpPr>
          <p:cNvPr id="1090476854" name="Text 29"/>
          <p:cNvSpPr txBox="1"/>
          <p:nvPr/>
        </p:nvSpPr>
        <p:spPr bwMode="auto">
          <a:xfrm>
            <a:off x="548640" y="58978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Amber steps are optional and composable; restore reverses the pipeline automatically.</a:t>
            </a:r>
            <a:endParaRPr lang="en-US" sz="1300"/>
          </a:p>
        </p:txBody>
      </p:sp>
      <p:sp>
        <p:nvSpPr>
          <p:cNvPr id="966545579" name="Text 30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2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76957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CRITERION 1  ·  NOVELTY OF DEVELOPED METHODOLOGY</a:t>
            </a:r>
            <a:endParaRPr lang="en-US" sz="1200"/>
          </a:p>
        </p:txBody>
      </p:sp>
      <p:sp>
        <p:nvSpPr>
          <p:cNvPr id="808438127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What is new in SafeStore's approach</a:t>
            </a:r>
            <a:endParaRPr lang="en-US" sz="3200"/>
          </a:p>
        </p:txBody>
      </p:sp>
      <p:sp>
        <p:nvSpPr>
          <p:cNvPr id="157906568" name="Shape 2"/>
          <p:cNvSpPr/>
          <p:nvPr/>
        </p:nvSpPr>
        <p:spPr bwMode="auto">
          <a:xfrm>
            <a:off x="548640" y="1645920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50793078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5800" y="1783080"/>
            <a:ext cx="274320" cy="274320"/>
          </a:xfrm>
          <a:prstGeom prst="rect">
            <a:avLst/>
          </a:prstGeom>
        </p:spPr>
      </p:pic>
      <p:sp>
        <p:nvSpPr>
          <p:cNvPr id="1497716864" name="Text 3"/>
          <p:cNvSpPr txBox="1"/>
          <p:nvPr/>
        </p:nvSpPr>
        <p:spPr bwMode="auto">
          <a:xfrm>
            <a:off x="1280160" y="160020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Path-hash version buckets</a:t>
            </a:r>
            <a:endParaRPr lang="en-US" sz="1600"/>
          </a:p>
        </p:txBody>
      </p:sp>
      <p:sp>
        <p:nvSpPr>
          <p:cNvPr id="368252031" name="Text 4"/>
          <p:cNvSpPr txBox="1"/>
          <p:nvPr/>
        </p:nvSpPr>
        <p:spPr bwMode="auto">
          <a:xfrm>
            <a:off x="1280160" y="19293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Every version of a path lives under sha1(abspath)/timestamp, so history is grouped without any database or index.</a:t>
            </a:r>
            <a:endParaRPr lang="en-US" sz="1300"/>
          </a:p>
        </p:txBody>
      </p:sp>
      <p:sp>
        <p:nvSpPr>
          <p:cNvPr id="2140922436" name="Shape 5"/>
          <p:cNvSpPr/>
          <p:nvPr/>
        </p:nvSpPr>
        <p:spPr bwMode="auto">
          <a:xfrm>
            <a:off x="548640" y="2578608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646526080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85800" y="2715768"/>
            <a:ext cx="274320" cy="274320"/>
          </a:xfrm>
          <a:prstGeom prst="rect">
            <a:avLst/>
          </a:prstGeom>
        </p:spPr>
      </p:pic>
      <p:sp>
        <p:nvSpPr>
          <p:cNvPr id="1542905430" name="Text 6"/>
          <p:cNvSpPr txBox="1"/>
          <p:nvPr/>
        </p:nvSpPr>
        <p:spPr bwMode="auto">
          <a:xfrm>
            <a:off x="1280160" y="25328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Self-describing restore</a:t>
            </a:r>
            <a:endParaRPr lang="en-US" sz="1600"/>
          </a:p>
        </p:txBody>
      </p:sp>
      <p:sp>
        <p:nvSpPr>
          <p:cNvPr id="1221629825" name="Text 7"/>
          <p:cNvSpPr txBox="1"/>
          <p:nvPr/>
        </p:nvSpPr>
        <p:spPr bwMode="auto">
          <a:xfrm>
            <a:off x="1280160" y="28620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Restore probes file suffixes (.tar.lz4.enc → .tar.enc → .tar.lz4 → .tar → plain) and rebuilds the reverse pipeline with no stored metadata.</a:t>
            </a:r>
            <a:endParaRPr lang="en-US" sz="1300"/>
          </a:p>
        </p:txBody>
      </p:sp>
      <p:sp>
        <p:nvSpPr>
          <p:cNvPr id="1982390663" name="Shape 8"/>
          <p:cNvSpPr/>
          <p:nvPr/>
        </p:nvSpPr>
        <p:spPr bwMode="auto">
          <a:xfrm>
            <a:off x="548640" y="3511296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29563858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85800" y="3648456"/>
            <a:ext cx="274320" cy="274320"/>
          </a:xfrm>
          <a:prstGeom prst="rect">
            <a:avLst/>
          </a:prstGeom>
        </p:spPr>
      </p:pic>
      <p:sp>
        <p:nvSpPr>
          <p:cNvPr id="1347153820" name="Text 9"/>
          <p:cNvSpPr txBox="1"/>
          <p:nvPr/>
        </p:nvSpPr>
        <p:spPr bwMode="auto">
          <a:xfrm>
            <a:off x="128016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Interactive snapshot picker</a:t>
            </a:r>
            <a:endParaRPr lang="en-US" sz="1600"/>
          </a:p>
        </p:txBody>
      </p:sp>
      <p:sp>
        <p:nvSpPr>
          <p:cNvPr id="1815680847" name="Text 10"/>
          <p:cNvSpPr txBox="1"/>
          <p:nvPr/>
        </p:nvSpPr>
        <p:spPr bwMode="auto">
          <a:xfrm>
            <a:off x="1280160" y="37947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fzf lists every snapshot newest-first; the user selects one visually instead of typing IDs.</a:t>
            </a:r>
            <a:endParaRPr lang="en-US" sz="1300"/>
          </a:p>
        </p:txBody>
      </p:sp>
      <p:sp>
        <p:nvSpPr>
          <p:cNvPr id="181084258" name="Shape 11"/>
          <p:cNvSpPr/>
          <p:nvPr/>
        </p:nvSpPr>
        <p:spPr bwMode="auto">
          <a:xfrm>
            <a:off x="548640" y="4443984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249071080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85800" y="4581144"/>
            <a:ext cx="274320" cy="274320"/>
          </a:xfrm>
          <a:prstGeom prst="rect">
            <a:avLst/>
          </a:prstGeom>
        </p:spPr>
      </p:pic>
      <p:sp>
        <p:nvSpPr>
          <p:cNvPr id="670300007" name="Text 12"/>
          <p:cNvSpPr txBox="1"/>
          <p:nvPr/>
        </p:nvSpPr>
        <p:spPr bwMode="auto">
          <a:xfrm>
            <a:off x="1280160" y="43982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Restore even after deletion</a:t>
            </a:r>
            <a:endParaRPr lang="en-US" sz="1600"/>
          </a:p>
        </p:txBody>
      </p:sp>
      <p:sp>
        <p:nvSpPr>
          <p:cNvPr id="52064500" name="Text 13"/>
          <p:cNvSpPr txBox="1"/>
          <p:nvPr/>
        </p:nvSpPr>
        <p:spPr bwMode="auto">
          <a:xfrm>
            <a:off x="1280160" y="4727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resolve_abspath() rebuilds the original path when the file no longer exists, which is exactly when restore is needed.</a:t>
            </a:r>
            <a:endParaRPr lang="en-US" sz="1300"/>
          </a:p>
        </p:txBody>
      </p:sp>
      <p:sp>
        <p:nvSpPr>
          <p:cNvPr id="1033556255" name="Shape 14"/>
          <p:cNvSpPr/>
          <p:nvPr/>
        </p:nvSpPr>
        <p:spPr bwMode="auto">
          <a:xfrm>
            <a:off x="548640" y="5376672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774232567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85800" y="5513832"/>
            <a:ext cx="274320" cy="274320"/>
          </a:xfrm>
          <a:prstGeom prst="rect">
            <a:avLst/>
          </a:prstGeom>
        </p:spPr>
      </p:pic>
      <p:sp>
        <p:nvSpPr>
          <p:cNvPr id="835644919" name="Text 15"/>
          <p:cNvSpPr txBox="1"/>
          <p:nvPr/>
        </p:nvSpPr>
        <p:spPr bwMode="auto">
          <a:xfrm>
            <a:off x="1280160" y="5330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Human-readable CSV ledger</a:t>
            </a:r>
            <a:endParaRPr lang="en-US" sz="1600"/>
          </a:p>
        </p:txBody>
      </p:sp>
      <p:sp>
        <p:nvSpPr>
          <p:cNvPr id="2120240479" name="Text 16"/>
          <p:cNvSpPr txBox="1"/>
          <p:nvPr/>
        </p:nvSpPr>
        <p:spPr bwMode="auto">
          <a:xfrm>
            <a:off x="1280160" y="566013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The backup log opens in any spreadsheet or grep, unlike the binary repositories of Borg or restic.</a:t>
            </a:r>
            <a:endParaRPr lang="en-US" sz="1300"/>
          </a:p>
        </p:txBody>
      </p:sp>
      <p:sp>
        <p:nvSpPr>
          <p:cNvPr id="433337546" name="Text 17"/>
          <p:cNvSpPr txBox="1"/>
          <p:nvPr/>
        </p:nvSpPr>
        <p:spPr bwMode="auto">
          <a:xfrm>
            <a:off x="6858000" y="1600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Positioning against existing tools</a:t>
            </a:r>
            <a:endParaRPr lang="en-US" sz="1400"/>
          </a:p>
        </p:txBody>
      </p:sp>
      <p:graphicFrame>
        <p:nvGraphicFramePr>
          <p:cNvPr id="924103737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6858000" y="2011680"/>
          <a:ext cx="475488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80160"/>
                <a:gridCol w="822960"/>
                <a:gridCol w="868680"/>
                <a:gridCol w="914400"/>
                <a:gridCol w="868680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Tool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Zero setup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Opt. crypt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Plain-file store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Pick-list restore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SafeStore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rsync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Borg / restic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Timeshift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Duplicity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8006169" name="Text 18"/>
          <p:cNvSpPr txBox="1"/>
          <p:nvPr/>
        </p:nvSpPr>
        <p:spPr bwMode="auto">
          <a:xfrm>
            <a:off x="6858000" y="4846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“Zero setup” = no repository init, config file or daemon. Timeshift pick-list is GUI-based. Borg/restic are stronger on deduplication, which SafeStore does not attempt.</a:t>
            </a:r>
            <a:endParaRPr lang="en-US" sz="1100"/>
          </a:p>
        </p:txBody>
      </p:sp>
      <p:sp>
        <p:nvSpPr>
          <p:cNvPr id="247729972" name="Text 19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3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681773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CRITERION 2  ·  ADAPTABILITY OF METHODOLOGY</a:t>
            </a:r>
            <a:endParaRPr lang="en-US" sz="1200"/>
          </a:p>
        </p:txBody>
      </p:sp>
      <p:sp>
        <p:nvSpPr>
          <p:cNvPr id="1403169395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Built to be swapped, extended and reused</a:t>
            </a:r>
            <a:endParaRPr lang="en-US" sz="3200"/>
          </a:p>
        </p:txBody>
      </p:sp>
      <p:sp>
        <p:nvSpPr>
          <p:cNvPr id="567558680" name="Text 2"/>
          <p:cNvSpPr txBox="1"/>
          <p:nvPr/>
        </p:nvSpPr>
        <p:spPr bwMode="auto"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8 single-purpose modules, each behind a .h interface</a:t>
            </a:r>
            <a:endParaRPr lang="en-US" sz="1400"/>
          </a:p>
        </p:txBody>
      </p:sp>
      <p:sp>
        <p:nvSpPr>
          <p:cNvPr id="1458433817" name="Shape 3"/>
          <p:cNvSpPr/>
          <p:nvPr/>
        </p:nvSpPr>
        <p:spPr bwMode="auto">
          <a:xfrm>
            <a:off x="548640" y="2011680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811036587" name="Text 4"/>
          <p:cNvSpPr txBox="1"/>
          <p:nvPr/>
        </p:nvSpPr>
        <p:spPr bwMode="auto">
          <a:xfrm>
            <a:off x="731520" y="2084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main.c</a:t>
            </a:r>
            <a:endParaRPr lang="en-US" sz="1300"/>
          </a:p>
        </p:txBody>
      </p:sp>
      <p:sp>
        <p:nvSpPr>
          <p:cNvPr id="853426261" name="Text 5"/>
          <p:cNvSpPr txBox="1"/>
          <p:nvPr/>
        </p:nvSpPr>
        <p:spPr bwMode="auto">
          <a:xfrm>
            <a:off x="731520" y="2377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CLI parsing</a:t>
            </a:r>
            <a:endParaRPr lang="en-US" sz="1200"/>
          </a:p>
        </p:txBody>
      </p:sp>
      <p:sp>
        <p:nvSpPr>
          <p:cNvPr id="1388737173" name="Shape 6"/>
          <p:cNvSpPr/>
          <p:nvPr/>
        </p:nvSpPr>
        <p:spPr bwMode="auto">
          <a:xfrm>
            <a:off x="3337560" y="2011680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464260514" name="Text 7"/>
          <p:cNvSpPr txBox="1"/>
          <p:nvPr/>
        </p:nvSpPr>
        <p:spPr bwMode="auto">
          <a:xfrm>
            <a:off x="3520440" y="2084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backup.c</a:t>
            </a:r>
            <a:endParaRPr lang="en-US" sz="1300"/>
          </a:p>
        </p:txBody>
      </p:sp>
      <p:sp>
        <p:nvSpPr>
          <p:cNvPr id="1501772125" name="Text 8"/>
          <p:cNvSpPr txBox="1"/>
          <p:nvPr/>
        </p:nvSpPr>
        <p:spPr bwMode="auto">
          <a:xfrm>
            <a:off x="3520440" y="2377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Backup pipeline</a:t>
            </a:r>
            <a:endParaRPr lang="en-US" sz="1200"/>
          </a:p>
        </p:txBody>
      </p:sp>
      <p:sp>
        <p:nvSpPr>
          <p:cNvPr id="1461487928" name="Shape 9"/>
          <p:cNvSpPr/>
          <p:nvPr/>
        </p:nvSpPr>
        <p:spPr bwMode="auto">
          <a:xfrm>
            <a:off x="548640" y="2852928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321026304" name="Text 10"/>
          <p:cNvSpPr txBox="1"/>
          <p:nvPr/>
        </p:nvSpPr>
        <p:spPr bwMode="auto">
          <a:xfrm>
            <a:off x="73152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restore.c</a:t>
            </a:r>
            <a:endParaRPr lang="en-US" sz="1300"/>
          </a:p>
        </p:txBody>
      </p:sp>
      <p:sp>
        <p:nvSpPr>
          <p:cNvPr id="1123837182" name="Text 11"/>
          <p:cNvSpPr txBox="1"/>
          <p:nvPr/>
        </p:nvSpPr>
        <p:spPr bwMode="auto">
          <a:xfrm>
            <a:off x="731520" y="3218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Restore pipeline</a:t>
            </a:r>
            <a:endParaRPr lang="en-US" sz="1200"/>
          </a:p>
        </p:txBody>
      </p:sp>
      <p:sp>
        <p:nvSpPr>
          <p:cNvPr id="1875115261" name="Shape 12"/>
          <p:cNvSpPr/>
          <p:nvPr/>
        </p:nvSpPr>
        <p:spPr bwMode="auto">
          <a:xfrm>
            <a:off x="3337560" y="2852928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507998635" name="Text 13"/>
          <p:cNvSpPr txBox="1"/>
          <p:nvPr/>
        </p:nvSpPr>
        <p:spPr bwMode="auto">
          <a:xfrm>
            <a:off x="352044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list.c</a:t>
            </a:r>
            <a:endParaRPr lang="en-US" sz="1300"/>
          </a:p>
        </p:txBody>
      </p:sp>
      <p:sp>
        <p:nvSpPr>
          <p:cNvPr id="1682049159" name="Text 14"/>
          <p:cNvSpPr txBox="1"/>
          <p:nvPr/>
        </p:nvSpPr>
        <p:spPr bwMode="auto">
          <a:xfrm>
            <a:off x="3520440" y="3218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History view</a:t>
            </a:r>
            <a:endParaRPr lang="en-US" sz="1200"/>
          </a:p>
        </p:txBody>
      </p:sp>
      <p:sp>
        <p:nvSpPr>
          <p:cNvPr id="1083410813" name="Shape 15"/>
          <p:cNvSpPr/>
          <p:nvPr/>
        </p:nvSpPr>
        <p:spPr bwMode="auto">
          <a:xfrm>
            <a:off x="548640" y="3694176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796891884" name="Text 16"/>
          <p:cNvSpPr txBox="1"/>
          <p:nvPr/>
        </p:nvSpPr>
        <p:spPr bwMode="auto">
          <a:xfrm>
            <a:off x="73152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compress.c</a:t>
            </a:r>
            <a:endParaRPr lang="en-US" sz="1300"/>
          </a:p>
        </p:txBody>
      </p:sp>
      <p:sp>
        <p:nvSpPr>
          <p:cNvPr id="1648712834" name="Text 17"/>
          <p:cNvSpPr txBox="1"/>
          <p:nvPr/>
        </p:nvSpPr>
        <p:spPr bwMode="auto">
          <a:xfrm>
            <a:off x="731520" y="4059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tar + lz4</a:t>
            </a:r>
            <a:endParaRPr lang="en-US" sz="1200"/>
          </a:p>
        </p:txBody>
      </p:sp>
      <p:sp>
        <p:nvSpPr>
          <p:cNvPr id="1334455198" name="Shape 18"/>
          <p:cNvSpPr/>
          <p:nvPr/>
        </p:nvSpPr>
        <p:spPr bwMode="auto">
          <a:xfrm>
            <a:off x="3337560" y="3694176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978841625" name="Text 19"/>
          <p:cNvSpPr txBox="1"/>
          <p:nvPr/>
        </p:nvSpPr>
        <p:spPr bwMode="auto">
          <a:xfrm>
            <a:off x="352044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encrypt.c</a:t>
            </a:r>
            <a:endParaRPr lang="en-US" sz="1300"/>
          </a:p>
        </p:txBody>
      </p:sp>
      <p:sp>
        <p:nvSpPr>
          <p:cNvPr id="741212177" name="Text 20"/>
          <p:cNvSpPr txBox="1"/>
          <p:nvPr/>
        </p:nvSpPr>
        <p:spPr bwMode="auto">
          <a:xfrm>
            <a:off x="3520440" y="4059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AES-256 / PBKDF2</a:t>
            </a:r>
            <a:endParaRPr lang="en-US" sz="1200"/>
          </a:p>
        </p:txBody>
      </p:sp>
      <p:sp>
        <p:nvSpPr>
          <p:cNvPr id="1044333919" name="Shape 21"/>
          <p:cNvSpPr/>
          <p:nvPr/>
        </p:nvSpPr>
        <p:spPr bwMode="auto">
          <a:xfrm>
            <a:off x="548640" y="4535424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49107802" name="Text 22"/>
          <p:cNvSpPr txBox="1"/>
          <p:nvPr/>
        </p:nvSpPr>
        <p:spPr bwMode="auto">
          <a:xfrm>
            <a:off x="731520" y="4608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hash.c</a:t>
            </a:r>
            <a:endParaRPr lang="en-US" sz="1300"/>
          </a:p>
        </p:txBody>
      </p:sp>
      <p:sp>
        <p:nvSpPr>
          <p:cNvPr id="708081700" name="Text 23"/>
          <p:cNvSpPr txBox="1"/>
          <p:nvPr/>
        </p:nvSpPr>
        <p:spPr bwMode="auto">
          <a:xfrm>
            <a:off x="731520" y="49011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SHA-1 bucketing</a:t>
            </a:r>
            <a:endParaRPr lang="en-US" sz="1200"/>
          </a:p>
        </p:txBody>
      </p:sp>
      <p:sp>
        <p:nvSpPr>
          <p:cNvPr id="754459417" name="Shape 24"/>
          <p:cNvSpPr/>
          <p:nvPr/>
        </p:nvSpPr>
        <p:spPr bwMode="auto">
          <a:xfrm>
            <a:off x="3337560" y="4535424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2001423316" name="Text 25"/>
          <p:cNvSpPr txBox="1"/>
          <p:nvPr/>
        </p:nvSpPr>
        <p:spPr bwMode="auto">
          <a:xfrm>
            <a:off x="3520440" y="4608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fsutil.c</a:t>
            </a:r>
            <a:endParaRPr lang="en-US" sz="1300"/>
          </a:p>
        </p:txBody>
      </p:sp>
      <p:sp>
        <p:nvSpPr>
          <p:cNvPr id="1071738274" name="Text 26"/>
          <p:cNvSpPr txBox="1"/>
          <p:nvPr/>
        </p:nvSpPr>
        <p:spPr bwMode="auto">
          <a:xfrm>
            <a:off x="3520440" y="49011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mkdir -p, copy</a:t>
            </a:r>
            <a:endParaRPr lang="en-US" sz="1200"/>
          </a:p>
        </p:txBody>
      </p:sp>
      <p:sp>
        <p:nvSpPr>
          <p:cNvPr id="23478059" name="Text 27"/>
          <p:cNvSpPr txBox="1"/>
          <p:nvPr/>
        </p:nvSpPr>
        <p:spPr bwMode="auto">
          <a:xfrm>
            <a:off x="54864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Amber modules are the swappable back-ends.</a:t>
            </a:r>
            <a:endParaRPr lang="en-US" sz="1200"/>
          </a:p>
        </p:txBody>
      </p:sp>
      <p:sp>
        <p:nvSpPr>
          <p:cNvPr id="1388027645" name="Shape 28"/>
          <p:cNvSpPr/>
          <p:nvPr/>
        </p:nvSpPr>
        <p:spPr bwMode="auto">
          <a:xfrm>
            <a:off x="6492240" y="1600200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751840966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624828" y="1732788"/>
            <a:ext cx="265176" cy="265176"/>
          </a:xfrm>
          <a:prstGeom prst="rect">
            <a:avLst/>
          </a:prstGeom>
        </p:spPr>
      </p:pic>
      <p:sp>
        <p:nvSpPr>
          <p:cNvPr id="340364239" name="Text 29"/>
          <p:cNvSpPr txBox="1"/>
          <p:nvPr/>
        </p:nvSpPr>
        <p:spPr bwMode="auto">
          <a:xfrm>
            <a:off x="7178039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Per-backup choice</a:t>
            </a:r>
            <a:endParaRPr lang="en-US" sz="1500"/>
          </a:p>
        </p:txBody>
      </p:sp>
      <p:sp>
        <p:nvSpPr>
          <p:cNvPr id="1826021370" name="Text 30"/>
          <p:cNvSpPr txBox="1"/>
          <p:nvPr/>
        </p:nvSpPr>
        <p:spPr bwMode="auto">
          <a:xfrm>
            <a:off x="7178039" y="186537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Users pick speed, size or secrecy per run with -c and -e; no global config to change.</a:t>
            </a:r>
            <a:endParaRPr lang="en-US" sz="1300"/>
          </a:p>
        </p:txBody>
      </p:sp>
      <p:sp>
        <p:nvSpPr>
          <p:cNvPr id="212145115" name="Shape 31"/>
          <p:cNvSpPr/>
          <p:nvPr/>
        </p:nvSpPr>
        <p:spPr bwMode="auto">
          <a:xfrm>
            <a:off x="6492240" y="2532888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70307810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624828" y="2665476"/>
            <a:ext cx="265176" cy="265176"/>
          </a:xfrm>
          <a:prstGeom prst="rect">
            <a:avLst/>
          </a:prstGeom>
        </p:spPr>
      </p:pic>
      <p:sp>
        <p:nvSpPr>
          <p:cNvPr id="232152221" name="Text 32"/>
          <p:cNvSpPr txBox="1"/>
          <p:nvPr/>
        </p:nvSpPr>
        <p:spPr bwMode="auto">
          <a:xfrm>
            <a:off x="7178039" y="248716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Swappable back-ends</a:t>
            </a:r>
            <a:endParaRPr lang="en-US" sz="1500"/>
          </a:p>
        </p:txBody>
      </p:sp>
      <p:sp>
        <p:nvSpPr>
          <p:cNvPr id="2014985796" name="Text 33"/>
          <p:cNvSpPr txBox="1"/>
          <p:nvPr/>
        </p:nvSpPr>
        <p:spPr bwMode="auto">
          <a:xfrm>
            <a:off x="7178039" y="27980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lz4 → zstd, or AES-CBC → AES-GCM, is a one-line change in compress.c or encrypt.c.</a:t>
            </a:r>
            <a:endParaRPr lang="en-US" sz="1300"/>
          </a:p>
        </p:txBody>
      </p:sp>
      <p:sp>
        <p:nvSpPr>
          <p:cNvPr id="998573916" name="Shape 34"/>
          <p:cNvSpPr/>
          <p:nvPr/>
        </p:nvSpPr>
        <p:spPr bwMode="auto">
          <a:xfrm>
            <a:off x="6492240" y="3465576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626727292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624828" y="3598164"/>
            <a:ext cx="265176" cy="265176"/>
          </a:xfrm>
          <a:prstGeom prst="rect">
            <a:avLst/>
          </a:prstGeom>
        </p:spPr>
      </p:pic>
      <p:sp>
        <p:nvSpPr>
          <p:cNvPr id="1579466541" name="Text 35"/>
          <p:cNvSpPr txBox="1"/>
          <p:nvPr/>
        </p:nvSpPr>
        <p:spPr bwMode="auto">
          <a:xfrm>
            <a:off x="7178039" y="341985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Files or whole folders</a:t>
            </a:r>
            <a:endParaRPr lang="en-US" sz="1500"/>
          </a:p>
        </p:txBody>
      </p:sp>
      <p:sp>
        <p:nvSpPr>
          <p:cNvPr id="329122951" name="Text 36"/>
          <p:cNvSpPr txBox="1"/>
          <p:nvPr/>
        </p:nvSpPr>
        <p:spPr bwMode="auto">
          <a:xfrm>
            <a:off x="7178039" y="37307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The same command handles a single note, a project tree, or a config directory.</a:t>
            </a:r>
            <a:endParaRPr lang="en-US" sz="1300"/>
          </a:p>
        </p:txBody>
      </p:sp>
      <p:sp>
        <p:nvSpPr>
          <p:cNvPr id="746089085" name="Shape 37"/>
          <p:cNvSpPr/>
          <p:nvPr/>
        </p:nvSpPr>
        <p:spPr bwMode="auto">
          <a:xfrm>
            <a:off x="6492240" y="4398264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477087413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624828" y="4530852"/>
            <a:ext cx="265176" cy="265176"/>
          </a:xfrm>
          <a:prstGeom prst="rect">
            <a:avLst/>
          </a:prstGeom>
        </p:spPr>
      </p:pic>
      <p:sp>
        <p:nvSpPr>
          <p:cNvPr id="734038283" name="Text 38"/>
          <p:cNvSpPr txBox="1"/>
          <p:nvPr/>
        </p:nvSpPr>
        <p:spPr bwMode="auto">
          <a:xfrm>
            <a:off x="7178039" y="435254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Portable foundation</a:t>
            </a:r>
            <a:endParaRPr lang="en-US" sz="1500"/>
          </a:p>
        </p:txBody>
      </p:sp>
      <p:sp>
        <p:nvSpPr>
          <p:cNvPr id="1953692948" name="Text 39"/>
          <p:cNvSpPr txBox="1"/>
          <p:nvPr/>
        </p:nvSpPr>
        <p:spPr bwMode="auto">
          <a:xfrm>
            <a:off x="7178039" y="4663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Only standard tools (tar, lz4, openssl, sha1sum, fzf); runs on Linux and WSL.</a:t>
            </a:r>
            <a:endParaRPr lang="en-US" sz="1300"/>
          </a:p>
        </p:txBody>
      </p:sp>
      <p:sp>
        <p:nvSpPr>
          <p:cNvPr id="623476618" name="Shape 40"/>
          <p:cNvSpPr/>
          <p:nvPr/>
        </p:nvSpPr>
        <p:spPr bwMode="auto">
          <a:xfrm>
            <a:off x="6492240" y="5330952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220659071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624828" y="5463539"/>
            <a:ext cx="265176" cy="265176"/>
          </a:xfrm>
          <a:prstGeom prst="rect">
            <a:avLst/>
          </a:prstGeom>
        </p:spPr>
      </p:pic>
      <p:sp>
        <p:nvSpPr>
          <p:cNvPr id="572323738" name="Text 41"/>
          <p:cNvSpPr txBox="1"/>
          <p:nvPr/>
        </p:nvSpPr>
        <p:spPr bwMode="auto">
          <a:xfrm>
            <a:off x="7178039" y="528523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Many user groups</a:t>
            </a:r>
            <a:endParaRPr lang="en-US" sz="1500"/>
          </a:p>
        </p:txBody>
      </p:sp>
      <p:sp>
        <p:nvSpPr>
          <p:cNvPr id="261768254" name="Text 42"/>
          <p:cNvSpPr txBox="1"/>
          <p:nvPr/>
        </p:nvSpPr>
        <p:spPr bwMode="auto">
          <a:xfrm>
            <a:off x="7178039" y="55961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Students' assignments, developers' repos, admins' /etc snapshots before an upgrade.</a:t>
            </a:r>
            <a:endParaRPr lang="en-US" sz="1300"/>
          </a:p>
        </p:txBody>
      </p:sp>
      <p:sp>
        <p:nvSpPr>
          <p:cNvPr id="654786918" name="Text 43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4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514577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CRITERION 4  ·  DISSEMINATION AND ACCESSIBILITY</a:t>
            </a:r>
            <a:endParaRPr lang="en-US" sz="1200"/>
          </a:p>
        </p:txBody>
      </p:sp>
      <p:sp>
        <p:nvSpPr>
          <p:cNvPr id="526986024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Easy to get, easy to run, easy to read</a:t>
            </a:r>
            <a:endParaRPr lang="en-US" sz="3200"/>
          </a:p>
        </p:txBody>
      </p:sp>
      <p:sp>
        <p:nvSpPr>
          <p:cNvPr id="17676432" name="Text 2"/>
          <p:cNvSpPr txBox="1"/>
          <p:nvPr/>
        </p:nvSpPr>
        <p:spPr bwMode="auto"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Available today</a:t>
            </a:r>
            <a:endParaRPr lang="en-US" sz="1600"/>
          </a:p>
        </p:txBody>
      </p:sp>
      <p:sp>
        <p:nvSpPr>
          <p:cNvPr id="2053009734" name="Shape 3"/>
          <p:cNvSpPr/>
          <p:nvPr/>
        </p:nvSpPr>
        <p:spPr bwMode="auto">
          <a:xfrm>
            <a:off x="548640" y="201168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34540262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4370" y="2137410"/>
            <a:ext cx="251460" cy="251460"/>
          </a:xfrm>
          <a:prstGeom prst="rect">
            <a:avLst/>
          </a:prstGeom>
        </p:spPr>
      </p:pic>
      <p:sp>
        <p:nvSpPr>
          <p:cNvPr id="650609673" name="Text 4"/>
          <p:cNvSpPr txBox="1"/>
          <p:nvPr/>
        </p:nvSpPr>
        <p:spPr bwMode="auto">
          <a:xfrm>
            <a:off x="1234440" y="1975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Public GitHub repository</a:t>
            </a:r>
            <a:endParaRPr lang="en-US" sz="1400"/>
          </a:p>
        </p:txBody>
      </p:sp>
      <p:sp>
        <p:nvSpPr>
          <p:cNvPr id="1016542983" name="Text 5"/>
          <p:cNvSpPr txBox="1"/>
          <p:nvPr/>
        </p:nvSpPr>
        <p:spPr bwMode="auto">
          <a:xfrm>
            <a:off x="1234440" y="22677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Source, Makefile, prebuilt binary and review slides in one place.</a:t>
            </a:r>
            <a:endParaRPr lang="en-US" sz="1200"/>
          </a:p>
        </p:txBody>
      </p:sp>
      <p:sp>
        <p:nvSpPr>
          <p:cNvPr id="665350833" name="Shape 6"/>
          <p:cNvSpPr/>
          <p:nvPr/>
        </p:nvSpPr>
        <p:spPr bwMode="auto">
          <a:xfrm>
            <a:off x="548640" y="283464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79948374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74370" y="2960370"/>
            <a:ext cx="251460" cy="251460"/>
          </a:xfrm>
          <a:prstGeom prst="rect">
            <a:avLst/>
          </a:prstGeom>
        </p:spPr>
      </p:pic>
      <p:sp>
        <p:nvSpPr>
          <p:cNvPr id="1282152404" name="Text 7"/>
          <p:cNvSpPr txBox="1"/>
          <p:nvPr/>
        </p:nvSpPr>
        <p:spPr bwMode="auto">
          <a:xfrm>
            <a:off x="1234440" y="279806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One-command build</a:t>
            </a:r>
            <a:endParaRPr lang="en-US" sz="1400"/>
          </a:p>
        </p:txBody>
      </p:sp>
      <p:sp>
        <p:nvSpPr>
          <p:cNvPr id="1971728673" name="Text 8"/>
          <p:cNvSpPr txBox="1"/>
          <p:nvPr/>
        </p:nvSpPr>
        <p:spPr bwMode="auto">
          <a:xfrm>
            <a:off x="1234440" y="30906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make produces the binary; no config file, daemon or repository init.</a:t>
            </a:r>
            <a:endParaRPr lang="en-US" sz="1200"/>
          </a:p>
        </p:txBody>
      </p:sp>
      <p:sp>
        <p:nvSpPr>
          <p:cNvPr id="879106574" name="Shape 9"/>
          <p:cNvSpPr/>
          <p:nvPr/>
        </p:nvSpPr>
        <p:spPr bwMode="auto">
          <a:xfrm>
            <a:off x="548640" y="365760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4564249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74370" y="3783330"/>
            <a:ext cx="251460" cy="251460"/>
          </a:xfrm>
          <a:prstGeom prst="rect">
            <a:avLst/>
          </a:prstGeom>
        </p:spPr>
      </p:pic>
      <p:sp>
        <p:nvSpPr>
          <p:cNvPr id="1661860503" name="Text 10"/>
          <p:cNvSpPr txBox="1"/>
          <p:nvPr/>
        </p:nvSpPr>
        <p:spPr bwMode="auto">
          <a:xfrm>
            <a:off x="1234440" y="362102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Small, readable codebase</a:t>
            </a:r>
            <a:endParaRPr lang="en-US" sz="1400"/>
          </a:p>
        </p:txBody>
      </p:sp>
      <p:sp>
        <p:nvSpPr>
          <p:cNvPr id="29386536" name="Text 11"/>
          <p:cNvSpPr txBox="1"/>
          <p:nvPr/>
        </p:nvSpPr>
        <p:spPr bwMode="auto">
          <a:xfrm>
            <a:off x="1234440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About 490 lines of C across 8 modules; auditable in one sitting.</a:t>
            </a:r>
            <a:endParaRPr lang="en-US" sz="1200"/>
          </a:p>
        </p:txBody>
      </p:sp>
      <p:sp>
        <p:nvSpPr>
          <p:cNvPr id="935546942" name="Shape 12"/>
          <p:cNvSpPr/>
          <p:nvPr/>
        </p:nvSpPr>
        <p:spPr bwMode="auto">
          <a:xfrm>
            <a:off x="548640" y="448056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969442474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74370" y="4606290"/>
            <a:ext cx="251460" cy="251460"/>
          </a:xfrm>
          <a:prstGeom prst="rect">
            <a:avLst/>
          </a:prstGeom>
        </p:spPr>
      </p:pic>
      <p:sp>
        <p:nvSpPr>
          <p:cNvPr id="837310082" name="Text 13"/>
          <p:cNvSpPr txBox="1"/>
          <p:nvPr/>
        </p:nvSpPr>
        <p:spPr bwMode="auto">
          <a:xfrm>
            <a:off x="1234440" y="44439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Open, standard formats</a:t>
            </a:r>
            <a:endParaRPr lang="en-US" sz="1400"/>
          </a:p>
        </p:txBody>
      </p:sp>
      <p:sp>
        <p:nvSpPr>
          <p:cNvPr id="329047206" name="Text 14"/>
          <p:cNvSpPr txBox="1"/>
          <p:nvPr/>
        </p:nvSpPr>
        <p:spPr bwMode="auto">
          <a:xfrm>
            <a:off x="1234440" y="47365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Backups are plain folders, .tar, .lz4 or OpenSSL files; the log is CSV.</a:t>
            </a:r>
            <a:endParaRPr lang="en-US" sz="1200"/>
          </a:p>
        </p:txBody>
      </p:sp>
      <p:sp>
        <p:nvSpPr>
          <p:cNvPr id="1976740789" name="Shape 15"/>
          <p:cNvSpPr/>
          <p:nvPr/>
        </p:nvSpPr>
        <p:spPr bwMode="auto">
          <a:xfrm>
            <a:off x="548640" y="530352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2122365031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74370" y="5429250"/>
            <a:ext cx="251460" cy="251460"/>
          </a:xfrm>
          <a:prstGeom prst="rect">
            <a:avLst/>
          </a:prstGeom>
        </p:spPr>
      </p:pic>
      <p:sp>
        <p:nvSpPr>
          <p:cNvPr id="222610924" name="Text 16"/>
          <p:cNvSpPr txBox="1"/>
          <p:nvPr/>
        </p:nvSpPr>
        <p:spPr bwMode="auto">
          <a:xfrm>
            <a:off x="1234440" y="52669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Recoverable without SafeStore</a:t>
            </a:r>
            <a:endParaRPr lang="en-US" sz="1400"/>
          </a:p>
        </p:txBody>
      </p:sp>
      <p:sp>
        <p:nvSpPr>
          <p:cNvPr id="1864142028" name="Text 17"/>
          <p:cNvSpPr txBox="1"/>
          <p:nvPr/>
        </p:nvSpPr>
        <p:spPr bwMode="auto">
          <a:xfrm>
            <a:off x="1234440" y="5559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Any Linux user can restore by hand with cp, tar, lz4 and openssl.</a:t>
            </a:r>
            <a:endParaRPr lang="en-US" sz="1200"/>
          </a:p>
        </p:txBody>
      </p:sp>
      <p:sp>
        <p:nvSpPr>
          <p:cNvPr id="981330206" name="Shape 18"/>
          <p:cNvSpPr/>
          <p:nvPr/>
        </p:nvSpPr>
        <p:spPr bwMode="auto">
          <a:xfrm>
            <a:off x="6400800" y="1554480"/>
            <a:ext cx="5257800" cy="4617720"/>
          </a:xfrm>
          <a:prstGeom prst="roundRect">
            <a:avLst>
              <a:gd name="adj" fmla="val 2376"/>
            </a:avLst>
          </a:prstGeom>
          <a:solidFill>
            <a:srgbClr val="0F1C2B"/>
          </a:solidFill>
          <a:ln w="12700">
            <a:solidFill>
              <a:srgbClr val="0F1C2B"/>
            </a:solidFill>
            <a:prstDash val="solid"/>
          </a:ln>
        </p:spPr>
      </p:sp>
      <p:sp>
        <p:nvSpPr>
          <p:cNvPr id="1188521683" name="Text 19"/>
          <p:cNvSpPr txBox="1"/>
          <p:nvPr/>
        </p:nvSpPr>
        <p:spPr bwMode="auto"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Dissemination plan</a:t>
            </a:r>
            <a:endParaRPr lang="en-US" sz="1600"/>
          </a:p>
        </p:txBody>
      </p:sp>
      <p:sp>
        <p:nvSpPr>
          <p:cNvPr id="364820069" name="Shape 20"/>
          <p:cNvSpPr/>
          <p:nvPr/>
        </p:nvSpPr>
        <p:spPr bwMode="auto">
          <a:xfrm>
            <a:off x="6675120" y="229514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975725801" name="Text 21"/>
          <p:cNvSpPr txBox="1"/>
          <p:nvPr/>
        </p:nvSpPr>
        <p:spPr bwMode="auto">
          <a:xfrm>
            <a:off x="6675120" y="2295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lang="en-US" sz="1200"/>
          </a:p>
        </p:txBody>
      </p:sp>
      <p:sp>
        <p:nvSpPr>
          <p:cNvPr id="409139547" name="Text 22"/>
          <p:cNvSpPr txBox="1"/>
          <p:nvPr/>
        </p:nvSpPr>
        <p:spPr bwMode="auto">
          <a:xfrm>
            <a:off x="7178039" y="22219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README + usage examples</a:t>
            </a:r>
            <a:endParaRPr lang="en-US" sz="1400"/>
          </a:p>
        </p:txBody>
      </p:sp>
      <p:sp>
        <p:nvSpPr>
          <p:cNvPr id="1685658494" name="Text 23"/>
          <p:cNvSpPr txBox="1"/>
          <p:nvPr/>
        </p:nvSpPr>
        <p:spPr bwMode="auto">
          <a:xfrm>
            <a:off x="7178039" y="24963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The repo currently has no description</a:t>
            </a:r>
            <a:endParaRPr lang="en-US" sz="1200"/>
          </a:p>
        </p:txBody>
      </p:sp>
      <p:sp>
        <p:nvSpPr>
          <p:cNvPr id="544706535" name="Shape 24"/>
          <p:cNvSpPr/>
          <p:nvPr/>
        </p:nvSpPr>
        <p:spPr bwMode="auto">
          <a:xfrm>
            <a:off x="6675120" y="293522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079258328" name="Text 25"/>
          <p:cNvSpPr txBox="1"/>
          <p:nvPr/>
        </p:nvSpPr>
        <p:spPr bwMode="auto">
          <a:xfrm>
            <a:off x="667512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lang="en-US" sz="1200"/>
          </a:p>
        </p:txBody>
      </p:sp>
      <p:sp>
        <p:nvSpPr>
          <p:cNvPr id="278537690" name="Text 26"/>
          <p:cNvSpPr txBox="1"/>
          <p:nvPr/>
        </p:nvSpPr>
        <p:spPr bwMode="auto">
          <a:xfrm>
            <a:off x="7178039" y="2862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Open-source licence (MIT)</a:t>
            </a:r>
            <a:endParaRPr lang="en-US" sz="1400"/>
          </a:p>
        </p:txBody>
      </p:sp>
      <p:sp>
        <p:nvSpPr>
          <p:cNvPr id="2039392172" name="Text 27"/>
          <p:cNvSpPr txBox="1"/>
          <p:nvPr/>
        </p:nvSpPr>
        <p:spPr bwMode="auto">
          <a:xfrm>
            <a:off x="7178039" y="31363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Lets others legally reuse and fork</a:t>
            </a:r>
            <a:endParaRPr lang="en-US" sz="1200"/>
          </a:p>
        </p:txBody>
      </p:sp>
      <p:sp>
        <p:nvSpPr>
          <p:cNvPr id="1812652603" name="Shape 28"/>
          <p:cNvSpPr/>
          <p:nvPr/>
        </p:nvSpPr>
        <p:spPr bwMode="auto">
          <a:xfrm>
            <a:off x="6675120" y="3575303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201138536" name="Text 29"/>
          <p:cNvSpPr txBox="1"/>
          <p:nvPr/>
        </p:nvSpPr>
        <p:spPr bwMode="auto">
          <a:xfrm>
            <a:off x="6675120" y="357530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lang="en-US" sz="1200"/>
          </a:p>
        </p:txBody>
      </p:sp>
      <p:sp>
        <p:nvSpPr>
          <p:cNvPr id="1961452968" name="Text 30"/>
          <p:cNvSpPr txBox="1"/>
          <p:nvPr/>
        </p:nvSpPr>
        <p:spPr bwMode="auto">
          <a:xfrm>
            <a:off x="7178039" y="35021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 page and --help</a:t>
            </a:r>
            <a:endParaRPr lang="en-US" sz="1400"/>
          </a:p>
        </p:txBody>
      </p:sp>
      <p:sp>
        <p:nvSpPr>
          <p:cNvPr id="713771662" name="Text 31"/>
          <p:cNvSpPr txBox="1"/>
          <p:nvPr/>
        </p:nvSpPr>
        <p:spPr bwMode="auto">
          <a:xfrm>
            <a:off x="7178039" y="37764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Built-in documentation in the terminal</a:t>
            </a:r>
            <a:endParaRPr lang="en-US" sz="1200"/>
          </a:p>
        </p:txBody>
      </p:sp>
      <p:sp>
        <p:nvSpPr>
          <p:cNvPr id="1752717171" name="Shape 32"/>
          <p:cNvSpPr/>
          <p:nvPr/>
        </p:nvSpPr>
        <p:spPr bwMode="auto">
          <a:xfrm>
            <a:off x="6675120" y="421538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882018835" name="Text 33"/>
          <p:cNvSpPr txBox="1"/>
          <p:nvPr/>
        </p:nvSpPr>
        <p:spPr bwMode="auto">
          <a:xfrm>
            <a:off x="6675120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lang="en-US" sz="1200"/>
          </a:p>
        </p:txBody>
      </p:sp>
      <p:sp>
        <p:nvSpPr>
          <p:cNvPr id="422316842" name="Text 34"/>
          <p:cNvSpPr txBox="1"/>
          <p:nvPr/>
        </p:nvSpPr>
        <p:spPr bwMode="auto">
          <a:xfrm>
            <a:off x="7178039" y="41422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Packages: .deb and AUR</a:t>
            </a:r>
            <a:endParaRPr lang="en-US" sz="1400"/>
          </a:p>
        </p:txBody>
      </p:sp>
      <p:sp>
        <p:nvSpPr>
          <p:cNvPr id="887379439" name="Text 35"/>
          <p:cNvSpPr txBox="1"/>
          <p:nvPr/>
        </p:nvSpPr>
        <p:spPr bwMode="auto">
          <a:xfrm>
            <a:off x="7178039" y="441655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Install with apt or yay</a:t>
            </a:r>
            <a:endParaRPr lang="en-US" sz="1200"/>
          </a:p>
        </p:txBody>
      </p:sp>
      <p:sp>
        <p:nvSpPr>
          <p:cNvPr id="534337914" name="Shape 36"/>
          <p:cNvSpPr/>
          <p:nvPr/>
        </p:nvSpPr>
        <p:spPr bwMode="auto">
          <a:xfrm>
            <a:off x="6675120" y="485546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37739384" name="Text 37"/>
          <p:cNvSpPr txBox="1"/>
          <p:nvPr/>
        </p:nvSpPr>
        <p:spPr bwMode="auto">
          <a:xfrm>
            <a:off x="6675120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lang="en-US" sz="1200"/>
          </a:p>
        </p:txBody>
      </p:sp>
      <p:sp>
        <p:nvSpPr>
          <p:cNvPr id="1408903306" name="Text 38"/>
          <p:cNvSpPr txBox="1"/>
          <p:nvPr/>
        </p:nvSpPr>
        <p:spPr bwMode="auto">
          <a:xfrm>
            <a:off x="7178039" y="47823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 video + GitHub release</a:t>
            </a:r>
            <a:endParaRPr lang="en-US" sz="1400"/>
          </a:p>
        </p:txBody>
      </p:sp>
      <p:sp>
        <p:nvSpPr>
          <p:cNvPr id="2109899163" name="Text 39"/>
          <p:cNvSpPr txBox="1"/>
          <p:nvPr/>
        </p:nvSpPr>
        <p:spPr bwMode="auto">
          <a:xfrm>
            <a:off x="7178039" y="50566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Tagged version with changelog</a:t>
            </a:r>
            <a:endParaRPr lang="en-US" sz="1200"/>
          </a:p>
        </p:txBody>
      </p:sp>
      <p:sp>
        <p:nvSpPr>
          <p:cNvPr id="425647502" name="Shape 40"/>
          <p:cNvSpPr/>
          <p:nvPr/>
        </p:nvSpPr>
        <p:spPr bwMode="auto">
          <a:xfrm>
            <a:off x="6675120" y="549554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166338705" name="Text 41"/>
          <p:cNvSpPr txBox="1"/>
          <p:nvPr/>
        </p:nvSpPr>
        <p:spPr bwMode="auto">
          <a:xfrm>
            <a:off x="6675120" y="5495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  <a:endParaRPr lang="en-US" sz="1200"/>
          </a:p>
        </p:txBody>
      </p:sp>
      <p:sp>
        <p:nvSpPr>
          <p:cNvPr id="1119959957" name="Text 42"/>
          <p:cNvSpPr txBox="1"/>
          <p:nvPr/>
        </p:nvSpPr>
        <p:spPr bwMode="auto">
          <a:xfrm>
            <a:off x="7178039" y="54223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Dependency check at start-up</a:t>
            </a:r>
            <a:endParaRPr lang="en-US" sz="1400"/>
          </a:p>
        </p:txBody>
      </p:sp>
      <p:sp>
        <p:nvSpPr>
          <p:cNvPr id="496409035" name="Text 43"/>
          <p:cNvSpPr txBox="1"/>
          <p:nvPr/>
        </p:nvSpPr>
        <p:spPr bwMode="auto">
          <a:xfrm>
            <a:off x="7178039" y="5696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Friendly message if lz4 / fzf missing</a:t>
            </a:r>
            <a:endParaRPr lang="en-US" sz="1200"/>
          </a:p>
        </p:txBody>
      </p:sp>
      <p:sp>
        <p:nvSpPr>
          <p:cNvPr id="995678675" name="Text 44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6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0F1C2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8389271" name="Text 0"/>
          <p:cNvSpPr txBox="1"/>
          <p:nvPr/>
        </p:nvSpPr>
        <p:spPr bwMode="auto">
          <a:xfrm>
            <a:off x="731520" y="640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Conclusion</a:t>
            </a:r>
            <a:endParaRPr lang="en-US" sz="4000"/>
          </a:p>
        </p:txBody>
      </p:sp>
      <p:sp>
        <p:nvSpPr>
          <p:cNvPr id="958159467" name="Shape 1"/>
          <p:cNvSpPr/>
          <p:nvPr/>
        </p:nvSpPr>
        <p:spPr bwMode="auto">
          <a:xfrm>
            <a:off x="7315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531949938" name="Text 2"/>
          <p:cNvSpPr txBox="1"/>
          <p:nvPr/>
        </p:nvSpPr>
        <p:spPr bwMode="auto">
          <a:xfrm>
            <a:off x="9601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Novelty</a:t>
            </a:r>
            <a:endParaRPr lang="en-US" sz="1800"/>
          </a:p>
        </p:txBody>
      </p:sp>
      <p:sp>
        <p:nvSpPr>
          <p:cNvPr id="1885653539" name="Text 3"/>
          <p:cNvSpPr txBox="1"/>
          <p:nvPr/>
        </p:nvSpPr>
        <p:spPr bwMode="auto">
          <a:xfrm>
            <a:off x="9601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3ECEF"/>
                </a:solidFill>
                <a:latin typeface="Calibri"/>
                <a:ea typeface="Calibri"/>
                <a:cs typeface="Calibri"/>
              </a:rPr>
              <a:t>Composable per-backup pipeline with a restore that detects its own format</a:t>
            </a:r>
            <a:endParaRPr lang="en-US" sz="1400"/>
          </a:p>
        </p:txBody>
      </p:sp>
      <p:sp>
        <p:nvSpPr>
          <p:cNvPr id="900774803" name="Shape 4"/>
          <p:cNvSpPr/>
          <p:nvPr/>
        </p:nvSpPr>
        <p:spPr bwMode="auto">
          <a:xfrm>
            <a:off x="34747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329151636" name="Text 5"/>
          <p:cNvSpPr txBox="1"/>
          <p:nvPr/>
        </p:nvSpPr>
        <p:spPr bwMode="auto">
          <a:xfrm>
            <a:off x="37033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Adaptability</a:t>
            </a:r>
            <a:endParaRPr lang="en-US" sz="1800"/>
          </a:p>
        </p:txBody>
      </p:sp>
      <p:sp>
        <p:nvSpPr>
          <p:cNvPr id="1037335108" name="Text 6"/>
          <p:cNvSpPr txBox="1"/>
          <p:nvPr/>
        </p:nvSpPr>
        <p:spPr bwMode="auto">
          <a:xfrm>
            <a:off x="37033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3ECEF"/>
                </a:solidFill>
                <a:latin typeface="Calibri"/>
                <a:ea typeface="Calibri"/>
                <a:cs typeface="Calibri"/>
              </a:rPr>
              <a:t>8 swappable modules, file or folder, many user groups</a:t>
            </a:r>
            <a:endParaRPr lang="en-US" sz="1400"/>
          </a:p>
        </p:txBody>
      </p:sp>
      <p:sp>
        <p:nvSpPr>
          <p:cNvPr id="367830060" name="Shape 7"/>
          <p:cNvSpPr/>
          <p:nvPr/>
        </p:nvSpPr>
        <p:spPr bwMode="auto">
          <a:xfrm>
            <a:off x="62179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572401551" name="Text 8"/>
          <p:cNvSpPr txBox="1"/>
          <p:nvPr/>
        </p:nvSpPr>
        <p:spPr bwMode="auto">
          <a:xfrm>
            <a:off x="64465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Evaluation</a:t>
            </a:r>
            <a:endParaRPr lang="en-US" sz="1800"/>
          </a:p>
        </p:txBody>
      </p:sp>
      <p:sp>
        <p:nvSpPr>
          <p:cNvPr id="1405708071" name="Text 9"/>
          <p:cNvSpPr txBox="1"/>
          <p:nvPr/>
        </p:nvSpPr>
        <p:spPr bwMode="auto">
          <a:xfrm>
            <a:off x="64465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3ECEF"/>
                </a:solidFill>
                <a:latin typeface="Calibri"/>
                <a:ea typeface="Calibri"/>
                <a:cs typeface="Calibri"/>
              </a:rPr>
              <a:t>57% space saving on text data and 8/8 bit-identical restores</a:t>
            </a:r>
            <a:endParaRPr lang="en-US" sz="1400"/>
          </a:p>
        </p:txBody>
      </p:sp>
      <p:sp>
        <p:nvSpPr>
          <p:cNvPr id="268533150" name="Shape 10"/>
          <p:cNvSpPr/>
          <p:nvPr/>
        </p:nvSpPr>
        <p:spPr bwMode="auto">
          <a:xfrm>
            <a:off x="89611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957118564" name="Text 11"/>
          <p:cNvSpPr txBox="1"/>
          <p:nvPr/>
        </p:nvSpPr>
        <p:spPr bwMode="auto">
          <a:xfrm>
            <a:off x="91897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Dissemination</a:t>
            </a:r>
            <a:endParaRPr lang="en-US" sz="1800"/>
          </a:p>
        </p:txBody>
      </p:sp>
      <p:sp>
        <p:nvSpPr>
          <p:cNvPr id="345422906" name="Text 12"/>
          <p:cNvSpPr txBox="1"/>
          <p:nvPr/>
        </p:nvSpPr>
        <p:spPr bwMode="auto">
          <a:xfrm>
            <a:off x="91897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3ECEF"/>
                </a:solidFill>
                <a:latin typeface="Calibri"/>
                <a:ea typeface="Calibri"/>
                <a:cs typeface="Calibri"/>
              </a:rPr>
              <a:t>Public repo, open formats; README, licence and packages next</a:t>
            </a:r>
            <a:endParaRPr lang="en-US" sz="1400"/>
          </a:p>
        </p:txBody>
      </p:sp>
      <p:sp>
        <p:nvSpPr>
          <p:cNvPr id="241395264" name="Text 13"/>
          <p:cNvSpPr txBox="1"/>
          <p:nvPr/>
        </p:nvSpPr>
        <p:spPr bwMode="auto">
          <a:xfrm>
            <a:off x="73152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Future work</a:t>
            </a:r>
            <a:endParaRPr lang="en-US" sz="1800"/>
          </a:p>
        </p:txBody>
      </p:sp>
      <p:sp>
        <p:nvSpPr>
          <p:cNvPr id="1827551065" name="Text 14"/>
          <p:cNvSpPr txBox="1"/>
          <p:nvPr/>
        </p:nvSpPr>
        <p:spPr bwMode="auto">
          <a:xfrm>
            <a:off x="731520" y="493776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Restore into a temp folder first, then swap in</a:t>
            </a:r>
            <a:endParaRPr lang="en-US" sz="15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Retention policy (keep last N) and deduplication</a:t>
            </a:r>
            <a:endParaRPr lang="en-US" sz="15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Scheduled backups with cron / systemd timers</a:t>
            </a:r>
            <a:endParaRPr lang="en-US" sz="1500"/>
          </a:p>
        </p:txBody>
      </p:sp>
      <p:sp>
        <p:nvSpPr>
          <p:cNvPr id="963084557" name="Text 15"/>
          <p:cNvSpPr txBox="1"/>
          <p:nvPr/>
        </p:nvSpPr>
        <p:spPr bwMode="auto">
          <a:xfrm>
            <a:off x="7589520" y="539496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22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Thank you  ·  Questions?</a:t>
            </a:r>
            <a:endParaRPr lang="en-US" sz="2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SafeStore – Backup &amp; Restore Utility</dc:title>
  <dc:subject>PptxGenJS Presentation</dc:subject>
  <dc:creator>PptxGenJS</dc:creator>
  <cp:lastModifiedBy/>
  <cp:revision>3</cp:revision>
  <dcterms:created xsi:type="dcterms:W3CDTF">2026-09-16T01:16:22Z</dcterms:created>
  <dcterms:modified xsi:type="dcterms:W3CDTF">2026-09-16T09:00:28Z</dcterms:modified>
</cp:coreProperties>
</file>