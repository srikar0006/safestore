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955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92036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1072888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7988305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32671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100874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33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579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070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176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2519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5467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730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486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6738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278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5871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2606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250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539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9620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7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289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1540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1C2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132739" name="Shape 0"/>
          <p:cNvSpPr/>
          <p:nvPr/>
        </p:nvSpPr>
        <p:spPr bwMode="auto">
          <a:xfrm>
            <a:off x="731520" y="822960"/>
            <a:ext cx="1005840" cy="1005840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pic>
        <p:nvPicPr>
          <p:cNvPr id="13267946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2980" y="1074420"/>
            <a:ext cx="502920" cy="502920"/>
          </a:xfrm>
          <a:prstGeom prst="rect">
            <a:avLst/>
          </a:prstGeom>
        </p:spPr>
      </p:pic>
      <p:sp>
        <p:nvSpPr>
          <p:cNvPr id="352380674" name="Text 1"/>
          <p:cNvSpPr txBox="1"/>
          <p:nvPr/>
        </p:nvSpPr>
        <p:spPr bwMode="auto">
          <a:xfrm>
            <a:off x="73152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SafeStore</a:t>
            </a:r>
            <a:endParaRPr lang="en-US" sz="6000"/>
          </a:p>
        </p:txBody>
      </p:sp>
      <p:sp>
        <p:nvSpPr>
          <p:cNvPr id="2119483091" name="Text 2"/>
          <p:cNvSpPr txBox="1"/>
          <p:nvPr/>
        </p:nvSpPr>
        <p:spPr bwMode="auto"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CFE3E0"/>
                </a:solidFill>
                <a:latin typeface="Calibri"/>
                <a:ea typeface="Calibri"/>
                <a:cs typeface="Calibri"/>
              </a:rPr>
              <a:t>A composable backup &amp; restore utility for Linux, written in C</a:t>
            </a:r>
            <a:endParaRPr lang="en-US" sz="2200"/>
          </a:p>
        </p:txBody>
      </p:sp>
      <p:sp>
        <p:nvSpPr>
          <p:cNvPr id="2078927717" name="Text 3"/>
          <p:cNvSpPr txBox="1"/>
          <p:nvPr/>
        </p:nvSpPr>
        <p:spPr bwMode="auto">
          <a:xfrm>
            <a:off x="731520" y="3611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F2A93B"/>
                </a:solidFill>
                <a:latin typeface="Calibri"/>
                <a:ea typeface="Calibri"/>
                <a:cs typeface="Calibri"/>
              </a:rPr>
              <a:t>Operating Systems Project  ·  Methodology Review</a:t>
            </a:r>
            <a:endParaRPr lang="en-US" sz="1600"/>
          </a:p>
        </p:txBody>
      </p:sp>
      <p:sp>
        <p:nvSpPr>
          <p:cNvPr id="1397495061" name="Shape 4"/>
          <p:cNvSpPr/>
          <p:nvPr/>
        </p:nvSpPr>
        <p:spPr bwMode="auto">
          <a:xfrm>
            <a:off x="731520" y="452628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182A3D"/>
          </a:solidFill>
          <a:ln w="12700">
            <a:solidFill>
              <a:srgbClr val="182A3D"/>
            </a:solidFill>
            <a:prstDash val="solid"/>
          </a:ln>
        </p:spPr>
      </p:sp>
      <p:sp>
        <p:nvSpPr>
          <p:cNvPr id="1424971113" name="Text 5"/>
          <p:cNvSpPr txBox="1"/>
          <p:nvPr/>
        </p:nvSpPr>
        <p:spPr bwMode="auto">
          <a:xfrm>
            <a:off x="1005840" y="4663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 b="1" spc="300">
                <a:solidFill>
                  <a:srgbClr val="12A58C"/>
                </a:solidFill>
                <a:latin typeface="Calibri"/>
                <a:ea typeface="Calibri"/>
                <a:cs typeface="Calibri"/>
              </a:rPr>
              <a:t>TEAM</a:t>
            </a:r>
            <a:endParaRPr lang="en-US" sz="16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2510030006  –  N Srikar (Team Lead)</a:t>
            </a:r>
            <a:endParaRPr lang="en-US" sz="16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2510030147  –  U Yogendra</a:t>
            </a:r>
            <a:endParaRPr lang="en-US" sz="1600"/>
          </a:p>
          <a:p>
            <a:pPr marL="0" indent="0">
              <a:spcAft>
                <a:spcPts val="398"/>
              </a:spcAft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2510030008  –  G Pranav</a:t>
            </a:r>
            <a:b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2510030052  –  </a:t>
            </a:r>
            <a:r>
              <a:rPr lang="en-US" sz="16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Suleman Khan</a:t>
            </a:r>
            <a:endParaRPr sz="1600"/>
          </a:p>
        </p:txBody>
      </p:sp>
      <p:sp>
        <p:nvSpPr>
          <p:cNvPr id="1787089070" name="Shape 6"/>
          <p:cNvSpPr/>
          <p:nvPr/>
        </p:nvSpPr>
        <p:spPr bwMode="auto">
          <a:xfrm>
            <a:off x="7406640" y="45262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0A1520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2052026150" name="Text 7"/>
          <p:cNvSpPr txBox="1"/>
          <p:nvPr/>
        </p:nvSpPr>
        <p:spPr bwMode="auto">
          <a:xfrm>
            <a:off x="7635240" y="46634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9FE3D5"/>
                </a:solidFill>
                <a:latin typeface="Courier New"/>
                <a:ea typeface="Courier New"/>
                <a:cs typeface="Courier New"/>
              </a:rPr>
              <a:t>$ safestore -b notes/ -c -e</a:t>
            </a:r>
            <a:endParaRPr lang="en-US" sz="14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9FE3D5"/>
                </a:solidFill>
                <a:latin typeface="Courier New"/>
                <a:ea typeface="Courier New"/>
                <a:cs typeface="Courier New"/>
              </a:rPr>
              <a:t>$ safestore -l</a:t>
            </a:r>
            <a:endParaRPr lang="en-US" sz="14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400">
                <a:solidFill>
                  <a:srgbClr val="9FE3D5"/>
                </a:solidFill>
                <a:latin typeface="Courier New"/>
                <a:ea typeface="Courier New"/>
                <a:cs typeface="Courier New"/>
              </a:rPr>
              <a:t>$ safestore -r notes/</a:t>
            </a:r>
            <a:endParaRPr lang="en-US" sz="1400"/>
          </a:p>
        </p:txBody>
      </p:sp>
      <p:sp>
        <p:nvSpPr>
          <p:cNvPr id="290138302" name="Text 8"/>
          <p:cNvSpPr txBox="1"/>
          <p:nvPr/>
        </p:nvSpPr>
        <p:spPr bwMode="auto">
          <a:xfrm>
            <a:off x="7406640" y="62179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8FA3B3"/>
                </a:solidFill>
                <a:latin typeface="Calibri"/>
                <a:ea typeface="Calibri"/>
                <a:cs typeface="Calibri"/>
              </a:rPr>
              <a:t>github.com/srikar0006/safestore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399626" name="Text 0"/>
          <p:cNvSpPr txBox="1"/>
          <p:nvPr/>
        </p:nvSpPr>
        <p:spPr bwMode="auto"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rgbClr val="12A58C"/>
                </a:solidFill>
                <a:latin typeface="Arial"/>
                <a:ea typeface="Arial"/>
                <a:cs typeface="Arial"/>
              </a:rPr>
              <a:t>DEVELOPED METHODOLOGY</a:t>
            </a:r>
            <a:endParaRPr lang="en-US" sz="1200"/>
          </a:p>
        </p:txBody>
      </p:sp>
      <p:sp>
        <p:nvSpPr>
          <p:cNvPr id="1910810885" name="Text 1"/>
          <p:cNvSpPr txBox="1"/>
          <p:nvPr/>
        </p:nvSpPr>
        <p:spPr bwMode="auto"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One pipeline, four storage modes</a:t>
            </a:r>
            <a:endParaRPr lang="en-US" sz="3200"/>
          </a:p>
        </p:txBody>
      </p:sp>
      <p:sp>
        <p:nvSpPr>
          <p:cNvPr id="1754224536" name="Shape 2"/>
          <p:cNvSpPr/>
          <p:nvPr/>
        </p:nvSpPr>
        <p:spPr bwMode="auto">
          <a:xfrm>
            <a:off x="54864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20879911" name="Text 3"/>
          <p:cNvSpPr txBox="1"/>
          <p:nvPr/>
        </p:nvSpPr>
        <p:spPr bwMode="auto">
          <a:xfrm>
            <a:off x="68580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1</a:t>
            </a:r>
            <a:endParaRPr lang="en-US" sz="1600"/>
          </a:p>
        </p:txBody>
      </p:sp>
      <p:sp>
        <p:nvSpPr>
          <p:cNvPr id="486580054" name="Text 4"/>
          <p:cNvSpPr txBox="1"/>
          <p:nvPr/>
        </p:nvSpPr>
        <p:spPr bwMode="auto">
          <a:xfrm>
            <a:off x="68580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realpath()</a:t>
            </a:r>
            <a:endParaRPr lang="en-US" sz="1400"/>
          </a:p>
        </p:txBody>
      </p:sp>
      <p:sp>
        <p:nvSpPr>
          <p:cNvPr id="262101864" name="Text 5"/>
          <p:cNvSpPr txBox="1"/>
          <p:nvPr/>
        </p:nvSpPr>
        <p:spPr bwMode="auto">
          <a:xfrm>
            <a:off x="68580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Resolve to an absolute path</a:t>
            </a:r>
            <a:endParaRPr lang="en-US" sz="1200"/>
          </a:p>
        </p:txBody>
      </p:sp>
      <p:sp>
        <p:nvSpPr>
          <p:cNvPr id="730014379" name="Shape 6"/>
          <p:cNvSpPr/>
          <p:nvPr/>
        </p:nvSpPr>
        <p:spPr bwMode="auto">
          <a:xfrm>
            <a:off x="242316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09781681" name="Text 7"/>
          <p:cNvSpPr txBox="1"/>
          <p:nvPr/>
        </p:nvSpPr>
        <p:spPr bwMode="auto">
          <a:xfrm>
            <a:off x="256032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2</a:t>
            </a:r>
            <a:endParaRPr lang="en-US" sz="1600"/>
          </a:p>
        </p:txBody>
      </p:sp>
      <p:sp>
        <p:nvSpPr>
          <p:cNvPr id="228235506" name="Text 8"/>
          <p:cNvSpPr txBox="1"/>
          <p:nvPr/>
        </p:nvSpPr>
        <p:spPr bwMode="auto">
          <a:xfrm>
            <a:off x="256032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sha1(path)</a:t>
            </a:r>
            <a:endParaRPr lang="en-US" sz="1400"/>
          </a:p>
        </p:txBody>
      </p:sp>
      <p:sp>
        <p:nvSpPr>
          <p:cNvPr id="1956309775" name="Text 9"/>
          <p:cNvSpPr txBox="1"/>
          <p:nvPr/>
        </p:nvSpPr>
        <p:spPr bwMode="auto">
          <a:xfrm>
            <a:off x="256032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Bucket name for the file</a:t>
            </a:r>
            <a:endParaRPr lang="en-US" sz="1200"/>
          </a:p>
        </p:txBody>
      </p:sp>
      <p:sp>
        <p:nvSpPr>
          <p:cNvPr id="39052752" name="Shape 10"/>
          <p:cNvSpPr/>
          <p:nvPr/>
        </p:nvSpPr>
        <p:spPr bwMode="auto">
          <a:xfrm>
            <a:off x="429768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812012376" name="Text 11"/>
          <p:cNvSpPr txBox="1"/>
          <p:nvPr/>
        </p:nvSpPr>
        <p:spPr bwMode="auto">
          <a:xfrm>
            <a:off x="443484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3</a:t>
            </a:r>
            <a:endParaRPr lang="en-US" sz="1600"/>
          </a:p>
        </p:txBody>
      </p:sp>
      <p:sp>
        <p:nvSpPr>
          <p:cNvPr id="1737324264" name="Text 12"/>
          <p:cNvSpPr txBox="1"/>
          <p:nvPr/>
        </p:nvSpPr>
        <p:spPr bwMode="auto">
          <a:xfrm>
            <a:off x="443484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timestamp</a:t>
            </a:r>
            <a:endParaRPr lang="en-US" sz="1400"/>
          </a:p>
        </p:txBody>
      </p:sp>
      <p:sp>
        <p:nvSpPr>
          <p:cNvPr id="12464779" name="Text 13"/>
          <p:cNvSpPr txBox="1"/>
          <p:nvPr/>
        </p:nvSpPr>
        <p:spPr bwMode="auto">
          <a:xfrm>
            <a:off x="443484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Snapshot folder YYYYMMDD-HHMMSS</a:t>
            </a:r>
            <a:endParaRPr lang="en-US" sz="1200"/>
          </a:p>
        </p:txBody>
      </p:sp>
      <p:sp>
        <p:nvSpPr>
          <p:cNvPr id="259158909" name="Shape 14"/>
          <p:cNvSpPr/>
          <p:nvPr/>
        </p:nvSpPr>
        <p:spPr bwMode="auto">
          <a:xfrm>
            <a:off x="617220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1762253138" name="Text 15"/>
          <p:cNvSpPr txBox="1"/>
          <p:nvPr/>
        </p:nvSpPr>
        <p:spPr bwMode="auto">
          <a:xfrm>
            <a:off x="630936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B87410"/>
                </a:solidFill>
                <a:latin typeface="Arial"/>
                <a:ea typeface="Arial"/>
                <a:cs typeface="Arial"/>
              </a:rPr>
              <a:t>4</a:t>
            </a:r>
            <a:endParaRPr lang="en-US" sz="1600"/>
          </a:p>
        </p:txBody>
      </p:sp>
      <p:sp>
        <p:nvSpPr>
          <p:cNvPr id="1013329878" name="Text 16"/>
          <p:cNvSpPr txBox="1"/>
          <p:nvPr/>
        </p:nvSpPr>
        <p:spPr bwMode="auto">
          <a:xfrm>
            <a:off x="630936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tar → lz4</a:t>
            </a:r>
            <a:endParaRPr lang="en-US" sz="1400"/>
          </a:p>
        </p:txBody>
      </p:sp>
      <p:sp>
        <p:nvSpPr>
          <p:cNvPr id="536656634" name="Text 17"/>
          <p:cNvSpPr txBox="1"/>
          <p:nvPr/>
        </p:nvSpPr>
        <p:spPr bwMode="auto">
          <a:xfrm>
            <a:off x="630936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Optional, with -c</a:t>
            </a:r>
            <a:endParaRPr lang="en-US" sz="1200"/>
          </a:p>
        </p:txBody>
      </p:sp>
      <p:sp>
        <p:nvSpPr>
          <p:cNvPr id="1209200797" name="Shape 18"/>
          <p:cNvSpPr/>
          <p:nvPr/>
        </p:nvSpPr>
        <p:spPr bwMode="auto">
          <a:xfrm>
            <a:off x="804672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60033692" name="Text 19"/>
          <p:cNvSpPr txBox="1"/>
          <p:nvPr/>
        </p:nvSpPr>
        <p:spPr bwMode="auto">
          <a:xfrm>
            <a:off x="818388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B87410"/>
                </a:solidFill>
                <a:latin typeface="Arial"/>
                <a:ea typeface="Arial"/>
                <a:cs typeface="Arial"/>
              </a:rPr>
              <a:t>5</a:t>
            </a:r>
            <a:endParaRPr lang="en-US" sz="1600"/>
          </a:p>
        </p:txBody>
      </p:sp>
      <p:sp>
        <p:nvSpPr>
          <p:cNvPr id="1244101638" name="Text 20"/>
          <p:cNvSpPr txBox="1"/>
          <p:nvPr/>
        </p:nvSpPr>
        <p:spPr bwMode="auto">
          <a:xfrm>
            <a:off x="818388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AES-256-CBC</a:t>
            </a:r>
            <a:endParaRPr lang="en-US" sz="1400"/>
          </a:p>
        </p:txBody>
      </p:sp>
      <p:sp>
        <p:nvSpPr>
          <p:cNvPr id="738582355" name="Text 21"/>
          <p:cNvSpPr txBox="1"/>
          <p:nvPr/>
        </p:nvSpPr>
        <p:spPr bwMode="auto">
          <a:xfrm>
            <a:off x="818388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Optional, with -e (PBKDF2 + salt)</a:t>
            </a:r>
            <a:endParaRPr lang="en-US" sz="1200"/>
          </a:p>
        </p:txBody>
      </p:sp>
      <p:sp>
        <p:nvSpPr>
          <p:cNvPr id="318568304" name="Shape 22"/>
          <p:cNvSpPr/>
          <p:nvPr/>
        </p:nvSpPr>
        <p:spPr bwMode="auto">
          <a:xfrm>
            <a:off x="9921240" y="1737360"/>
            <a:ext cx="1691640" cy="1325880"/>
          </a:xfrm>
          <a:prstGeom prst="roundRect">
            <a:avLst>
              <a:gd name="adj" fmla="val 827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22963628" name="Text 23"/>
          <p:cNvSpPr txBox="1"/>
          <p:nvPr/>
        </p:nvSpPr>
        <p:spPr bwMode="auto">
          <a:xfrm>
            <a:off x="10058400" y="18470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6</a:t>
            </a:r>
            <a:endParaRPr lang="en-US" sz="1600"/>
          </a:p>
        </p:txBody>
      </p:sp>
      <p:sp>
        <p:nvSpPr>
          <p:cNvPr id="1456297718" name="Text 24"/>
          <p:cNvSpPr txBox="1"/>
          <p:nvPr/>
        </p:nvSpPr>
        <p:spPr bwMode="auto">
          <a:xfrm>
            <a:off x="10058400" y="21762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file.csv</a:t>
            </a:r>
            <a:endParaRPr lang="en-US" sz="1400"/>
          </a:p>
        </p:txBody>
      </p:sp>
      <p:sp>
        <p:nvSpPr>
          <p:cNvPr id="370838815" name="Text 25"/>
          <p:cNvSpPr txBox="1"/>
          <p:nvPr/>
        </p:nvSpPr>
        <p:spPr bwMode="auto">
          <a:xfrm>
            <a:off x="10058400" y="25237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Append timestamp, path, hash</a:t>
            </a:r>
            <a:endParaRPr lang="en-US" sz="1200"/>
          </a:p>
        </p:txBody>
      </p:sp>
      <p:graphicFrame>
        <p:nvGraphicFramePr>
          <p:cNvPr id="83711869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3429000"/>
          <a:ext cx="69494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37360"/>
                <a:gridCol w="2377440"/>
                <a:gridCol w="2834640"/>
              </a:tblGrid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Flags</a:t>
                      </a:r>
                      <a:endParaRPr lang="en-US"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Stored as</a:t>
                      </a:r>
                      <a:endParaRPr lang="en-US"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Best for</a:t>
                      </a:r>
                      <a:endParaRPr lang="en-US" sz="13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-b path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path/  (plain cp -r)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Instant, hand-restorable copies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-b path -c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path.tar.lz4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Text, code, logs (space saving)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-b path -e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path.tar.enc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Sensitive, already-compressed data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</a:tr>
              <a:tr h="42062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-b path -c -e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D2A36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path.tar.lz4.enc</a:t>
                      </a:r>
                      <a:endParaRPr lang="en-US" sz="120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Sensitive text that leaves the machine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35223246" name="Shape 26"/>
          <p:cNvSpPr/>
          <p:nvPr/>
        </p:nvSpPr>
        <p:spPr bwMode="auto">
          <a:xfrm>
            <a:off x="7863840" y="342900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0F1C2B"/>
          </a:solidFill>
          <a:ln w="12700">
            <a:solidFill>
              <a:srgbClr val="0F1C2B"/>
            </a:solidFill>
            <a:prstDash val="solid"/>
          </a:ln>
        </p:spPr>
      </p:sp>
      <p:sp>
        <p:nvSpPr>
          <p:cNvPr id="1865087255" name="Text 27"/>
          <p:cNvSpPr txBox="1"/>
          <p:nvPr/>
        </p:nvSpPr>
        <p:spPr bwMode="auto">
          <a:xfrm>
            <a:off x="80924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2A93B"/>
                </a:solidFill>
                <a:latin typeface="Courier New"/>
                <a:ea typeface="Courier New"/>
                <a:cs typeface="Courier New"/>
              </a:rPr>
              <a:t>~/.local/share/safestore/</a:t>
            </a:r>
            <a:endParaRPr lang="en-US" sz="1200"/>
          </a:p>
        </p:txBody>
      </p:sp>
      <p:sp>
        <p:nvSpPr>
          <p:cNvPr id="180904641" name="Text 28"/>
          <p:cNvSpPr txBox="1"/>
          <p:nvPr/>
        </p:nvSpPr>
        <p:spPr bwMode="auto">
          <a:xfrm>
            <a:off x="8092440" y="3931920"/>
            <a:ext cx="3383280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Backup/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 └─ &lt;sha1 of path&gt;/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     ├─ 20260916-010747/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     │   └─ notes/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     └─ 20260916-010751/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         └─ notes.tar.lz4.enc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>
                <a:solidFill>
                  <a:srgbClr val="CFE3E0"/>
                </a:solidFill>
                <a:latin typeface="Courier New"/>
                <a:ea typeface="Courier New"/>
                <a:cs typeface="Courier New"/>
              </a:rPr>
              <a:t>file.csv</a:t>
            </a:r>
            <a:endParaRPr lang="en-US" sz="1200"/>
          </a:p>
        </p:txBody>
      </p:sp>
      <p:sp>
        <p:nvSpPr>
          <p:cNvPr id="711224794" name="Text 29"/>
          <p:cNvSpPr txBox="1"/>
          <p:nvPr/>
        </p:nvSpPr>
        <p:spPr bwMode="auto">
          <a:xfrm>
            <a:off x="548640" y="5897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Amber steps are optional and composable; restore reverses the pipeline automatically.</a:t>
            </a:r>
            <a:endParaRPr lang="en-US" sz="1300"/>
          </a:p>
        </p:txBody>
      </p:sp>
      <p:sp>
        <p:nvSpPr>
          <p:cNvPr id="865629476" name="Text 30"/>
          <p:cNvSpPr txBox="1"/>
          <p:nvPr/>
        </p:nvSpPr>
        <p:spPr bwMode="auto">
          <a:xfrm>
            <a:off x="8869680" y="6419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SafeStore  ·  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914495" name="Text 0"/>
          <p:cNvSpPr txBox="1"/>
          <p:nvPr/>
        </p:nvSpPr>
        <p:spPr bwMode="auto"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rgbClr val="12A58C"/>
                </a:solidFill>
                <a:latin typeface="Arial"/>
                <a:ea typeface="Arial"/>
                <a:cs typeface="Arial"/>
              </a:rPr>
              <a:t>CRITERION 1  ·  NOVELTY OF DEVELOPED METHODOLOGY</a:t>
            </a:r>
            <a:endParaRPr lang="en-US" sz="1200"/>
          </a:p>
        </p:txBody>
      </p:sp>
      <p:sp>
        <p:nvSpPr>
          <p:cNvPr id="2091397196" name="Text 1"/>
          <p:cNvSpPr txBox="1"/>
          <p:nvPr/>
        </p:nvSpPr>
        <p:spPr bwMode="auto"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What is new in SafeStore's approach</a:t>
            </a:r>
            <a:endParaRPr lang="en-US" sz="3200"/>
          </a:p>
        </p:txBody>
      </p:sp>
      <p:sp>
        <p:nvSpPr>
          <p:cNvPr id="1659474104" name="Shape 2"/>
          <p:cNvSpPr/>
          <p:nvPr/>
        </p:nvSpPr>
        <p:spPr bwMode="auto">
          <a:xfrm>
            <a:off x="548640" y="1645920"/>
            <a:ext cx="548640" cy="54864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89375307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1783080"/>
            <a:ext cx="274320" cy="274320"/>
          </a:xfrm>
          <a:prstGeom prst="rect">
            <a:avLst/>
          </a:prstGeom>
        </p:spPr>
      </p:pic>
      <p:sp>
        <p:nvSpPr>
          <p:cNvPr id="1407186377" name="Text 3"/>
          <p:cNvSpPr txBox="1"/>
          <p:nvPr/>
        </p:nvSpPr>
        <p:spPr bwMode="auto">
          <a:xfrm>
            <a:off x="1280160" y="16002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Path-hash version buckets</a:t>
            </a:r>
            <a:endParaRPr lang="en-US" sz="1600"/>
          </a:p>
        </p:txBody>
      </p:sp>
      <p:sp>
        <p:nvSpPr>
          <p:cNvPr id="1240154337" name="Text 4"/>
          <p:cNvSpPr txBox="1"/>
          <p:nvPr/>
        </p:nvSpPr>
        <p:spPr bwMode="auto">
          <a:xfrm>
            <a:off x="1280160" y="19293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Every version of a path lives under sha1(abspath)/timestamp, so history is grouped without any database or index.</a:t>
            </a:r>
            <a:endParaRPr lang="en-US" sz="1300"/>
          </a:p>
        </p:txBody>
      </p:sp>
      <p:sp>
        <p:nvSpPr>
          <p:cNvPr id="2032390111" name="Shape 5"/>
          <p:cNvSpPr/>
          <p:nvPr/>
        </p:nvSpPr>
        <p:spPr bwMode="auto">
          <a:xfrm>
            <a:off x="548640" y="2578608"/>
            <a:ext cx="548640" cy="54864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70905139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5800" y="2715768"/>
            <a:ext cx="274320" cy="274320"/>
          </a:xfrm>
          <a:prstGeom prst="rect">
            <a:avLst/>
          </a:prstGeom>
        </p:spPr>
      </p:pic>
      <p:sp>
        <p:nvSpPr>
          <p:cNvPr id="1208901049" name="Text 6"/>
          <p:cNvSpPr txBox="1"/>
          <p:nvPr/>
        </p:nvSpPr>
        <p:spPr bwMode="auto">
          <a:xfrm>
            <a:off x="1280160" y="2532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Self-describing restore</a:t>
            </a:r>
            <a:endParaRPr lang="en-US" sz="1600"/>
          </a:p>
        </p:txBody>
      </p:sp>
      <p:sp>
        <p:nvSpPr>
          <p:cNvPr id="579752325" name="Text 7"/>
          <p:cNvSpPr txBox="1"/>
          <p:nvPr/>
        </p:nvSpPr>
        <p:spPr bwMode="auto">
          <a:xfrm>
            <a:off x="128016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Restore probes file suffixes (.tar.lz4.enc → .tar.enc → .tar.lz4 → .tar → plain) and rebuilds the reverse pipeline with no stored metadata.</a:t>
            </a:r>
            <a:endParaRPr lang="en-US" sz="1300"/>
          </a:p>
        </p:txBody>
      </p:sp>
      <p:sp>
        <p:nvSpPr>
          <p:cNvPr id="1986443153" name="Shape 8"/>
          <p:cNvSpPr/>
          <p:nvPr/>
        </p:nvSpPr>
        <p:spPr bwMode="auto">
          <a:xfrm>
            <a:off x="548640" y="3511296"/>
            <a:ext cx="548640" cy="54864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206299836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5800" y="3648456"/>
            <a:ext cx="274320" cy="274320"/>
          </a:xfrm>
          <a:prstGeom prst="rect">
            <a:avLst/>
          </a:prstGeom>
        </p:spPr>
      </p:pic>
      <p:sp>
        <p:nvSpPr>
          <p:cNvPr id="1095471365" name="Text 9"/>
          <p:cNvSpPr txBox="1"/>
          <p:nvPr/>
        </p:nvSpPr>
        <p:spPr bwMode="auto">
          <a:xfrm>
            <a:off x="1280160" y="34655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Interactive snapshot picker</a:t>
            </a:r>
            <a:endParaRPr lang="en-US" sz="1600"/>
          </a:p>
        </p:txBody>
      </p:sp>
      <p:sp>
        <p:nvSpPr>
          <p:cNvPr id="441163194" name="Text 10"/>
          <p:cNvSpPr txBox="1"/>
          <p:nvPr/>
        </p:nvSpPr>
        <p:spPr bwMode="auto">
          <a:xfrm>
            <a:off x="128016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fzf lists every snapshot newest-first; the user selects one visually instead of typing IDs.</a:t>
            </a:r>
            <a:endParaRPr lang="en-US" sz="1300"/>
          </a:p>
        </p:txBody>
      </p:sp>
      <p:sp>
        <p:nvSpPr>
          <p:cNvPr id="1353002940" name="Shape 11"/>
          <p:cNvSpPr/>
          <p:nvPr/>
        </p:nvSpPr>
        <p:spPr bwMode="auto">
          <a:xfrm>
            <a:off x="548640" y="4443984"/>
            <a:ext cx="548640" cy="54864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21502566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85800" y="4581144"/>
            <a:ext cx="274320" cy="274320"/>
          </a:xfrm>
          <a:prstGeom prst="rect">
            <a:avLst/>
          </a:prstGeom>
        </p:spPr>
      </p:pic>
      <p:sp>
        <p:nvSpPr>
          <p:cNvPr id="1903618038" name="Text 12"/>
          <p:cNvSpPr txBox="1"/>
          <p:nvPr/>
        </p:nvSpPr>
        <p:spPr bwMode="auto">
          <a:xfrm>
            <a:off x="1280160" y="43982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Restore even after deletion</a:t>
            </a:r>
            <a:endParaRPr lang="en-US" sz="1600"/>
          </a:p>
        </p:txBody>
      </p:sp>
      <p:sp>
        <p:nvSpPr>
          <p:cNvPr id="2045750378" name="Text 13"/>
          <p:cNvSpPr txBox="1"/>
          <p:nvPr/>
        </p:nvSpPr>
        <p:spPr bwMode="auto">
          <a:xfrm>
            <a:off x="1280160" y="4727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resolve_abspath() rebuilds the original path when the file no longer exists, which is exactly when restore is needed.</a:t>
            </a:r>
            <a:endParaRPr lang="en-US" sz="1300"/>
          </a:p>
        </p:txBody>
      </p:sp>
      <p:sp>
        <p:nvSpPr>
          <p:cNvPr id="1445491925" name="Shape 14"/>
          <p:cNvSpPr/>
          <p:nvPr/>
        </p:nvSpPr>
        <p:spPr bwMode="auto">
          <a:xfrm>
            <a:off x="548640" y="5376672"/>
            <a:ext cx="548640" cy="54864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651593627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85800" y="5513832"/>
            <a:ext cx="274320" cy="274320"/>
          </a:xfrm>
          <a:prstGeom prst="rect">
            <a:avLst/>
          </a:prstGeom>
        </p:spPr>
      </p:pic>
      <p:sp>
        <p:nvSpPr>
          <p:cNvPr id="15967462" name="Text 15"/>
          <p:cNvSpPr txBox="1"/>
          <p:nvPr/>
        </p:nvSpPr>
        <p:spPr bwMode="auto">
          <a:xfrm>
            <a:off x="1280160" y="5330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Human-readable CSV ledger</a:t>
            </a:r>
            <a:endParaRPr lang="en-US" sz="1600"/>
          </a:p>
        </p:txBody>
      </p:sp>
      <p:sp>
        <p:nvSpPr>
          <p:cNvPr id="1357789273" name="Text 16"/>
          <p:cNvSpPr txBox="1"/>
          <p:nvPr/>
        </p:nvSpPr>
        <p:spPr bwMode="auto">
          <a:xfrm>
            <a:off x="1280160" y="56601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The backup log opens in any spreadsheet or grep, unlike the binary repositories of Borg or restic.</a:t>
            </a:r>
            <a:endParaRPr lang="en-US" sz="1300"/>
          </a:p>
        </p:txBody>
      </p:sp>
      <p:sp>
        <p:nvSpPr>
          <p:cNvPr id="1859305210" name="Text 17"/>
          <p:cNvSpPr txBox="1"/>
          <p:nvPr/>
        </p:nvSpPr>
        <p:spPr bwMode="auto">
          <a:xfrm>
            <a:off x="685800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Positioning against existing tools</a:t>
            </a:r>
            <a:endParaRPr lang="en-US" sz="1400"/>
          </a:p>
        </p:txBody>
      </p:sp>
      <p:graphicFrame>
        <p:nvGraphicFramePr>
          <p:cNvPr id="136254315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858000" y="2011680"/>
          <a:ext cx="475488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80160"/>
                <a:gridCol w="822960"/>
                <a:gridCol w="868680"/>
                <a:gridCol w="914400"/>
                <a:gridCol w="868680"/>
              </a:tblGrid>
              <a:tr h="45720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</a:t>
                      </a:r>
                      <a:endParaRPr lang="en-US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Zero setup</a:t>
                      </a:r>
                      <a:endParaRPr lang="en-US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Opt. crypt</a:t>
                      </a:r>
                      <a:endParaRPr lang="en-US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Plain-file store</a:t>
                      </a:r>
                      <a:endParaRPr lang="en-US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Pick-list restore</a:t>
                      </a:r>
                      <a:endParaRPr lang="en-US"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0F1C2B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SafeStore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E0F3E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E0F3E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E0F3E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E0F3E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E0F3E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rsync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Borg / restic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Timeshift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D2A36"/>
                          </a:solidFill>
                          <a:latin typeface="Calibri"/>
                          <a:ea typeface="Calibri"/>
                          <a:cs typeface="Calibri"/>
                        </a:rPr>
                        <a:t>Duplicity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2A58C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>
                          <a:solidFill>
                            <a:srgbClr val="9AA7B2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algn="ctr">
                      <a:solidFill>
                        <a:srgbClr val="D5DEE3"/>
                      </a:solidFill>
                    </a:lnL>
                    <a:lnR w="6350" algn="ctr">
                      <a:solidFill>
                        <a:srgbClr val="D5DEE3"/>
                      </a:solidFill>
                    </a:lnR>
                    <a:lnT w="6350" algn="ctr">
                      <a:solidFill>
                        <a:srgbClr val="D5DEE3"/>
                      </a:solidFill>
                    </a:lnT>
                    <a:lnB w="6350" algn="ctr">
                      <a:solidFill>
                        <a:srgbClr val="D5DE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0108133" name="Text 18"/>
          <p:cNvSpPr txBox="1"/>
          <p:nvPr/>
        </p:nvSpPr>
        <p:spPr bwMode="auto">
          <a:xfrm>
            <a:off x="685800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“Zero setup” = no repository init, config file or daemon. Timeshift pick-list is GUI-based. Borg/restic are stronger on deduplication, which SafeStore does not attempt.</a:t>
            </a:r>
            <a:endParaRPr lang="en-US" sz="1100"/>
          </a:p>
        </p:txBody>
      </p:sp>
      <p:sp>
        <p:nvSpPr>
          <p:cNvPr id="805874598" name="Text 19"/>
          <p:cNvSpPr txBox="1"/>
          <p:nvPr/>
        </p:nvSpPr>
        <p:spPr bwMode="auto">
          <a:xfrm>
            <a:off x="8869680" y="6419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SafeStore  ·  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477533" name="Text 0"/>
          <p:cNvSpPr txBox="1"/>
          <p:nvPr/>
        </p:nvSpPr>
        <p:spPr bwMode="auto"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rgbClr val="12A58C"/>
                </a:solidFill>
                <a:latin typeface="Arial"/>
                <a:ea typeface="Arial"/>
                <a:cs typeface="Arial"/>
              </a:rPr>
              <a:t>CRITERION 2  ·  ADAPTABILITY OF METHODOLOGY</a:t>
            </a:r>
            <a:endParaRPr lang="en-US" sz="1200"/>
          </a:p>
        </p:txBody>
      </p:sp>
      <p:sp>
        <p:nvSpPr>
          <p:cNvPr id="621259909" name="Text 1"/>
          <p:cNvSpPr txBox="1"/>
          <p:nvPr/>
        </p:nvSpPr>
        <p:spPr bwMode="auto"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Built to be swapped, extended and reused</a:t>
            </a:r>
            <a:endParaRPr lang="en-US" sz="3200"/>
          </a:p>
        </p:txBody>
      </p:sp>
      <p:sp>
        <p:nvSpPr>
          <p:cNvPr id="935278186" name="Text 2"/>
          <p:cNvSpPr txBox="1"/>
          <p:nvPr/>
        </p:nvSpPr>
        <p:spPr bwMode="auto"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8 single-purpose modules, each behind a .h interface</a:t>
            </a:r>
            <a:endParaRPr lang="en-US" sz="1400"/>
          </a:p>
        </p:txBody>
      </p:sp>
      <p:sp>
        <p:nvSpPr>
          <p:cNvPr id="478901988" name="Shape 3"/>
          <p:cNvSpPr/>
          <p:nvPr/>
        </p:nvSpPr>
        <p:spPr bwMode="auto">
          <a:xfrm>
            <a:off x="548640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856407210" name="Text 4"/>
          <p:cNvSpPr txBox="1"/>
          <p:nvPr/>
        </p:nvSpPr>
        <p:spPr bwMode="auto">
          <a:xfrm>
            <a:off x="731520" y="2084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main.c</a:t>
            </a:r>
            <a:endParaRPr lang="en-US" sz="1300"/>
          </a:p>
        </p:txBody>
      </p:sp>
      <p:sp>
        <p:nvSpPr>
          <p:cNvPr id="1579847713" name="Text 5"/>
          <p:cNvSpPr txBox="1"/>
          <p:nvPr/>
        </p:nvSpPr>
        <p:spPr bwMode="auto">
          <a:xfrm>
            <a:off x="73152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CLI parsing</a:t>
            </a:r>
            <a:endParaRPr lang="en-US" sz="1200"/>
          </a:p>
        </p:txBody>
      </p:sp>
      <p:sp>
        <p:nvSpPr>
          <p:cNvPr id="647131036" name="Shape 6"/>
          <p:cNvSpPr/>
          <p:nvPr/>
        </p:nvSpPr>
        <p:spPr bwMode="auto">
          <a:xfrm>
            <a:off x="3337560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48958907" name="Text 7"/>
          <p:cNvSpPr txBox="1"/>
          <p:nvPr/>
        </p:nvSpPr>
        <p:spPr bwMode="auto">
          <a:xfrm>
            <a:off x="3520440" y="2084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backup.c</a:t>
            </a:r>
            <a:endParaRPr lang="en-US" sz="1300"/>
          </a:p>
        </p:txBody>
      </p:sp>
      <p:sp>
        <p:nvSpPr>
          <p:cNvPr id="1679544541" name="Text 8"/>
          <p:cNvSpPr txBox="1"/>
          <p:nvPr/>
        </p:nvSpPr>
        <p:spPr bwMode="auto">
          <a:xfrm>
            <a:off x="352044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Backup pipeline</a:t>
            </a:r>
            <a:endParaRPr lang="en-US" sz="1200"/>
          </a:p>
        </p:txBody>
      </p:sp>
      <p:sp>
        <p:nvSpPr>
          <p:cNvPr id="1979055457" name="Shape 9"/>
          <p:cNvSpPr/>
          <p:nvPr/>
        </p:nvSpPr>
        <p:spPr bwMode="auto">
          <a:xfrm>
            <a:off x="548640" y="2852928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089227914" name="Text 10"/>
          <p:cNvSpPr txBox="1"/>
          <p:nvPr/>
        </p:nvSpPr>
        <p:spPr bwMode="auto">
          <a:xfrm>
            <a:off x="73152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restore.c</a:t>
            </a:r>
            <a:endParaRPr lang="en-US" sz="1300"/>
          </a:p>
        </p:txBody>
      </p:sp>
      <p:sp>
        <p:nvSpPr>
          <p:cNvPr id="127212802" name="Text 11"/>
          <p:cNvSpPr txBox="1"/>
          <p:nvPr/>
        </p:nvSpPr>
        <p:spPr bwMode="auto">
          <a:xfrm>
            <a:off x="73152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Restore pipeline</a:t>
            </a:r>
            <a:endParaRPr lang="en-US" sz="1200"/>
          </a:p>
        </p:txBody>
      </p:sp>
      <p:sp>
        <p:nvSpPr>
          <p:cNvPr id="235401148" name="Shape 12"/>
          <p:cNvSpPr/>
          <p:nvPr/>
        </p:nvSpPr>
        <p:spPr bwMode="auto">
          <a:xfrm>
            <a:off x="3337560" y="2852928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03302376" name="Text 13"/>
          <p:cNvSpPr txBox="1"/>
          <p:nvPr/>
        </p:nvSpPr>
        <p:spPr bwMode="auto">
          <a:xfrm>
            <a:off x="352044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list.c</a:t>
            </a:r>
            <a:endParaRPr lang="en-US" sz="1300"/>
          </a:p>
        </p:txBody>
      </p:sp>
      <p:sp>
        <p:nvSpPr>
          <p:cNvPr id="1547077379" name="Text 14"/>
          <p:cNvSpPr txBox="1"/>
          <p:nvPr/>
        </p:nvSpPr>
        <p:spPr bwMode="auto">
          <a:xfrm>
            <a:off x="352044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History view</a:t>
            </a:r>
            <a:endParaRPr lang="en-US" sz="1200"/>
          </a:p>
        </p:txBody>
      </p:sp>
      <p:sp>
        <p:nvSpPr>
          <p:cNvPr id="1736944094" name="Shape 15"/>
          <p:cNvSpPr/>
          <p:nvPr/>
        </p:nvSpPr>
        <p:spPr bwMode="auto">
          <a:xfrm>
            <a:off x="548640" y="3694176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1387750787" name="Text 16"/>
          <p:cNvSpPr txBox="1"/>
          <p:nvPr/>
        </p:nvSpPr>
        <p:spPr bwMode="auto">
          <a:xfrm>
            <a:off x="73152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compress.c</a:t>
            </a:r>
            <a:endParaRPr lang="en-US" sz="1300"/>
          </a:p>
        </p:txBody>
      </p:sp>
      <p:sp>
        <p:nvSpPr>
          <p:cNvPr id="65961501" name="Text 17"/>
          <p:cNvSpPr txBox="1"/>
          <p:nvPr/>
        </p:nvSpPr>
        <p:spPr bwMode="auto">
          <a:xfrm>
            <a:off x="73152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tar + lz4</a:t>
            </a:r>
            <a:endParaRPr lang="en-US" sz="1200"/>
          </a:p>
        </p:txBody>
      </p:sp>
      <p:sp>
        <p:nvSpPr>
          <p:cNvPr id="2027660694" name="Shape 18"/>
          <p:cNvSpPr/>
          <p:nvPr/>
        </p:nvSpPr>
        <p:spPr bwMode="auto">
          <a:xfrm>
            <a:off x="3337560" y="3694176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985478347" name="Text 19"/>
          <p:cNvSpPr txBox="1"/>
          <p:nvPr/>
        </p:nvSpPr>
        <p:spPr bwMode="auto">
          <a:xfrm>
            <a:off x="352044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encrypt.c</a:t>
            </a:r>
            <a:endParaRPr lang="en-US" sz="1300"/>
          </a:p>
        </p:txBody>
      </p:sp>
      <p:sp>
        <p:nvSpPr>
          <p:cNvPr id="564140866" name="Text 20"/>
          <p:cNvSpPr txBox="1"/>
          <p:nvPr/>
        </p:nvSpPr>
        <p:spPr bwMode="auto">
          <a:xfrm>
            <a:off x="352044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AES-256 / PBKDF2</a:t>
            </a:r>
            <a:endParaRPr lang="en-US" sz="1200"/>
          </a:p>
        </p:txBody>
      </p:sp>
      <p:sp>
        <p:nvSpPr>
          <p:cNvPr id="2003975302" name="Shape 21"/>
          <p:cNvSpPr/>
          <p:nvPr/>
        </p:nvSpPr>
        <p:spPr bwMode="auto">
          <a:xfrm>
            <a:off x="548640" y="4535424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1617773016" name="Text 22"/>
          <p:cNvSpPr txBox="1"/>
          <p:nvPr/>
        </p:nvSpPr>
        <p:spPr bwMode="auto">
          <a:xfrm>
            <a:off x="731520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hash.c</a:t>
            </a:r>
            <a:endParaRPr lang="en-US" sz="1300"/>
          </a:p>
        </p:txBody>
      </p:sp>
      <p:sp>
        <p:nvSpPr>
          <p:cNvPr id="461601065" name="Text 23"/>
          <p:cNvSpPr txBox="1"/>
          <p:nvPr/>
        </p:nvSpPr>
        <p:spPr bwMode="auto">
          <a:xfrm>
            <a:off x="731520" y="4901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SHA-1 bucketing</a:t>
            </a:r>
            <a:endParaRPr lang="en-US" sz="1200"/>
          </a:p>
        </p:txBody>
      </p:sp>
      <p:sp>
        <p:nvSpPr>
          <p:cNvPr id="1491856579" name="Shape 24"/>
          <p:cNvSpPr/>
          <p:nvPr/>
        </p:nvSpPr>
        <p:spPr bwMode="auto">
          <a:xfrm>
            <a:off x="3337560" y="4535424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1111223112" name="Text 25"/>
          <p:cNvSpPr txBox="1"/>
          <p:nvPr/>
        </p:nvSpPr>
        <p:spPr bwMode="auto">
          <a:xfrm>
            <a:off x="3520440" y="4608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1C2B"/>
                </a:solidFill>
                <a:latin typeface="Courier New"/>
                <a:ea typeface="Courier New"/>
                <a:cs typeface="Courier New"/>
              </a:rPr>
              <a:t>fsutil.c</a:t>
            </a:r>
            <a:endParaRPr lang="en-US" sz="1300"/>
          </a:p>
        </p:txBody>
      </p:sp>
      <p:sp>
        <p:nvSpPr>
          <p:cNvPr id="1981399188" name="Text 26"/>
          <p:cNvSpPr txBox="1"/>
          <p:nvPr/>
        </p:nvSpPr>
        <p:spPr bwMode="auto">
          <a:xfrm>
            <a:off x="3520440" y="4901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mkdir -p, copy</a:t>
            </a:r>
            <a:endParaRPr lang="en-US" sz="1200"/>
          </a:p>
        </p:txBody>
      </p:sp>
      <p:sp>
        <p:nvSpPr>
          <p:cNvPr id="2129710424" name="Text 27"/>
          <p:cNvSpPr txBox="1"/>
          <p:nvPr/>
        </p:nvSpPr>
        <p:spPr bwMode="auto"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Amber modules are the swappable back-ends.</a:t>
            </a:r>
            <a:endParaRPr lang="en-US" sz="1200"/>
          </a:p>
        </p:txBody>
      </p:sp>
      <p:sp>
        <p:nvSpPr>
          <p:cNvPr id="1194734143" name="Shape 28"/>
          <p:cNvSpPr/>
          <p:nvPr/>
        </p:nvSpPr>
        <p:spPr bwMode="auto">
          <a:xfrm>
            <a:off x="6492240" y="1600200"/>
            <a:ext cx="530352" cy="530352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1770305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24828" y="1732788"/>
            <a:ext cx="265176" cy="265176"/>
          </a:xfrm>
          <a:prstGeom prst="rect">
            <a:avLst/>
          </a:prstGeom>
        </p:spPr>
      </p:pic>
      <p:sp>
        <p:nvSpPr>
          <p:cNvPr id="324624473" name="Text 29"/>
          <p:cNvSpPr txBox="1"/>
          <p:nvPr/>
        </p:nvSpPr>
        <p:spPr bwMode="auto">
          <a:xfrm>
            <a:off x="7178039" y="15544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Per-backup choice</a:t>
            </a:r>
            <a:endParaRPr lang="en-US" sz="1500"/>
          </a:p>
        </p:txBody>
      </p:sp>
      <p:sp>
        <p:nvSpPr>
          <p:cNvPr id="110131597" name="Text 30"/>
          <p:cNvSpPr txBox="1"/>
          <p:nvPr/>
        </p:nvSpPr>
        <p:spPr bwMode="auto">
          <a:xfrm>
            <a:off x="7178039" y="18653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Users pick speed, size or secrecy per run with -c and -e; no global config to change.</a:t>
            </a:r>
            <a:endParaRPr lang="en-US" sz="1300"/>
          </a:p>
        </p:txBody>
      </p:sp>
      <p:sp>
        <p:nvSpPr>
          <p:cNvPr id="1689935500" name="Shape 31"/>
          <p:cNvSpPr/>
          <p:nvPr/>
        </p:nvSpPr>
        <p:spPr bwMode="auto">
          <a:xfrm>
            <a:off x="6492240" y="2532888"/>
            <a:ext cx="530352" cy="530352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83159643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24828" y="2665476"/>
            <a:ext cx="265176" cy="265176"/>
          </a:xfrm>
          <a:prstGeom prst="rect">
            <a:avLst/>
          </a:prstGeom>
        </p:spPr>
      </p:pic>
      <p:sp>
        <p:nvSpPr>
          <p:cNvPr id="595208111" name="Text 32"/>
          <p:cNvSpPr txBox="1"/>
          <p:nvPr/>
        </p:nvSpPr>
        <p:spPr bwMode="auto">
          <a:xfrm>
            <a:off x="7178039" y="24871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Swappable back-ends</a:t>
            </a:r>
            <a:endParaRPr lang="en-US" sz="1500"/>
          </a:p>
        </p:txBody>
      </p:sp>
      <p:sp>
        <p:nvSpPr>
          <p:cNvPr id="1074648370" name="Text 33"/>
          <p:cNvSpPr txBox="1"/>
          <p:nvPr/>
        </p:nvSpPr>
        <p:spPr bwMode="auto">
          <a:xfrm>
            <a:off x="7178039" y="27980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lz4 → zstd, or AES-CBC → AES-GCM, is a one-line change in compress.c or encrypt.c.</a:t>
            </a:r>
            <a:endParaRPr lang="en-US" sz="1300"/>
          </a:p>
        </p:txBody>
      </p:sp>
      <p:sp>
        <p:nvSpPr>
          <p:cNvPr id="529238715" name="Shape 34"/>
          <p:cNvSpPr/>
          <p:nvPr/>
        </p:nvSpPr>
        <p:spPr bwMode="auto">
          <a:xfrm>
            <a:off x="6492240" y="3465576"/>
            <a:ext cx="530352" cy="530352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80002542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624828" y="3598164"/>
            <a:ext cx="265176" cy="265176"/>
          </a:xfrm>
          <a:prstGeom prst="rect">
            <a:avLst/>
          </a:prstGeom>
        </p:spPr>
      </p:pic>
      <p:sp>
        <p:nvSpPr>
          <p:cNvPr id="927365227" name="Text 35"/>
          <p:cNvSpPr txBox="1"/>
          <p:nvPr/>
        </p:nvSpPr>
        <p:spPr bwMode="auto">
          <a:xfrm>
            <a:off x="7178039" y="34198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Files or whole folders</a:t>
            </a:r>
            <a:endParaRPr lang="en-US" sz="1500"/>
          </a:p>
        </p:txBody>
      </p:sp>
      <p:sp>
        <p:nvSpPr>
          <p:cNvPr id="1981157537" name="Text 36"/>
          <p:cNvSpPr txBox="1"/>
          <p:nvPr/>
        </p:nvSpPr>
        <p:spPr bwMode="auto">
          <a:xfrm>
            <a:off x="7178039" y="37307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The same command handles a single note, a project tree, or a config directory.</a:t>
            </a:r>
            <a:endParaRPr lang="en-US" sz="1300"/>
          </a:p>
        </p:txBody>
      </p:sp>
      <p:sp>
        <p:nvSpPr>
          <p:cNvPr id="2082436180" name="Shape 37"/>
          <p:cNvSpPr/>
          <p:nvPr/>
        </p:nvSpPr>
        <p:spPr bwMode="auto">
          <a:xfrm>
            <a:off x="6492240" y="4398264"/>
            <a:ext cx="530352" cy="530352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89044487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24828" y="4530852"/>
            <a:ext cx="265176" cy="265176"/>
          </a:xfrm>
          <a:prstGeom prst="rect">
            <a:avLst/>
          </a:prstGeom>
        </p:spPr>
      </p:pic>
      <p:sp>
        <p:nvSpPr>
          <p:cNvPr id="1714418845" name="Text 38"/>
          <p:cNvSpPr txBox="1"/>
          <p:nvPr/>
        </p:nvSpPr>
        <p:spPr bwMode="auto">
          <a:xfrm>
            <a:off x="7178039" y="43525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Portable foundation</a:t>
            </a:r>
            <a:endParaRPr lang="en-US" sz="1500"/>
          </a:p>
        </p:txBody>
      </p:sp>
      <p:sp>
        <p:nvSpPr>
          <p:cNvPr id="922999640" name="Text 39"/>
          <p:cNvSpPr txBox="1"/>
          <p:nvPr/>
        </p:nvSpPr>
        <p:spPr bwMode="auto">
          <a:xfrm>
            <a:off x="7178039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Only standard tools (tar, lz4, openssl, sha1sum, fzf); runs on Linux and WSL.</a:t>
            </a:r>
            <a:endParaRPr lang="en-US" sz="1300"/>
          </a:p>
        </p:txBody>
      </p:sp>
      <p:sp>
        <p:nvSpPr>
          <p:cNvPr id="293178107" name="Shape 40"/>
          <p:cNvSpPr/>
          <p:nvPr/>
        </p:nvSpPr>
        <p:spPr bwMode="auto">
          <a:xfrm>
            <a:off x="6492240" y="5330952"/>
            <a:ext cx="530352" cy="530352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27910250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624828" y="5463539"/>
            <a:ext cx="265176" cy="265176"/>
          </a:xfrm>
          <a:prstGeom prst="rect">
            <a:avLst/>
          </a:prstGeom>
        </p:spPr>
      </p:pic>
      <p:sp>
        <p:nvSpPr>
          <p:cNvPr id="325507904" name="Text 41"/>
          <p:cNvSpPr txBox="1"/>
          <p:nvPr/>
        </p:nvSpPr>
        <p:spPr bwMode="auto">
          <a:xfrm>
            <a:off x="7178039" y="5285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Many user groups</a:t>
            </a:r>
            <a:endParaRPr lang="en-US" sz="1500"/>
          </a:p>
        </p:txBody>
      </p:sp>
      <p:sp>
        <p:nvSpPr>
          <p:cNvPr id="177619830" name="Text 42"/>
          <p:cNvSpPr txBox="1"/>
          <p:nvPr/>
        </p:nvSpPr>
        <p:spPr bwMode="auto">
          <a:xfrm>
            <a:off x="7178039" y="5596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Students' assignments, developers' repos, admins' /etc snapshots before an upgrade.</a:t>
            </a:r>
            <a:endParaRPr lang="en-US" sz="1300"/>
          </a:p>
        </p:txBody>
      </p:sp>
      <p:sp>
        <p:nvSpPr>
          <p:cNvPr id="856281359" name="Text 43"/>
          <p:cNvSpPr txBox="1"/>
          <p:nvPr/>
        </p:nvSpPr>
        <p:spPr bwMode="auto">
          <a:xfrm>
            <a:off x="8869680" y="6419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SafeStore  ·  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46818" name="Text 0"/>
          <p:cNvSpPr txBox="1"/>
          <p:nvPr/>
        </p:nvSpPr>
        <p:spPr bwMode="auto"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300">
                <a:solidFill>
                  <a:srgbClr val="12A58C"/>
                </a:solidFill>
                <a:latin typeface="Arial"/>
                <a:ea typeface="Arial"/>
                <a:cs typeface="Arial"/>
              </a:rPr>
              <a:t>CRITERION 3  ·  DISSEMINATION AND ACCESSIBILITY</a:t>
            </a:r>
            <a:endParaRPr lang="en-US" sz="1200"/>
          </a:p>
        </p:txBody>
      </p:sp>
      <p:sp>
        <p:nvSpPr>
          <p:cNvPr id="1282150967" name="Text 1"/>
          <p:cNvSpPr txBox="1"/>
          <p:nvPr/>
        </p:nvSpPr>
        <p:spPr bwMode="auto"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Easy to get, easy to run, easy to read</a:t>
            </a:r>
            <a:endParaRPr lang="en-US" sz="3200"/>
          </a:p>
        </p:txBody>
      </p:sp>
      <p:sp>
        <p:nvSpPr>
          <p:cNvPr id="1235783752" name="Text 2"/>
          <p:cNvSpPr txBox="1"/>
          <p:nvPr/>
        </p:nvSpPr>
        <p:spPr bwMode="auto"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Available today</a:t>
            </a:r>
            <a:endParaRPr lang="en-US" sz="1600"/>
          </a:p>
        </p:txBody>
      </p:sp>
      <p:sp>
        <p:nvSpPr>
          <p:cNvPr id="771411401" name="Shape 3"/>
          <p:cNvSpPr/>
          <p:nvPr/>
        </p:nvSpPr>
        <p:spPr bwMode="auto">
          <a:xfrm>
            <a:off x="548640" y="2011680"/>
            <a:ext cx="502920" cy="50292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20201434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4370" y="2137410"/>
            <a:ext cx="251460" cy="251460"/>
          </a:xfrm>
          <a:prstGeom prst="rect">
            <a:avLst/>
          </a:prstGeom>
        </p:spPr>
      </p:pic>
      <p:sp>
        <p:nvSpPr>
          <p:cNvPr id="745286768" name="Text 4"/>
          <p:cNvSpPr txBox="1"/>
          <p:nvPr/>
        </p:nvSpPr>
        <p:spPr bwMode="auto">
          <a:xfrm>
            <a:off x="1234440" y="1975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Public GitHub repository</a:t>
            </a:r>
            <a:endParaRPr lang="en-US" sz="1400"/>
          </a:p>
        </p:txBody>
      </p:sp>
      <p:sp>
        <p:nvSpPr>
          <p:cNvPr id="1062028488" name="Text 5"/>
          <p:cNvSpPr txBox="1"/>
          <p:nvPr/>
        </p:nvSpPr>
        <p:spPr bwMode="auto">
          <a:xfrm>
            <a:off x="1234440" y="22677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Source, Makefile, prebuilt binary and review slides in one place.</a:t>
            </a:r>
            <a:endParaRPr lang="en-US" sz="1200"/>
          </a:p>
        </p:txBody>
      </p:sp>
      <p:sp>
        <p:nvSpPr>
          <p:cNvPr id="44003024" name="Shape 6"/>
          <p:cNvSpPr/>
          <p:nvPr/>
        </p:nvSpPr>
        <p:spPr bwMode="auto">
          <a:xfrm>
            <a:off x="548640" y="2834640"/>
            <a:ext cx="502920" cy="50292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65701692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4370" y="2960370"/>
            <a:ext cx="251460" cy="251460"/>
          </a:xfrm>
          <a:prstGeom prst="rect">
            <a:avLst/>
          </a:prstGeom>
        </p:spPr>
      </p:pic>
      <p:sp>
        <p:nvSpPr>
          <p:cNvPr id="1723021079" name="Text 7"/>
          <p:cNvSpPr txBox="1"/>
          <p:nvPr/>
        </p:nvSpPr>
        <p:spPr bwMode="auto">
          <a:xfrm>
            <a:off x="1234440" y="2798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One-command build</a:t>
            </a:r>
            <a:endParaRPr lang="en-US" sz="1400"/>
          </a:p>
        </p:txBody>
      </p:sp>
      <p:sp>
        <p:nvSpPr>
          <p:cNvPr id="2071639026" name="Text 8"/>
          <p:cNvSpPr txBox="1"/>
          <p:nvPr/>
        </p:nvSpPr>
        <p:spPr bwMode="auto">
          <a:xfrm>
            <a:off x="1234440" y="30906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make produces the binary; no config file, daemon or repository init.</a:t>
            </a:r>
            <a:endParaRPr lang="en-US" sz="1200"/>
          </a:p>
        </p:txBody>
      </p:sp>
      <p:sp>
        <p:nvSpPr>
          <p:cNvPr id="1535061304" name="Shape 9"/>
          <p:cNvSpPr/>
          <p:nvPr/>
        </p:nvSpPr>
        <p:spPr bwMode="auto">
          <a:xfrm>
            <a:off x="548640" y="3657600"/>
            <a:ext cx="502920" cy="50292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96965531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74370" y="3783330"/>
            <a:ext cx="251460" cy="251460"/>
          </a:xfrm>
          <a:prstGeom prst="rect">
            <a:avLst/>
          </a:prstGeom>
        </p:spPr>
      </p:pic>
      <p:sp>
        <p:nvSpPr>
          <p:cNvPr id="365100399" name="Text 10"/>
          <p:cNvSpPr txBox="1"/>
          <p:nvPr/>
        </p:nvSpPr>
        <p:spPr bwMode="auto">
          <a:xfrm>
            <a:off x="1234440" y="36210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Small, readable codebase</a:t>
            </a:r>
            <a:endParaRPr lang="en-US" sz="1400"/>
          </a:p>
        </p:txBody>
      </p:sp>
      <p:sp>
        <p:nvSpPr>
          <p:cNvPr id="869166410" name="Text 11"/>
          <p:cNvSpPr txBox="1"/>
          <p:nvPr/>
        </p:nvSpPr>
        <p:spPr bwMode="auto">
          <a:xfrm>
            <a:off x="1234440" y="3913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About 490 lines of C across 8 modules; auditable in one sitting.</a:t>
            </a:r>
            <a:endParaRPr lang="en-US" sz="1200"/>
          </a:p>
        </p:txBody>
      </p:sp>
      <p:sp>
        <p:nvSpPr>
          <p:cNvPr id="58442666" name="Shape 12"/>
          <p:cNvSpPr/>
          <p:nvPr/>
        </p:nvSpPr>
        <p:spPr bwMode="auto">
          <a:xfrm>
            <a:off x="548640" y="4480560"/>
            <a:ext cx="502920" cy="50292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135316487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74370" y="4606290"/>
            <a:ext cx="251460" cy="251460"/>
          </a:xfrm>
          <a:prstGeom prst="rect">
            <a:avLst/>
          </a:prstGeom>
        </p:spPr>
      </p:pic>
      <p:sp>
        <p:nvSpPr>
          <p:cNvPr id="1669155290" name="Text 13"/>
          <p:cNvSpPr txBox="1"/>
          <p:nvPr/>
        </p:nvSpPr>
        <p:spPr bwMode="auto">
          <a:xfrm>
            <a:off x="1234440" y="44439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Open, standard formats</a:t>
            </a:r>
            <a:endParaRPr lang="en-US" sz="1400"/>
          </a:p>
        </p:txBody>
      </p:sp>
      <p:sp>
        <p:nvSpPr>
          <p:cNvPr id="1275061327" name="Text 14"/>
          <p:cNvSpPr txBox="1"/>
          <p:nvPr/>
        </p:nvSpPr>
        <p:spPr bwMode="auto">
          <a:xfrm>
            <a:off x="1234440" y="4736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Backups are plain folders, .tar, .lz4 or OpenSSL files; the log is CSV.</a:t>
            </a:r>
            <a:endParaRPr lang="en-US" sz="1200"/>
          </a:p>
        </p:txBody>
      </p:sp>
      <p:sp>
        <p:nvSpPr>
          <p:cNvPr id="587573448" name="Shape 15"/>
          <p:cNvSpPr/>
          <p:nvPr/>
        </p:nvSpPr>
        <p:spPr bwMode="auto">
          <a:xfrm>
            <a:off x="548640" y="5303520"/>
            <a:ext cx="502920" cy="502920"/>
          </a:xfrm>
          <a:prstGeom prst="ellipse">
            <a:avLst/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pic>
        <p:nvPicPr>
          <p:cNvPr id="414504826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4370" y="5429250"/>
            <a:ext cx="251460" cy="251460"/>
          </a:xfrm>
          <a:prstGeom prst="rect">
            <a:avLst/>
          </a:prstGeom>
        </p:spPr>
      </p:pic>
      <p:sp>
        <p:nvSpPr>
          <p:cNvPr id="1953561426" name="Text 16"/>
          <p:cNvSpPr txBox="1"/>
          <p:nvPr/>
        </p:nvSpPr>
        <p:spPr bwMode="auto">
          <a:xfrm>
            <a:off x="1234440" y="5266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1C2B"/>
                </a:solidFill>
                <a:latin typeface="Arial"/>
                <a:ea typeface="Arial"/>
                <a:cs typeface="Arial"/>
              </a:rPr>
              <a:t>Recoverable without SafeStore</a:t>
            </a:r>
            <a:endParaRPr lang="en-US" sz="1400"/>
          </a:p>
        </p:txBody>
      </p:sp>
      <p:sp>
        <p:nvSpPr>
          <p:cNvPr id="1831870464" name="Text 17"/>
          <p:cNvSpPr txBox="1"/>
          <p:nvPr/>
        </p:nvSpPr>
        <p:spPr bwMode="auto">
          <a:xfrm>
            <a:off x="1234440" y="5559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Any Linux user can restore by hand with cp, tar, lz4 and openssl.</a:t>
            </a:r>
            <a:endParaRPr lang="en-US" sz="1200"/>
          </a:p>
        </p:txBody>
      </p:sp>
      <p:sp>
        <p:nvSpPr>
          <p:cNvPr id="1901802121" name="Shape 18"/>
          <p:cNvSpPr/>
          <p:nvPr/>
        </p:nvSpPr>
        <p:spPr bwMode="auto">
          <a:xfrm>
            <a:off x="6400800" y="1554480"/>
            <a:ext cx="5257800" cy="4617720"/>
          </a:xfrm>
          <a:prstGeom prst="roundRect">
            <a:avLst>
              <a:gd name="adj" fmla="val 2376"/>
            </a:avLst>
          </a:prstGeom>
          <a:solidFill>
            <a:srgbClr val="0F1C2B"/>
          </a:solidFill>
          <a:ln w="12700">
            <a:solidFill>
              <a:srgbClr val="0F1C2B"/>
            </a:solidFill>
            <a:prstDash val="solid"/>
          </a:ln>
        </p:spPr>
      </p:sp>
      <p:sp>
        <p:nvSpPr>
          <p:cNvPr id="1065459174" name="Text 19"/>
          <p:cNvSpPr txBox="1"/>
          <p:nvPr/>
        </p:nvSpPr>
        <p:spPr bwMode="auto"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Dissemination plan</a:t>
            </a:r>
            <a:endParaRPr lang="en-US" sz="1600"/>
          </a:p>
        </p:txBody>
      </p:sp>
      <p:sp>
        <p:nvSpPr>
          <p:cNvPr id="1431866807" name="Shape 20"/>
          <p:cNvSpPr/>
          <p:nvPr/>
        </p:nvSpPr>
        <p:spPr bwMode="auto">
          <a:xfrm>
            <a:off x="6675120" y="2295144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861524978" name="Text 21"/>
          <p:cNvSpPr txBox="1"/>
          <p:nvPr/>
        </p:nvSpPr>
        <p:spPr bwMode="auto">
          <a:xfrm>
            <a:off x="6675120" y="2295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1200"/>
          </a:p>
        </p:txBody>
      </p:sp>
      <p:sp>
        <p:nvSpPr>
          <p:cNvPr id="1250207674" name="Text 22"/>
          <p:cNvSpPr txBox="1"/>
          <p:nvPr/>
        </p:nvSpPr>
        <p:spPr bwMode="auto">
          <a:xfrm>
            <a:off x="7178039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README + usage examples</a:t>
            </a:r>
            <a:endParaRPr lang="en-US" sz="1400"/>
          </a:p>
        </p:txBody>
      </p:sp>
      <p:sp>
        <p:nvSpPr>
          <p:cNvPr id="355392566" name="Text 23"/>
          <p:cNvSpPr txBox="1"/>
          <p:nvPr/>
        </p:nvSpPr>
        <p:spPr bwMode="auto">
          <a:xfrm>
            <a:off x="7178039" y="2496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The repo currently has no description</a:t>
            </a:r>
            <a:endParaRPr lang="en-US" sz="1200"/>
          </a:p>
        </p:txBody>
      </p:sp>
      <p:sp>
        <p:nvSpPr>
          <p:cNvPr id="50890272" name="Shape 24"/>
          <p:cNvSpPr/>
          <p:nvPr/>
        </p:nvSpPr>
        <p:spPr bwMode="auto">
          <a:xfrm>
            <a:off x="6675120" y="2935224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1864385755" name="Text 25"/>
          <p:cNvSpPr txBox="1"/>
          <p:nvPr/>
        </p:nvSpPr>
        <p:spPr bwMode="auto">
          <a:xfrm>
            <a:off x="667512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200"/>
          </a:p>
        </p:txBody>
      </p:sp>
      <p:sp>
        <p:nvSpPr>
          <p:cNvPr id="1189620895" name="Text 26"/>
          <p:cNvSpPr txBox="1"/>
          <p:nvPr/>
        </p:nvSpPr>
        <p:spPr bwMode="auto">
          <a:xfrm>
            <a:off x="7178039" y="2862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Open-source licence (MIT)</a:t>
            </a:r>
            <a:endParaRPr lang="en-US" sz="1400"/>
          </a:p>
        </p:txBody>
      </p:sp>
      <p:sp>
        <p:nvSpPr>
          <p:cNvPr id="1384991323" name="Text 27"/>
          <p:cNvSpPr txBox="1"/>
          <p:nvPr/>
        </p:nvSpPr>
        <p:spPr bwMode="auto">
          <a:xfrm>
            <a:off x="7178039" y="31363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Lets others legally reuse and fork</a:t>
            </a:r>
            <a:endParaRPr lang="en-US" sz="1200"/>
          </a:p>
        </p:txBody>
      </p:sp>
      <p:sp>
        <p:nvSpPr>
          <p:cNvPr id="972157670" name="Shape 28"/>
          <p:cNvSpPr/>
          <p:nvPr/>
        </p:nvSpPr>
        <p:spPr bwMode="auto">
          <a:xfrm>
            <a:off x="6675120" y="3575303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1104362885" name="Text 29"/>
          <p:cNvSpPr txBox="1"/>
          <p:nvPr/>
        </p:nvSpPr>
        <p:spPr bwMode="auto">
          <a:xfrm>
            <a:off x="6675120" y="35753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200"/>
          </a:p>
        </p:txBody>
      </p:sp>
      <p:sp>
        <p:nvSpPr>
          <p:cNvPr id="255548325" name="Text 30"/>
          <p:cNvSpPr txBox="1"/>
          <p:nvPr/>
        </p:nvSpPr>
        <p:spPr bwMode="auto">
          <a:xfrm>
            <a:off x="7178039" y="3502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 page and --help</a:t>
            </a:r>
            <a:endParaRPr lang="en-US" sz="1400"/>
          </a:p>
        </p:txBody>
      </p:sp>
      <p:sp>
        <p:nvSpPr>
          <p:cNvPr id="2097951617" name="Text 31"/>
          <p:cNvSpPr txBox="1"/>
          <p:nvPr/>
        </p:nvSpPr>
        <p:spPr bwMode="auto">
          <a:xfrm>
            <a:off x="7178039" y="37764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Built-in documentation in the terminal</a:t>
            </a:r>
            <a:endParaRPr lang="en-US" sz="1200"/>
          </a:p>
        </p:txBody>
      </p:sp>
      <p:sp>
        <p:nvSpPr>
          <p:cNvPr id="1919454655" name="Shape 32"/>
          <p:cNvSpPr/>
          <p:nvPr/>
        </p:nvSpPr>
        <p:spPr bwMode="auto">
          <a:xfrm>
            <a:off x="6675120" y="4215384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1001345603" name="Text 33"/>
          <p:cNvSpPr txBox="1"/>
          <p:nvPr/>
        </p:nvSpPr>
        <p:spPr bwMode="auto">
          <a:xfrm>
            <a:off x="6675120" y="4215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1200"/>
          </a:p>
        </p:txBody>
      </p:sp>
      <p:sp>
        <p:nvSpPr>
          <p:cNvPr id="495517297" name="Text 34"/>
          <p:cNvSpPr txBox="1"/>
          <p:nvPr/>
        </p:nvSpPr>
        <p:spPr bwMode="auto">
          <a:xfrm>
            <a:off x="7178039" y="4142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Packages: .deb and AUR</a:t>
            </a:r>
            <a:endParaRPr lang="en-US" sz="1400"/>
          </a:p>
        </p:txBody>
      </p:sp>
      <p:sp>
        <p:nvSpPr>
          <p:cNvPr id="1307721068" name="Text 35"/>
          <p:cNvSpPr txBox="1"/>
          <p:nvPr/>
        </p:nvSpPr>
        <p:spPr bwMode="auto">
          <a:xfrm>
            <a:off x="7178039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Install with apt or yay</a:t>
            </a:r>
            <a:endParaRPr lang="en-US" sz="1200"/>
          </a:p>
        </p:txBody>
      </p:sp>
      <p:sp>
        <p:nvSpPr>
          <p:cNvPr id="1483628191" name="Shape 36"/>
          <p:cNvSpPr/>
          <p:nvPr/>
        </p:nvSpPr>
        <p:spPr bwMode="auto">
          <a:xfrm>
            <a:off x="6675120" y="4855464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572186033" name="Text 37"/>
          <p:cNvSpPr txBox="1"/>
          <p:nvPr/>
        </p:nvSpPr>
        <p:spPr bwMode="auto">
          <a:xfrm>
            <a:off x="6675120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1200"/>
          </a:p>
        </p:txBody>
      </p:sp>
      <p:sp>
        <p:nvSpPr>
          <p:cNvPr id="1186175098" name="Text 38"/>
          <p:cNvSpPr txBox="1"/>
          <p:nvPr/>
        </p:nvSpPr>
        <p:spPr bwMode="auto">
          <a:xfrm>
            <a:off x="7178039" y="47823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video + GitHub release</a:t>
            </a:r>
            <a:endParaRPr lang="en-US" sz="1400"/>
          </a:p>
        </p:txBody>
      </p:sp>
      <p:sp>
        <p:nvSpPr>
          <p:cNvPr id="41335502" name="Text 39"/>
          <p:cNvSpPr txBox="1"/>
          <p:nvPr/>
        </p:nvSpPr>
        <p:spPr bwMode="auto">
          <a:xfrm>
            <a:off x="7178039" y="5056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Tagged version with changelog</a:t>
            </a:r>
            <a:endParaRPr lang="en-US" sz="1200"/>
          </a:p>
        </p:txBody>
      </p:sp>
      <p:sp>
        <p:nvSpPr>
          <p:cNvPr id="609607774" name="Shape 40"/>
          <p:cNvSpPr/>
          <p:nvPr/>
        </p:nvSpPr>
        <p:spPr bwMode="auto">
          <a:xfrm>
            <a:off x="6675120" y="5495544"/>
            <a:ext cx="329184" cy="329184"/>
          </a:xfrm>
          <a:prstGeom prst="ellipse">
            <a:avLst/>
          </a:prstGeom>
          <a:solidFill>
            <a:srgbClr val="12A58C"/>
          </a:solidFill>
          <a:ln w="12700">
            <a:solidFill>
              <a:srgbClr val="12A58C"/>
            </a:solidFill>
            <a:prstDash val="solid"/>
          </a:ln>
        </p:spPr>
      </p:sp>
      <p:sp>
        <p:nvSpPr>
          <p:cNvPr id="491450616" name="Text 41"/>
          <p:cNvSpPr txBox="1"/>
          <p:nvPr/>
        </p:nvSpPr>
        <p:spPr bwMode="auto">
          <a:xfrm>
            <a:off x="6675120" y="5495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lang="en-US" sz="1200"/>
          </a:p>
        </p:txBody>
      </p:sp>
      <p:sp>
        <p:nvSpPr>
          <p:cNvPr id="1802866194" name="Text 42"/>
          <p:cNvSpPr txBox="1"/>
          <p:nvPr/>
        </p:nvSpPr>
        <p:spPr bwMode="auto">
          <a:xfrm>
            <a:off x="7178039" y="5422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Dependency check at start-up</a:t>
            </a:r>
            <a:endParaRPr lang="en-US" sz="1400"/>
          </a:p>
        </p:txBody>
      </p:sp>
      <p:sp>
        <p:nvSpPr>
          <p:cNvPr id="1009785799" name="Text 43"/>
          <p:cNvSpPr txBox="1"/>
          <p:nvPr/>
        </p:nvSpPr>
        <p:spPr bwMode="auto">
          <a:xfrm>
            <a:off x="7178039" y="56967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A9BDCB"/>
                </a:solidFill>
                <a:latin typeface="Calibri"/>
                <a:ea typeface="Calibri"/>
                <a:cs typeface="Calibri"/>
              </a:rPr>
              <a:t>Friendly message if lz4 / fzf missing</a:t>
            </a:r>
            <a:endParaRPr lang="en-US" sz="1200"/>
          </a:p>
        </p:txBody>
      </p:sp>
      <p:sp>
        <p:nvSpPr>
          <p:cNvPr id="1944098591" name="Text 44"/>
          <p:cNvSpPr txBox="1"/>
          <p:nvPr/>
        </p:nvSpPr>
        <p:spPr bwMode="auto">
          <a:xfrm>
            <a:off x="8869680" y="6419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F6F7E"/>
                </a:solidFill>
                <a:latin typeface="Calibri"/>
                <a:ea typeface="Calibri"/>
                <a:cs typeface="Calibri"/>
              </a:rPr>
              <a:t>SafeStore  ·  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F1C2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78151" name="Text 0"/>
          <p:cNvSpPr txBox="1"/>
          <p:nvPr/>
        </p:nvSpPr>
        <p:spPr bwMode="auto"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  <a:endParaRPr lang="en-US" sz="4000"/>
          </a:p>
        </p:txBody>
      </p:sp>
      <p:sp>
        <p:nvSpPr>
          <p:cNvPr id="1701377700" name="Shape 1"/>
          <p:cNvSpPr/>
          <p:nvPr/>
        </p:nvSpPr>
        <p:spPr bwMode="auto">
          <a:xfrm>
            <a:off x="731520" y="17830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82A3D"/>
          </a:solidFill>
          <a:ln w="12700">
            <a:solidFill>
              <a:srgbClr val="182A3D"/>
            </a:solidFill>
            <a:prstDash val="solid"/>
          </a:ln>
        </p:spPr>
      </p:sp>
      <p:sp>
        <p:nvSpPr>
          <p:cNvPr id="1227612688" name="Text 2"/>
          <p:cNvSpPr txBox="1"/>
          <p:nvPr/>
        </p:nvSpPr>
        <p:spPr bwMode="auto">
          <a:xfrm>
            <a:off x="9601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Novelty</a:t>
            </a:r>
            <a:endParaRPr lang="en-US" sz="1800"/>
          </a:p>
        </p:txBody>
      </p:sp>
      <p:sp>
        <p:nvSpPr>
          <p:cNvPr id="1934929996" name="Text 3"/>
          <p:cNvSpPr txBox="1"/>
          <p:nvPr/>
        </p:nvSpPr>
        <p:spPr bwMode="auto">
          <a:xfrm>
            <a:off x="960120" y="24231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3ECEF"/>
                </a:solidFill>
                <a:latin typeface="Calibri"/>
                <a:ea typeface="Calibri"/>
                <a:cs typeface="Calibri"/>
              </a:rPr>
              <a:t>Composable per-backup pipeline with a restore that detects its own format</a:t>
            </a:r>
            <a:endParaRPr lang="en-US" sz="1400"/>
          </a:p>
        </p:txBody>
      </p:sp>
      <p:sp>
        <p:nvSpPr>
          <p:cNvPr id="2122137845" name="Shape 4"/>
          <p:cNvSpPr/>
          <p:nvPr/>
        </p:nvSpPr>
        <p:spPr bwMode="auto">
          <a:xfrm>
            <a:off x="3474720" y="17830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82A3D"/>
          </a:solidFill>
          <a:ln w="12700">
            <a:solidFill>
              <a:srgbClr val="182A3D"/>
            </a:solidFill>
            <a:prstDash val="solid"/>
          </a:ln>
        </p:spPr>
      </p:sp>
      <p:sp>
        <p:nvSpPr>
          <p:cNvPr id="1718473855" name="Text 5"/>
          <p:cNvSpPr txBox="1"/>
          <p:nvPr/>
        </p:nvSpPr>
        <p:spPr bwMode="auto">
          <a:xfrm>
            <a:off x="37033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Adaptability</a:t>
            </a:r>
            <a:endParaRPr lang="en-US" sz="1800"/>
          </a:p>
        </p:txBody>
      </p:sp>
      <p:sp>
        <p:nvSpPr>
          <p:cNvPr id="820037518" name="Text 6"/>
          <p:cNvSpPr txBox="1"/>
          <p:nvPr/>
        </p:nvSpPr>
        <p:spPr bwMode="auto">
          <a:xfrm>
            <a:off x="3703320" y="24231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3ECEF"/>
                </a:solidFill>
                <a:latin typeface="Calibri"/>
                <a:ea typeface="Calibri"/>
                <a:cs typeface="Calibri"/>
              </a:rPr>
              <a:t>8 swappable modules, file or folder, many user groups</a:t>
            </a:r>
            <a:endParaRPr lang="en-US" sz="1400"/>
          </a:p>
        </p:txBody>
      </p:sp>
      <p:sp>
        <p:nvSpPr>
          <p:cNvPr id="1634508517" name="Shape 7"/>
          <p:cNvSpPr/>
          <p:nvPr/>
        </p:nvSpPr>
        <p:spPr bwMode="auto">
          <a:xfrm>
            <a:off x="6217920" y="17830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82A3D"/>
          </a:solidFill>
          <a:ln w="12700">
            <a:solidFill>
              <a:srgbClr val="182A3D"/>
            </a:solidFill>
            <a:prstDash val="solid"/>
          </a:ln>
        </p:spPr>
      </p:sp>
      <p:sp>
        <p:nvSpPr>
          <p:cNvPr id="740285004" name="Text 8"/>
          <p:cNvSpPr txBox="1"/>
          <p:nvPr/>
        </p:nvSpPr>
        <p:spPr bwMode="auto">
          <a:xfrm>
            <a:off x="64465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Evaluation</a:t>
            </a:r>
            <a:endParaRPr lang="en-US" sz="1800"/>
          </a:p>
        </p:txBody>
      </p:sp>
      <p:sp>
        <p:nvSpPr>
          <p:cNvPr id="1586450123" name="Text 9"/>
          <p:cNvSpPr txBox="1"/>
          <p:nvPr/>
        </p:nvSpPr>
        <p:spPr bwMode="auto">
          <a:xfrm>
            <a:off x="6446520" y="24231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3ECEF"/>
                </a:solidFill>
                <a:latin typeface="Calibri"/>
                <a:ea typeface="Calibri"/>
                <a:cs typeface="Calibri"/>
              </a:rPr>
              <a:t>57% space saving on text data and 8/8 bit-identical restores</a:t>
            </a:r>
            <a:endParaRPr lang="en-US" sz="1400"/>
          </a:p>
        </p:txBody>
      </p:sp>
      <p:sp>
        <p:nvSpPr>
          <p:cNvPr id="690472167" name="Shape 10"/>
          <p:cNvSpPr/>
          <p:nvPr/>
        </p:nvSpPr>
        <p:spPr bwMode="auto">
          <a:xfrm>
            <a:off x="8961120" y="178308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82A3D"/>
          </a:solidFill>
          <a:ln w="12700">
            <a:solidFill>
              <a:srgbClr val="182A3D"/>
            </a:solidFill>
            <a:prstDash val="solid"/>
          </a:ln>
        </p:spPr>
      </p:sp>
      <p:sp>
        <p:nvSpPr>
          <p:cNvPr id="196830147" name="Text 11"/>
          <p:cNvSpPr txBox="1"/>
          <p:nvPr/>
        </p:nvSpPr>
        <p:spPr bwMode="auto">
          <a:xfrm>
            <a:off x="91897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Dissemination</a:t>
            </a:r>
            <a:endParaRPr lang="en-US" sz="1800"/>
          </a:p>
        </p:txBody>
      </p:sp>
      <p:sp>
        <p:nvSpPr>
          <p:cNvPr id="1659274814" name="Text 12"/>
          <p:cNvSpPr txBox="1"/>
          <p:nvPr/>
        </p:nvSpPr>
        <p:spPr bwMode="auto">
          <a:xfrm>
            <a:off x="9189720" y="24231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E3ECEF"/>
                </a:solidFill>
                <a:latin typeface="Calibri"/>
                <a:ea typeface="Calibri"/>
                <a:cs typeface="Calibri"/>
              </a:rPr>
              <a:t>Public repo, open formats; README, licence and packages next</a:t>
            </a:r>
            <a:endParaRPr lang="en-US" sz="1400"/>
          </a:p>
        </p:txBody>
      </p:sp>
      <p:sp>
        <p:nvSpPr>
          <p:cNvPr id="1004425500" name="Text 13"/>
          <p:cNvSpPr txBox="1"/>
          <p:nvPr/>
        </p:nvSpPr>
        <p:spPr bwMode="auto">
          <a:xfrm>
            <a:off x="7315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2A58C"/>
                </a:solidFill>
                <a:latin typeface="Arial"/>
                <a:ea typeface="Arial"/>
                <a:cs typeface="Arial"/>
              </a:rPr>
              <a:t>Future work</a:t>
            </a:r>
            <a:endParaRPr lang="en-US" sz="1800"/>
          </a:p>
        </p:txBody>
      </p:sp>
      <p:sp>
        <p:nvSpPr>
          <p:cNvPr id="988243416" name="Text 14"/>
          <p:cNvSpPr txBox="1"/>
          <p:nvPr/>
        </p:nvSpPr>
        <p:spPr bwMode="auto">
          <a:xfrm>
            <a:off x="731520" y="49377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Restore into a temp folder first, then swap in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Retention policy (keep last N) and deduplication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Scheduled backups with cron / systemd timers</a:t>
            </a:r>
            <a:endParaRPr lang="en-US" sz="1500"/>
          </a:p>
        </p:txBody>
      </p:sp>
      <p:sp>
        <p:nvSpPr>
          <p:cNvPr id="1825041067" name="Text 15"/>
          <p:cNvSpPr txBox="1"/>
          <p:nvPr/>
        </p:nvSpPr>
        <p:spPr bwMode="auto">
          <a:xfrm>
            <a:off x="7589520" y="53949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22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Thank you  ·  Questions?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SafeStore – Backup &amp; Restore Utility</dc:title>
  <dc:subject>PptxGenJS Presentation</dc:subject>
  <dc:creator>PptxGenJS</dc:creator>
  <cp:lastModifiedBy/>
  <cp:revision>5</cp:revision>
  <dcterms:created xsi:type="dcterms:W3CDTF">2026-09-16T01:16:22Z</dcterms:created>
  <dcterms:modified xsi:type="dcterms:W3CDTF">2026-09-17T03:00:15Z</dcterms:modified>
</cp:coreProperties>
</file>