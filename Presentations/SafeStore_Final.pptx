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s/slide11.xml" ContentType="application/vnd.openxmlformats-officedocument.presentationml.slide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3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2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0" d="6"/>
          <a:sy n="0" d="2"/>
        </p:scale>
        <p:origin x="974428144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 /><Relationship Id="rId25" Type="http://schemas.openxmlformats.org/officeDocument/2006/relationships/tableStyles" Target="tableStyles.xml" /><Relationship Id="rId2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089344" name="Header Placeholder"/>
          <p:cNvSpPr/>
          <p:nvPr>
            <p:ph type="hdr" sz="quarter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036" name="Date Placeholder"/>
          <p:cNvSpPr/>
          <p:nvPr>
            <p:ph type="dt" sz="quarter"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630576" name="Slide Image Placeholder"/>
          <p:cNvSpPr/>
          <p:nvPr>
            <p:ph type="sldImg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0200231" name="Notes Placeholder"/>
          <p:cNvSpPr/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102479" name="Footer Placeholder"/>
          <p:cNvSpPr/>
          <p:nvPr>
            <p:ph type="ftr" sz="quarter" idx="4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926051" name="Slide Number Placeholder"/>
          <p:cNvSpPr/>
          <p:nvPr>
            <p:ph type="sldNum" sz="quarter" idx="5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/>
    </a:lvl1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887119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4636879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</a:t>
            </a:r>
            <a:endParaRPr/>
          </a:p>
          <a:p>
            <a:pPr>
              <a:defRPr/>
            </a:pPr>
            <a:r>
              <a:rPr/>
              <a:t>Cover is an AI-generated conceptual vault illustration.</a:t>
            </a:r>
            <a:endParaRPr/>
          </a:p>
        </p:txBody>
      </p:sp>
      <p:sp>
        <p:nvSpPr>
          <p:cNvPr id="1564488153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9879851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451026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Names and student identifiers supplied by the user.</a:t>
            </a:r>
            <a:endParaRPr/>
          </a:p>
        </p:txBody>
      </p:sp>
      <p:sp>
        <p:nvSpPr>
          <p:cNvPr id="1054629600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3318791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295544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Names and student identifiers supplied by the user.</a:t>
            </a:r>
            <a:endParaRPr/>
          </a:p>
        </p:txBody>
      </p:sp>
      <p:sp>
        <p:nvSpPr>
          <p:cNvPr id="431243900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4126486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20752932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1055977103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901157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0101667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1960815580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53477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7962088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https://github.com/srikar0006/safestore/blob/main/src/backup.c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2093740598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104459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454951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220996321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1404362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2457867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https://github.com/srikar0006/safestore/blob/main/src/compress.c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209056713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736272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735039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https://github.com/srikar0006/safestore/blob/main/src/encrypt.c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2063456638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6973563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0490308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https://github.com/srikar0006/safestore/blob/main/src/list.c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2003557458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5168484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3204371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https://github.com/srikar0006/safestore/blob/main/src/restore.c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520042262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1815702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666673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https://github.com/srikar0006/safestore/blob/main/src/restore.c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1712633633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191473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1255927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1333351728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8149485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860322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1244534634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948228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1408197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1334449138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878021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770970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674696729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566948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9999944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839002766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553673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3309105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684499155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5696922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226627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Background and conceptual illustrations: built-in imagegen. Prompts: midnight navy background with gold and teal edge filaments; gold folder with timestamp clock; gold padlock with teal archive plates.</a:t>
            </a:r>
            <a:endParaRPr/>
          </a:p>
        </p:txBody>
      </p:sp>
      <p:sp>
        <p:nvSpPr>
          <p:cNvPr id="1258027184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Master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23150352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07862964" name=""/>
          <p:cNvSpPr>
            <a:spLocks noGrp="1"/>
          </p:cNvSpPr>
          <p:nvPr/>
        </p:nvSpPr>
        <p:spPr bwMode="auto">
          <a:xfrm>
            <a:off x="723900" y="2105025"/>
            <a:ext cx="6953250" cy="1200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615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615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SafeStore</a:t>
            </a:r>
            <a:endParaRPr/>
          </a:p>
        </p:txBody>
      </p:sp>
      <p:sp>
        <p:nvSpPr>
          <p:cNvPr id="898025075" name=""/>
          <p:cNvSpPr>
            <a:spLocks noGrp="1"/>
          </p:cNvSpPr>
          <p:nvPr/>
        </p:nvSpPr>
        <p:spPr bwMode="auto">
          <a:xfrm>
            <a:off x="781050" y="3476625"/>
            <a:ext cx="6286500" cy="5905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4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Local backup and restore in C</a:t>
            </a:r>
            <a:endParaRPr/>
          </a:p>
        </p:txBody>
      </p:sp>
      <p:sp>
        <p:nvSpPr>
          <p:cNvPr id="1278171503" name=""/>
          <p:cNvSpPr>
            <a:spLocks noGrp="1"/>
          </p:cNvSpPr>
          <p:nvPr/>
        </p:nvSpPr>
        <p:spPr bwMode="auto">
          <a:xfrm>
            <a:off x="781050" y="1276350"/>
            <a:ext cx="6191250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PROJECT PRESENTATION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07785136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78795154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Project team</a:t>
            </a:r>
            <a:endParaRPr/>
          </a:p>
        </p:txBody>
      </p:sp>
      <p:sp>
        <p:nvSpPr>
          <p:cNvPr id="1024573575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02</a:t>
            </a:r>
            <a:endParaRPr/>
          </a:p>
        </p:txBody>
      </p:sp>
      <p:sp>
        <p:nvSpPr>
          <p:cNvPr id="1944986673" name=""/>
          <p:cNvSpPr>
            <a:spLocks noGrp="1"/>
          </p:cNvSpPr>
          <p:nvPr/>
        </p:nvSpPr>
        <p:spPr bwMode="auto">
          <a:xfrm>
            <a:off x="781050" y="1790700"/>
            <a:ext cx="1038225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950" b="0">
                <a:solidFill>
                  <a:srgbClr val="D6B481"/>
                </a:solidFill>
                <a:latin typeface="Noto Serif"/>
                <a:ea typeface="Noto Serif"/>
                <a:cs typeface="Noto Serif"/>
              </a:defRPr>
            </a:pPr>
            <a:r>
              <a:rPr sz="2950" b="0">
                <a:solidFill>
                  <a:srgbClr val="D6B481"/>
                </a:solidFill>
                <a:latin typeface="Noto Serif"/>
                <a:ea typeface="Noto Serif"/>
                <a:cs typeface="Noto Serif"/>
              </a:rPr>
              <a:t>The team behind SafeStore</a:t>
            </a:r>
            <a:endParaRPr/>
          </a:p>
        </p:txBody>
      </p:sp>
      <p:sp>
        <p:nvSpPr>
          <p:cNvPr id="1790268213" name=""/>
          <p:cNvSpPr>
            <a:spLocks noGrp="1"/>
          </p:cNvSpPr>
          <p:nvPr/>
        </p:nvSpPr>
        <p:spPr bwMode="auto">
          <a:xfrm>
            <a:off x="790575" y="2867025"/>
            <a:ext cx="323850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2510030006</a:t>
            </a:r>
            <a:endParaRPr/>
          </a:p>
        </p:txBody>
      </p:sp>
      <p:sp>
        <p:nvSpPr>
          <p:cNvPr id="1219178083" name=""/>
          <p:cNvSpPr>
            <a:spLocks noGrp="1"/>
          </p:cNvSpPr>
          <p:nvPr/>
        </p:nvSpPr>
        <p:spPr bwMode="auto">
          <a:xfrm>
            <a:off x="4381500" y="2867025"/>
            <a:ext cx="67627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N Srikar (Team Lead)</a:t>
            </a:r>
            <a:endParaRPr/>
          </a:p>
        </p:txBody>
      </p:sp>
      <p:sp>
        <p:nvSpPr>
          <p:cNvPr id="1600753339" name=""/>
          <p:cNvSpPr>
            <a:spLocks noGrp="1"/>
          </p:cNvSpPr>
          <p:nvPr/>
        </p:nvSpPr>
        <p:spPr bwMode="auto">
          <a:xfrm>
            <a:off x="790575" y="3600450"/>
            <a:ext cx="323850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2510030147</a:t>
            </a:r>
            <a:endParaRPr/>
          </a:p>
        </p:txBody>
      </p:sp>
      <p:sp>
        <p:nvSpPr>
          <p:cNvPr id="822943238" name=""/>
          <p:cNvSpPr>
            <a:spLocks noGrp="1"/>
          </p:cNvSpPr>
          <p:nvPr/>
        </p:nvSpPr>
        <p:spPr bwMode="auto">
          <a:xfrm>
            <a:off x="4381500" y="3600450"/>
            <a:ext cx="67627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U Yogendra</a:t>
            </a:r>
            <a:endParaRPr/>
          </a:p>
        </p:txBody>
      </p:sp>
      <p:sp>
        <p:nvSpPr>
          <p:cNvPr id="121417291" name=""/>
          <p:cNvSpPr>
            <a:spLocks noGrp="1"/>
          </p:cNvSpPr>
          <p:nvPr/>
        </p:nvSpPr>
        <p:spPr bwMode="auto">
          <a:xfrm>
            <a:off x="790575" y="4333875"/>
            <a:ext cx="323850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2510030008</a:t>
            </a:r>
            <a:endParaRPr/>
          </a:p>
        </p:txBody>
      </p:sp>
      <p:sp>
        <p:nvSpPr>
          <p:cNvPr id="357364970" name=""/>
          <p:cNvSpPr>
            <a:spLocks noGrp="1"/>
          </p:cNvSpPr>
          <p:nvPr/>
        </p:nvSpPr>
        <p:spPr bwMode="auto">
          <a:xfrm>
            <a:off x="4381500" y="4333875"/>
            <a:ext cx="67627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G Pranav</a:t>
            </a:r>
            <a:endParaRPr/>
          </a:p>
        </p:txBody>
      </p:sp>
      <p:sp>
        <p:nvSpPr>
          <p:cNvPr id="1874468064" name=""/>
          <p:cNvSpPr>
            <a:spLocks noGrp="1"/>
          </p:cNvSpPr>
          <p:nvPr/>
        </p:nvSpPr>
        <p:spPr bwMode="auto">
          <a:xfrm>
            <a:off x="790575" y="5067300"/>
            <a:ext cx="323850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2510030052</a:t>
            </a:r>
            <a:endParaRPr/>
          </a:p>
        </p:txBody>
      </p:sp>
      <p:sp>
        <p:nvSpPr>
          <p:cNvPr id="1349997156" name=""/>
          <p:cNvSpPr>
            <a:spLocks noGrp="1"/>
          </p:cNvSpPr>
          <p:nvPr/>
        </p:nvSpPr>
        <p:spPr bwMode="auto">
          <a:xfrm>
            <a:off x="4381500" y="5067300"/>
            <a:ext cx="67627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Suleman Khan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9281448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01733870" name=""/>
          <p:cNvSpPr>
            <a:spLocks noGrp="1"/>
          </p:cNvSpPr>
          <p:nvPr/>
        </p:nvSpPr>
        <p:spPr bwMode="auto">
          <a:xfrm>
            <a:off x="723899" y="571500"/>
            <a:ext cx="10382249" cy="90487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Project team</a:t>
            </a:r>
            <a:endParaRPr/>
          </a:p>
        </p:txBody>
      </p:sp>
      <p:sp>
        <p:nvSpPr>
          <p:cNvPr id="2007235137" name=""/>
          <p:cNvSpPr>
            <a:spLocks noGrp="1"/>
          </p:cNvSpPr>
          <p:nvPr/>
        </p:nvSpPr>
        <p:spPr bwMode="auto">
          <a:xfrm>
            <a:off x="11029950" y="6153149"/>
            <a:ext cx="476249" cy="30479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02</a:t>
            </a:r>
            <a:endParaRPr/>
          </a:p>
        </p:txBody>
      </p:sp>
      <p:sp>
        <p:nvSpPr>
          <p:cNvPr id="328917183" name=""/>
          <p:cNvSpPr>
            <a:spLocks noGrp="1"/>
          </p:cNvSpPr>
          <p:nvPr/>
        </p:nvSpPr>
        <p:spPr bwMode="auto">
          <a:xfrm>
            <a:off x="781049" y="1790699"/>
            <a:ext cx="10382249" cy="61912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950" b="0">
                <a:solidFill>
                  <a:srgbClr val="D6B481"/>
                </a:solidFill>
                <a:latin typeface="Noto Serif"/>
                <a:ea typeface="Noto Serif"/>
                <a:cs typeface="Noto Serif"/>
              </a:defRPr>
            </a:pPr>
            <a:r>
              <a:rPr sz="2950" b="0">
                <a:solidFill>
                  <a:srgbClr val="D6B481"/>
                </a:solidFill>
                <a:latin typeface="Noto Serif"/>
                <a:ea typeface="Noto Serif"/>
                <a:cs typeface="Noto Serif"/>
              </a:rPr>
              <a:t>The team behind SafeStore</a:t>
            </a:r>
            <a:endParaRPr/>
          </a:p>
        </p:txBody>
      </p:sp>
      <p:sp>
        <p:nvSpPr>
          <p:cNvPr id="664318247" name=""/>
          <p:cNvSpPr>
            <a:spLocks noGrp="1"/>
          </p:cNvSpPr>
          <p:nvPr/>
        </p:nvSpPr>
        <p:spPr bwMode="auto">
          <a:xfrm>
            <a:off x="790574" y="2867024"/>
            <a:ext cx="3238499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2510030006</a:t>
            </a:r>
            <a:endParaRPr/>
          </a:p>
        </p:txBody>
      </p:sp>
      <p:sp>
        <p:nvSpPr>
          <p:cNvPr id="1587857741" name=""/>
          <p:cNvSpPr>
            <a:spLocks noGrp="1"/>
          </p:cNvSpPr>
          <p:nvPr/>
        </p:nvSpPr>
        <p:spPr bwMode="auto">
          <a:xfrm>
            <a:off x="4381499" y="2867024"/>
            <a:ext cx="6762749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N Srikar (Team Lead)</a:t>
            </a:r>
            <a:endParaRPr/>
          </a:p>
        </p:txBody>
      </p:sp>
      <p:sp>
        <p:nvSpPr>
          <p:cNvPr id="1648887306" name=""/>
          <p:cNvSpPr>
            <a:spLocks noGrp="1"/>
          </p:cNvSpPr>
          <p:nvPr/>
        </p:nvSpPr>
        <p:spPr bwMode="auto">
          <a:xfrm>
            <a:off x="790574" y="3600450"/>
            <a:ext cx="3238499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2510030147</a:t>
            </a:r>
            <a:endParaRPr/>
          </a:p>
        </p:txBody>
      </p:sp>
      <p:sp>
        <p:nvSpPr>
          <p:cNvPr id="845431589" name=""/>
          <p:cNvSpPr>
            <a:spLocks noGrp="1"/>
          </p:cNvSpPr>
          <p:nvPr/>
        </p:nvSpPr>
        <p:spPr bwMode="auto">
          <a:xfrm>
            <a:off x="4381499" y="3600450"/>
            <a:ext cx="6762749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U Yogendra</a:t>
            </a:r>
            <a:endParaRPr/>
          </a:p>
        </p:txBody>
      </p:sp>
      <p:sp>
        <p:nvSpPr>
          <p:cNvPr id="1840900569" name=""/>
          <p:cNvSpPr>
            <a:spLocks noGrp="1"/>
          </p:cNvSpPr>
          <p:nvPr/>
        </p:nvSpPr>
        <p:spPr bwMode="auto">
          <a:xfrm>
            <a:off x="790574" y="4333874"/>
            <a:ext cx="3238499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2510030008</a:t>
            </a:r>
            <a:endParaRPr/>
          </a:p>
        </p:txBody>
      </p:sp>
      <p:sp>
        <p:nvSpPr>
          <p:cNvPr id="34102869" name=""/>
          <p:cNvSpPr>
            <a:spLocks noGrp="1"/>
          </p:cNvSpPr>
          <p:nvPr/>
        </p:nvSpPr>
        <p:spPr bwMode="auto">
          <a:xfrm>
            <a:off x="4381499" y="4333874"/>
            <a:ext cx="6762749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G Pranav</a:t>
            </a:r>
            <a:endParaRPr/>
          </a:p>
        </p:txBody>
      </p:sp>
      <p:sp>
        <p:nvSpPr>
          <p:cNvPr id="533670296" name=""/>
          <p:cNvSpPr>
            <a:spLocks noGrp="1"/>
          </p:cNvSpPr>
          <p:nvPr/>
        </p:nvSpPr>
        <p:spPr bwMode="auto">
          <a:xfrm>
            <a:off x="790574" y="5067299"/>
            <a:ext cx="3238499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2510030052</a:t>
            </a:r>
            <a:endParaRPr/>
          </a:p>
        </p:txBody>
      </p:sp>
      <p:sp>
        <p:nvSpPr>
          <p:cNvPr id="417232009" name=""/>
          <p:cNvSpPr>
            <a:spLocks noGrp="1"/>
          </p:cNvSpPr>
          <p:nvPr/>
        </p:nvSpPr>
        <p:spPr bwMode="auto">
          <a:xfrm>
            <a:off x="4381499" y="5067299"/>
            <a:ext cx="6762749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Suleman Khan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1065200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0823403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Project overview</a:t>
            </a:r>
            <a:endParaRPr/>
          </a:p>
        </p:txBody>
      </p:sp>
      <p:sp>
        <p:nvSpPr>
          <p:cNvPr id="2108770139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03</a:t>
            </a:r>
            <a:endParaRPr/>
          </a:p>
        </p:txBody>
      </p:sp>
      <p:pic>
        <p:nvPicPr>
          <p:cNvPr id="20720699" name=""/>
          <p:cNvPicPr>
            <a:picLocks noChangeAspect="1"/>
          </p:cNvPicPr>
          <p:nvPr/>
        </p:nvPicPr>
        <p:blipFill rotWithShape="1">
          <a:blip r:embed="rId4"/>
          <a:srcRect l="0" t="0" r="0" b="0"/>
          <a:stretch>
            <a:fillRect l="0" t="0" r="0" b="0"/>
          </a:stretch>
        </p:blipFill>
        <p:spPr bwMode="auto">
          <a:xfrm>
            <a:off x="6896100" y="1657350"/>
            <a:ext cx="4286250" cy="4286250"/>
          </a:xfrm>
          <a:prstGeom prst="rect">
            <a:avLst/>
          </a:prstGeom>
        </p:spPr>
      </p:pic>
      <p:sp>
        <p:nvSpPr>
          <p:cNvPr id="1991952267" name=""/>
          <p:cNvSpPr>
            <a:spLocks noGrp="1"/>
          </p:cNvSpPr>
          <p:nvPr/>
        </p:nvSpPr>
        <p:spPr bwMode="auto">
          <a:xfrm>
            <a:off x="762000" y="1943100"/>
            <a:ext cx="6477000" cy="1600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900" b="0">
                <a:solidFill>
                  <a:srgbClr val="D6B481"/>
                </a:solidFill>
                <a:latin typeface="Noto Serif"/>
                <a:ea typeface="Noto Serif"/>
                <a:cs typeface="Noto Serif"/>
              </a:defRPr>
            </a:pPr>
            <a:r>
              <a:rPr sz="3900" b="0">
                <a:solidFill>
                  <a:srgbClr val="D6B481"/>
                </a:solidFill>
                <a:latin typeface="Noto Serif"/>
                <a:ea typeface="Noto Serif"/>
                <a:cs typeface="Noto Serif"/>
              </a:rPr>
              <a:t>Local snapshots.</a:t>
            </a:r>
            <a:endParaRPr/>
          </a:p>
          <a:p>
            <a:pPr>
              <a:defRPr sz="3900" b="0">
                <a:solidFill>
                  <a:srgbClr val="D6B481"/>
                </a:solidFill>
                <a:latin typeface="Noto Serif"/>
                <a:ea typeface="Noto Serif"/>
                <a:cs typeface="Noto Serif"/>
              </a:defRPr>
            </a:pPr>
            <a:r>
              <a:rPr sz="3900" b="0">
                <a:solidFill>
                  <a:srgbClr val="D6B481"/>
                </a:solidFill>
                <a:latin typeface="Noto Serif"/>
                <a:ea typeface="Noto Serif"/>
                <a:cs typeface="Noto Serif"/>
              </a:rPr>
              <a:t>A choice of versions.</a:t>
            </a:r>
            <a:endParaRPr/>
          </a:p>
        </p:txBody>
      </p:sp>
      <p:sp>
        <p:nvSpPr>
          <p:cNvPr id="1170466586" name=""/>
          <p:cNvSpPr>
            <a:spLocks noGrp="1"/>
          </p:cNvSpPr>
          <p:nvPr/>
        </p:nvSpPr>
        <p:spPr bwMode="auto">
          <a:xfrm>
            <a:off x="790575" y="3905250"/>
            <a:ext cx="5905500" cy="1524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2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A C command-line application that saves files and directories, records backup history and restores a selected snapshot.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18004871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71278853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Features at a glance</a:t>
            </a:r>
            <a:endParaRPr/>
          </a:p>
        </p:txBody>
      </p:sp>
      <p:sp>
        <p:nvSpPr>
          <p:cNvPr id="1743248498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04</a:t>
            </a:r>
            <a:endParaRPr/>
          </a:p>
        </p:txBody>
      </p:sp>
      <p:sp>
        <p:nvSpPr>
          <p:cNvPr id="1350884612" name=""/>
          <p:cNvSpPr>
            <a:spLocks noGrp="1"/>
          </p:cNvSpPr>
          <p:nvPr/>
        </p:nvSpPr>
        <p:spPr bwMode="auto">
          <a:xfrm>
            <a:off x="781050" y="1809750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File and folder backups</a:t>
            </a:r>
            <a:endParaRPr/>
          </a:p>
        </p:txBody>
      </p:sp>
      <p:sp>
        <p:nvSpPr>
          <p:cNvPr id="500237028" name=""/>
          <p:cNvSpPr>
            <a:spLocks noGrp="1"/>
          </p:cNvSpPr>
          <p:nvPr/>
        </p:nvSpPr>
        <p:spPr bwMode="auto">
          <a:xfrm>
            <a:off x="781050" y="2381250"/>
            <a:ext cx="4762500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Back up individual files or recursively copy complete directories.</a:t>
            </a:r>
            <a:endParaRPr/>
          </a:p>
        </p:txBody>
      </p:sp>
      <p:sp>
        <p:nvSpPr>
          <p:cNvPr id="1984259550" name=""/>
          <p:cNvSpPr>
            <a:spLocks noGrp="1"/>
          </p:cNvSpPr>
          <p:nvPr/>
        </p:nvSpPr>
        <p:spPr bwMode="auto">
          <a:xfrm>
            <a:off x="6705600" y="1809750"/>
            <a:ext cx="442912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Timestamped snapshots</a:t>
            </a:r>
            <a:endParaRPr/>
          </a:p>
        </p:txBody>
      </p:sp>
      <p:sp>
        <p:nvSpPr>
          <p:cNvPr id="1258888443" name=""/>
          <p:cNvSpPr>
            <a:spLocks noGrp="1"/>
          </p:cNvSpPr>
          <p:nvPr/>
        </p:nvSpPr>
        <p:spPr bwMode="auto">
          <a:xfrm>
            <a:off x="6705600" y="2381250"/>
            <a:ext cx="4429125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Keep separate versions in locally timed snapshot folders.</a:t>
            </a:r>
            <a:endParaRPr/>
          </a:p>
        </p:txBody>
      </p:sp>
      <p:sp>
        <p:nvSpPr>
          <p:cNvPr id="2123696294" name=""/>
          <p:cNvSpPr>
            <a:spLocks noGrp="1"/>
          </p:cNvSpPr>
          <p:nvPr/>
        </p:nvSpPr>
        <p:spPr bwMode="auto">
          <a:xfrm>
            <a:off x="781050" y="3819525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Optional storage modes</a:t>
            </a:r>
            <a:endParaRPr/>
          </a:p>
        </p:txBody>
      </p:sp>
      <p:sp>
        <p:nvSpPr>
          <p:cNvPr id="1173967984" name=""/>
          <p:cNvSpPr>
            <a:spLocks noGrp="1"/>
          </p:cNvSpPr>
          <p:nvPr/>
        </p:nvSpPr>
        <p:spPr bwMode="auto">
          <a:xfrm>
            <a:off x="781050" y="4391025"/>
            <a:ext cx="4762500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Choose plain copies, compression, encryption or both options.</a:t>
            </a:r>
            <a:endParaRPr/>
          </a:p>
        </p:txBody>
      </p:sp>
      <p:sp>
        <p:nvSpPr>
          <p:cNvPr id="1942603723" name=""/>
          <p:cNvSpPr>
            <a:spLocks noGrp="1"/>
          </p:cNvSpPr>
          <p:nvPr/>
        </p:nvSpPr>
        <p:spPr bwMode="auto">
          <a:xfrm>
            <a:off x="6705600" y="3819525"/>
            <a:ext cx="442912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Interactive recovery</a:t>
            </a:r>
            <a:endParaRPr/>
          </a:p>
        </p:txBody>
      </p:sp>
      <p:sp>
        <p:nvSpPr>
          <p:cNvPr id="1472122886" name=""/>
          <p:cNvSpPr>
            <a:spLocks noGrp="1"/>
          </p:cNvSpPr>
          <p:nvPr/>
        </p:nvSpPr>
        <p:spPr bwMode="auto">
          <a:xfrm>
            <a:off x="6705600" y="4391025"/>
            <a:ext cx="4429125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Browse backup timestamps with fzf and recover the selected version.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7937133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86327039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Backup and versioning</a:t>
            </a:r>
            <a:endParaRPr/>
          </a:p>
        </p:txBody>
      </p:sp>
      <p:sp>
        <p:nvSpPr>
          <p:cNvPr id="567285048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05</a:t>
            </a:r>
            <a:endParaRPr/>
          </a:p>
        </p:txBody>
      </p:sp>
      <p:sp>
        <p:nvSpPr>
          <p:cNvPr id="979132447" name=""/>
          <p:cNvSpPr>
            <a:spLocks noGrp="1"/>
          </p:cNvSpPr>
          <p:nvPr/>
        </p:nvSpPr>
        <p:spPr bwMode="auto">
          <a:xfrm>
            <a:off x="762000" y="174307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01</a:t>
            </a:r>
            <a:endParaRPr/>
          </a:p>
        </p:txBody>
      </p:sp>
      <p:sp>
        <p:nvSpPr>
          <p:cNvPr id="1233905328" name=""/>
          <p:cNvSpPr>
            <a:spLocks noGrp="1"/>
          </p:cNvSpPr>
          <p:nvPr/>
        </p:nvSpPr>
        <p:spPr bwMode="auto">
          <a:xfrm>
            <a:off x="1562100" y="1743075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Resolve an existing source to its absolute path.</a:t>
            </a:r>
            <a:endParaRPr/>
          </a:p>
        </p:txBody>
      </p:sp>
      <p:sp>
        <p:nvSpPr>
          <p:cNvPr id="187997749" name=""/>
          <p:cNvSpPr>
            <a:spLocks noGrp="1"/>
          </p:cNvSpPr>
          <p:nvPr/>
        </p:nvSpPr>
        <p:spPr bwMode="auto">
          <a:xfrm>
            <a:off x="762000" y="252412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02</a:t>
            </a:r>
            <a:endParaRPr/>
          </a:p>
        </p:txBody>
      </p:sp>
      <p:sp>
        <p:nvSpPr>
          <p:cNvPr id="31126279" name=""/>
          <p:cNvSpPr>
            <a:spLocks noGrp="1"/>
          </p:cNvSpPr>
          <p:nvPr/>
        </p:nvSpPr>
        <p:spPr bwMode="auto">
          <a:xfrm>
            <a:off x="1562100" y="2524125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Generate a SHA-1 identifier for that source path.</a:t>
            </a:r>
            <a:endParaRPr/>
          </a:p>
        </p:txBody>
      </p:sp>
      <p:sp>
        <p:nvSpPr>
          <p:cNvPr id="1030002350" name=""/>
          <p:cNvSpPr>
            <a:spLocks noGrp="1"/>
          </p:cNvSpPr>
          <p:nvPr/>
        </p:nvSpPr>
        <p:spPr bwMode="auto">
          <a:xfrm>
            <a:off x="762000" y="330517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03</a:t>
            </a:r>
            <a:endParaRPr/>
          </a:p>
        </p:txBody>
      </p:sp>
      <p:sp>
        <p:nvSpPr>
          <p:cNvPr id="464745505" name=""/>
          <p:cNvSpPr>
            <a:spLocks noGrp="1"/>
          </p:cNvSpPr>
          <p:nvPr/>
        </p:nvSpPr>
        <p:spPr bwMode="auto">
          <a:xfrm>
            <a:off x="1562100" y="3305175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Create a snapshot folder with a local timestamp.</a:t>
            </a:r>
            <a:endParaRPr/>
          </a:p>
        </p:txBody>
      </p:sp>
      <p:sp>
        <p:nvSpPr>
          <p:cNvPr id="742858194" name=""/>
          <p:cNvSpPr>
            <a:spLocks noGrp="1"/>
          </p:cNvSpPr>
          <p:nvPr/>
        </p:nvSpPr>
        <p:spPr bwMode="auto">
          <a:xfrm>
            <a:off x="762000" y="408622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04</a:t>
            </a:r>
            <a:endParaRPr/>
          </a:p>
        </p:txBody>
      </p:sp>
      <p:sp>
        <p:nvSpPr>
          <p:cNvPr id="1721808297" name=""/>
          <p:cNvSpPr>
            <a:spLocks noGrp="1"/>
          </p:cNvSpPr>
          <p:nvPr/>
        </p:nvSpPr>
        <p:spPr bwMode="auto">
          <a:xfrm>
            <a:off x="1562100" y="4086225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Copy the source or create the selected archive format.</a:t>
            </a:r>
            <a:endParaRPr/>
          </a:p>
        </p:txBody>
      </p:sp>
      <p:sp>
        <p:nvSpPr>
          <p:cNvPr id="1196002345" name=""/>
          <p:cNvSpPr>
            <a:spLocks noGrp="1"/>
          </p:cNvSpPr>
          <p:nvPr/>
        </p:nvSpPr>
        <p:spPr bwMode="auto">
          <a:xfrm>
            <a:off x="762000" y="4867274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05</a:t>
            </a:r>
            <a:endParaRPr/>
          </a:p>
        </p:txBody>
      </p:sp>
      <p:sp>
        <p:nvSpPr>
          <p:cNvPr id="1945573461" name=""/>
          <p:cNvSpPr>
            <a:spLocks noGrp="1"/>
          </p:cNvSpPr>
          <p:nvPr/>
        </p:nvSpPr>
        <p:spPr bwMode="auto">
          <a:xfrm>
            <a:off x="1562100" y="4867274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Append the timestamp, path and hash to CSV history.</a:t>
            </a:r>
            <a:endParaRPr/>
          </a:p>
        </p:txBody>
      </p:sp>
      <p:sp>
        <p:nvSpPr>
          <p:cNvPr id="1123925417" name=""/>
          <p:cNvSpPr>
            <a:spLocks noGrp="1"/>
          </p:cNvSpPr>
          <p:nvPr/>
        </p:nvSpPr>
        <p:spPr bwMode="auto">
          <a:xfrm>
            <a:off x="762000" y="5619750"/>
            <a:ext cx="100012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7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Snapshot names: YYYYMMDD-HHMMSS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97781341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11352119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Four storage modes</a:t>
            </a:r>
            <a:endParaRPr/>
          </a:p>
        </p:txBody>
      </p:sp>
      <p:sp>
        <p:nvSpPr>
          <p:cNvPr id="655503668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06</a:t>
            </a:r>
            <a:endParaRPr/>
          </a:p>
        </p:txBody>
      </p:sp>
      <p:sp>
        <p:nvSpPr>
          <p:cNvPr id="1705111466" name=""/>
          <p:cNvSpPr>
            <a:spLocks noGrp="1"/>
          </p:cNvSpPr>
          <p:nvPr/>
        </p:nvSpPr>
        <p:spPr bwMode="auto">
          <a:xfrm>
            <a:off x="790575" y="1828800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01   Plain copy</a:t>
            </a:r>
            <a:endParaRPr/>
          </a:p>
        </p:txBody>
      </p:sp>
      <p:sp>
        <p:nvSpPr>
          <p:cNvPr id="1173457444" name=""/>
          <p:cNvSpPr>
            <a:spLocks noGrp="1"/>
          </p:cNvSpPr>
          <p:nvPr/>
        </p:nvSpPr>
        <p:spPr bwMode="auto">
          <a:xfrm>
            <a:off x="790575" y="2400300"/>
            <a:ext cx="4762500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Recursive file or directory copy</a:t>
            </a:r>
            <a:endParaRPr/>
          </a:p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&lt;source_basename&gt;</a:t>
            </a:r>
            <a:endParaRPr/>
          </a:p>
        </p:txBody>
      </p:sp>
      <p:sp>
        <p:nvSpPr>
          <p:cNvPr id="190353753" name=""/>
          <p:cNvSpPr>
            <a:spLocks noGrp="1"/>
          </p:cNvSpPr>
          <p:nvPr/>
        </p:nvSpPr>
        <p:spPr bwMode="auto">
          <a:xfrm>
            <a:off x="6686550" y="1828800"/>
            <a:ext cx="4572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02   Compressed</a:t>
            </a:r>
            <a:endParaRPr/>
          </a:p>
        </p:txBody>
      </p:sp>
      <p:sp>
        <p:nvSpPr>
          <p:cNvPr id="1138687301" name=""/>
          <p:cNvSpPr>
            <a:spLocks noGrp="1"/>
          </p:cNvSpPr>
          <p:nvPr/>
        </p:nvSpPr>
        <p:spPr bwMode="auto">
          <a:xfrm>
            <a:off x="6686550" y="2400300"/>
            <a:ext cx="4572000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tar archive with LZ4 compression</a:t>
            </a:r>
            <a:endParaRPr/>
          </a:p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&lt;source_basename&gt;.tar.lz4</a:t>
            </a:r>
            <a:endParaRPr/>
          </a:p>
        </p:txBody>
      </p:sp>
      <p:sp>
        <p:nvSpPr>
          <p:cNvPr id="576799131" name=""/>
          <p:cNvSpPr>
            <a:spLocks noGrp="1"/>
          </p:cNvSpPr>
          <p:nvPr/>
        </p:nvSpPr>
        <p:spPr bwMode="auto">
          <a:xfrm>
            <a:off x="790575" y="3819525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03   Encrypted</a:t>
            </a:r>
            <a:endParaRPr/>
          </a:p>
        </p:txBody>
      </p:sp>
      <p:sp>
        <p:nvSpPr>
          <p:cNvPr id="1886692516" name=""/>
          <p:cNvSpPr>
            <a:spLocks noGrp="1"/>
          </p:cNvSpPr>
          <p:nvPr/>
        </p:nvSpPr>
        <p:spPr bwMode="auto">
          <a:xfrm>
            <a:off x="790575" y="4391025"/>
            <a:ext cx="4762500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tar archive encrypted with OpenSSL</a:t>
            </a:r>
            <a:endParaRPr/>
          </a:p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&lt;source_basename&gt;.tar.enc</a:t>
            </a:r>
            <a:endParaRPr/>
          </a:p>
        </p:txBody>
      </p:sp>
      <p:sp>
        <p:nvSpPr>
          <p:cNvPr id="464203176" name=""/>
          <p:cNvSpPr>
            <a:spLocks noGrp="1"/>
          </p:cNvSpPr>
          <p:nvPr/>
        </p:nvSpPr>
        <p:spPr bwMode="auto">
          <a:xfrm>
            <a:off x="6686550" y="3819525"/>
            <a:ext cx="4572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04   Compressed + encrypted</a:t>
            </a:r>
            <a:endParaRPr/>
          </a:p>
        </p:txBody>
      </p:sp>
      <p:sp>
        <p:nvSpPr>
          <p:cNvPr id="688283338" name=""/>
          <p:cNvSpPr>
            <a:spLocks noGrp="1"/>
          </p:cNvSpPr>
          <p:nvPr/>
        </p:nvSpPr>
        <p:spPr bwMode="auto">
          <a:xfrm>
            <a:off x="6686550" y="4391025"/>
            <a:ext cx="4572000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LZ4 compression followed by encryption</a:t>
            </a:r>
            <a:endParaRPr/>
          </a:p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&lt;source_basename&gt;.tar.lz4.enc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07956884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49916882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Compression and archives</a:t>
            </a:r>
            <a:endParaRPr/>
          </a:p>
        </p:txBody>
      </p:sp>
      <p:sp>
        <p:nvSpPr>
          <p:cNvPr id="963047739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07</a:t>
            </a:r>
            <a:endParaRPr/>
          </a:p>
        </p:txBody>
      </p:sp>
      <p:pic>
        <p:nvPicPr>
          <p:cNvPr id="414078007" name=""/>
          <p:cNvPicPr>
            <a:picLocks noChangeAspect="1"/>
          </p:cNvPicPr>
          <p:nvPr/>
        </p:nvPicPr>
        <p:blipFill rotWithShape="1">
          <a:blip r:embed="rId4"/>
          <a:srcRect l="0" t="0" r="0" b="0"/>
          <a:stretch>
            <a:fillRect l="0" t="0" r="0" b="0"/>
          </a:stretch>
        </p:blipFill>
        <p:spPr bwMode="auto">
          <a:xfrm>
            <a:off x="7239000" y="1724025"/>
            <a:ext cx="4000500" cy="4000500"/>
          </a:xfrm>
          <a:prstGeom prst="rect">
            <a:avLst/>
          </a:prstGeom>
        </p:spPr>
      </p:pic>
      <p:sp>
        <p:nvSpPr>
          <p:cNvPr id="1889637935" name=""/>
          <p:cNvSpPr>
            <a:spLocks noGrp="1"/>
          </p:cNvSpPr>
          <p:nvPr/>
        </p:nvSpPr>
        <p:spPr bwMode="auto">
          <a:xfrm>
            <a:off x="762000" y="1971675"/>
            <a:ext cx="6477000" cy="742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150" b="0">
                <a:solidFill>
                  <a:srgbClr val="D6B481"/>
                </a:solidFill>
                <a:latin typeface="Noto Serif"/>
                <a:ea typeface="Noto Serif"/>
                <a:cs typeface="Noto Serif"/>
              </a:defRPr>
            </a:pPr>
            <a:r>
              <a:rPr sz="4150" b="0">
                <a:solidFill>
                  <a:srgbClr val="D6B481"/>
                </a:solidFill>
                <a:latin typeface="Noto Serif"/>
                <a:ea typeface="Noto Serif"/>
                <a:cs typeface="Noto Serif"/>
              </a:rPr>
              <a:t>tar + LZ4</a:t>
            </a:r>
            <a:endParaRPr/>
          </a:p>
        </p:txBody>
      </p:sp>
      <p:sp>
        <p:nvSpPr>
          <p:cNvPr id="648745054" name=""/>
          <p:cNvSpPr>
            <a:spLocks noGrp="1"/>
          </p:cNvSpPr>
          <p:nvPr/>
        </p:nvSpPr>
        <p:spPr bwMode="auto">
          <a:xfrm>
            <a:off x="762000" y="305752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01</a:t>
            </a:r>
            <a:endParaRPr/>
          </a:p>
        </p:txBody>
      </p:sp>
      <p:sp>
        <p:nvSpPr>
          <p:cNvPr id="325656949" name=""/>
          <p:cNvSpPr>
            <a:spLocks noGrp="1"/>
          </p:cNvSpPr>
          <p:nvPr/>
        </p:nvSpPr>
        <p:spPr bwMode="auto">
          <a:xfrm>
            <a:off x="1562100" y="3057525"/>
            <a:ext cx="539115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tar packages files or directories into an archive.</a:t>
            </a:r>
            <a:endParaRPr/>
          </a:p>
        </p:txBody>
      </p:sp>
      <p:sp>
        <p:nvSpPr>
          <p:cNvPr id="1319373281" name=""/>
          <p:cNvSpPr>
            <a:spLocks noGrp="1"/>
          </p:cNvSpPr>
          <p:nvPr/>
        </p:nvSpPr>
        <p:spPr bwMode="auto">
          <a:xfrm>
            <a:off x="762000" y="3771900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02</a:t>
            </a:r>
            <a:endParaRPr/>
          </a:p>
        </p:txBody>
      </p:sp>
      <p:sp>
        <p:nvSpPr>
          <p:cNvPr id="1897352185" name=""/>
          <p:cNvSpPr>
            <a:spLocks noGrp="1"/>
          </p:cNvSpPr>
          <p:nvPr/>
        </p:nvSpPr>
        <p:spPr bwMode="auto">
          <a:xfrm>
            <a:off x="1562100" y="3771900"/>
            <a:ext cx="539115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LZ4 compresses the archive when requested.</a:t>
            </a:r>
            <a:endParaRPr/>
          </a:p>
        </p:txBody>
      </p:sp>
      <p:sp>
        <p:nvSpPr>
          <p:cNvPr id="207716120" name=""/>
          <p:cNvSpPr>
            <a:spLocks noGrp="1"/>
          </p:cNvSpPr>
          <p:nvPr/>
        </p:nvSpPr>
        <p:spPr bwMode="auto">
          <a:xfrm>
            <a:off x="762000" y="448627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03</a:t>
            </a:r>
            <a:endParaRPr/>
          </a:p>
        </p:txBody>
      </p:sp>
      <p:sp>
        <p:nvSpPr>
          <p:cNvPr id="1081915325" name=""/>
          <p:cNvSpPr>
            <a:spLocks noGrp="1"/>
          </p:cNvSpPr>
          <p:nvPr/>
        </p:nvSpPr>
        <p:spPr bwMode="auto">
          <a:xfrm>
            <a:off x="1562100" y="4486275"/>
            <a:ext cx="539115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Archives store the source basename.</a:t>
            </a:r>
            <a:endParaRPr/>
          </a:p>
        </p:txBody>
      </p:sp>
      <p:sp>
        <p:nvSpPr>
          <p:cNvPr id="1858997284" name=""/>
          <p:cNvSpPr>
            <a:spLocks noGrp="1"/>
          </p:cNvSpPr>
          <p:nvPr/>
        </p:nvSpPr>
        <p:spPr bwMode="auto">
          <a:xfrm>
            <a:off x="762000" y="5200650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04</a:t>
            </a:r>
            <a:endParaRPr/>
          </a:p>
        </p:txBody>
      </p:sp>
      <p:sp>
        <p:nvSpPr>
          <p:cNvPr id="1896585447" name=""/>
          <p:cNvSpPr>
            <a:spLocks noGrp="1"/>
          </p:cNvSpPr>
          <p:nvPr/>
        </p:nvSpPr>
        <p:spPr bwMode="auto">
          <a:xfrm>
            <a:off x="1562100" y="5200650"/>
            <a:ext cx="539115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Restore extracts archives into the original parent directory.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9658946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71271172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Encryption and password handling</a:t>
            </a:r>
            <a:endParaRPr/>
          </a:p>
        </p:txBody>
      </p:sp>
      <p:sp>
        <p:nvSpPr>
          <p:cNvPr id="741193734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08</a:t>
            </a:r>
            <a:endParaRPr/>
          </a:p>
        </p:txBody>
      </p:sp>
      <p:sp>
        <p:nvSpPr>
          <p:cNvPr id="809155231" name=""/>
          <p:cNvSpPr>
            <a:spLocks noGrp="1"/>
          </p:cNvSpPr>
          <p:nvPr/>
        </p:nvSpPr>
        <p:spPr bwMode="auto">
          <a:xfrm>
            <a:off x="762000" y="172402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00" b="0">
                <a:solidFill>
                  <a:srgbClr val="D6B481"/>
                </a:solidFill>
                <a:latin typeface="Noto Serif"/>
                <a:ea typeface="Noto Serif"/>
                <a:cs typeface="Noto Serif"/>
              </a:defRPr>
            </a:pPr>
            <a:r>
              <a:rPr sz="4300" b="0">
                <a:solidFill>
                  <a:srgbClr val="D6B481"/>
                </a:solidFill>
                <a:latin typeface="Noto Serif"/>
                <a:ea typeface="Noto Serif"/>
                <a:cs typeface="Noto Serif"/>
              </a:rPr>
              <a:t>AES-256-CBC</a:t>
            </a:r>
            <a:endParaRPr/>
          </a:p>
        </p:txBody>
      </p:sp>
      <p:sp>
        <p:nvSpPr>
          <p:cNvPr id="229578913" name=""/>
          <p:cNvSpPr>
            <a:spLocks noGrp="1"/>
          </p:cNvSpPr>
          <p:nvPr/>
        </p:nvSpPr>
        <p:spPr bwMode="auto">
          <a:xfrm>
            <a:off x="790575" y="2857500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OpenSSL encryption</a:t>
            </a:r>
            <a:endParaRPr/>
          </a:p>
        </p:txBody>
      </p:sp>
      <p:sp>
        <p:nvSpPr>
          <p:cNvPr id="654921254" name=""/>
          <p:cNvSpPr>
            <a:spLocks noGrp="1"/>
          </p:cNvSpPr>
          <p:nvPr/>
        </p:nvSpPr>
        <p:spPr bwMode="auto">
          <a:xfrm>
            <a:off x="790575" y="3429000"/>
            <a:ext cx="4762500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PBKDF2 derives the encryption key.</a:t>
            </a:r>
            <a:endParaRPr/>
          </a:p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A salt accompanies encrypted backups.</a:t>
            </a:r>
            <a:endParaRPr/>
          </a:p>
        </p:txBody>
      </p:sp>
      <p:sp>
        <p:nvSpPr>
          <p:cNvPr id="1108318630" name=""/>
          <p:cNvSpPr>
            <a:spLocks noGrp="1"/>
          </p:cNvSpPr>
          <p:nvPr/>
        </p:nvSpPr>
        <p:spPr bwMode="auto">
          <a:xfrm>
            <a:off x="6705600" y="2857500"/>
            <a:ext cx="442912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Password confirmation</a:t>
            </a:r>
            <a:endParaRPr/>
          </a:p>
        </p:txBody>
      </p:sp>
      <p:sp>
        <p:nvSpPr>
          <p:cNvPr id="1806499118" name=""/>
          <p:cNvSpPr>
            <a:spLocks noGrp="1"/>
          </p:cNvSpPr>
          <p:nvPr/>
        </p:nvSpPr>
        <p:spPr bwMode="auto">
          <a:xfrm>
            <a:off x="6705600" y="3429000"/>
            <a:ext cx="4429125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Backup accepts a nonempty password and requires matching confirmation.</a:t>
            </a:r>
            <a:endParaRPr/>
          </a:p>
        </p:txBody>
      </p:sp>
      <p:sp>
        <p:nvSpPr>
          <p:cNvPr id="1963570824" name=""/>
          <p:cNvSpPr>
            <a:spLocks noGrp="1"/>
          </p:cNvSpPr>
          <p:nvPr/>
        </p:nvSpPr>
        <p:spPr bwMode="auto">
          <a:xfrm>
            <a:off x="790575" y="4572000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Hidden terminal input</a:t>
            </a:r>
            <a:endParaRPr/>
          </a:p>
        </p:txBody>
      </p:sp>
      <p:sp>
        <p:nvSpPr>
          <p:cNvPr id="14622316" name=""/>
          <p:cNvSpPr>
            <a:spLocks noGrp="1"/>
          </p:cNvSpPr>
          <p:nvPr/>
        </p:nvSpPr>
        <p:spPr bwMode="auto">
          <a:xfrm>
            <a:off x="790575" y="5143500"/>
            <a:ext cx="4762500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SafeStore disables input echo when reading passwords in a terminal.</a:t>
            </a:r>
            <a:endParaRPr/>
          </a:p>
        </p:txBody>
      </p:sp>
      <p:sp>
        <p:nvSpPr>
          <p:cNvPr id="1351462790" name=""/>
          <p:cNvSpPr>
            <a:spLocks noGrp="1"/>
          </p:cNvSpPr>
          <p:nvPr/>
        </p:nvSpPr>
        <p:spPr bwMode="auto">
          <a:xfrm>
            <a:off x="6705600" y="4572000"/>
            <a:ext cx="442912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Password for recovery</a:t>
            </a:r>
            <a:endParaRPr/>
          </a:p>
        </p:txBody>
      </p:sp>
      <p:sp>
        <p:nvSpPr>
          <p:cNvPr id="1131928538" name=""/>
          <p:cNvSpPr>
            <a:spLocks noGrp="1"/>
          </p:cNvSpPr>
          <p:nvPr/>
        </p:nvSpPr>
        <p:spPr bwMode="auto">
          <a:xfrm>
            <a:off x="6705600" y="5143500"/>
            <a:ext cx="4429125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Restore asks for the selected snapshot’s password.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0146922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4484108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Backup history</a:t>
            </a:r>
            <a:endParaRPr/>
          </a:p>
        </p:txBody>
      </p:sp>
      <p:sp>
        <p:nvSpPr>
          <p:cNvPr id="51838174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09</a:t>
            </a:r>
            <a:endParaRPr/>
          </a:p>
        </p:txBody>
      </p:sp>
      <p:sp>
        <p:nvSpPr>
          <p:cNvPr id="507315005" name=""/>
          <p:cNvSpPr>
            <a:spLocks noGrp="1"/>
          </p:cNvSpPr>
          <p:nvPr/>
        </p:nvSpPr>
        <p:spPr bwMode="auto">
          <a:xfrm>
            <a:off x="762000" y="1752599"/>
            <a:ext cx="10382250" cy="628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0">
                <a:solidFill>
                  <a:srgbClr val="D6B481"/>
                </a:solidFill>
                <a:latin typeface="Noto Serif"/>
                <a:ea typeface="Noto Serif"/>
                <a:cs typeface="Noto Serif"/>
              </a:defRPr>
            </a:pPr>
            <a:r>
              <a:rPr sz="3000" b="0">
                <a:solidFill>
                  <a:srgbClr val="D6B481"/>
                </a:solidFill>
                <a:latin typeface="Noto Serif"/>
                <a:ea typeface="Noto Serif"/>
                <a:cs typeface="Noto Serif"/>
              </a:rPr>
              <a:t>Grouped by original path</a:t>
            </a:r>
            <a:endParaRPr/>
          </a:p>
        </p:txBody>
      </p:sp>
      <p:sp>
        <p:nvSpPr>
          <p:cNvPr id="746094142" name=""/>
          <p:cNvSpPr>
            <a:spLocks noGrp="1"/>
          </p:cNvSpPr>
          <p:nvPr/>
        </p:nvSpPr>
        <p:spPr bwMode="auto">
          <a:xfrm>
            <a:off x="762000" y="280987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01</a:t>
            </a:r>
            <a:endParaRPr/>
          </a:p>
        </p:txBody>
      </p:sp>
      <p:sp>
        <p:nvSpPr>
          <p:cNvPr id="560267213" name=""/>
          <p:cNvSpPr>
            <a:spLocks noGrp="1"/>
          </p:cNvSpPr>
          <p:nvPr/>
        </p:nvSpPr>
        <p:spPr bwMode="auto">
          <a:xfrm>
            <a:off x="1562100" y="2809875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The list command reads records from file.csv.</a:t>
            </a:r>
            <a:endParaRPr/>
          </a:p>
        </p:txBody>
      </p:sp>
      <p:sp>
        <p:nvSpPr>
          <p:cNvPr id="1410652721" name=""/>
          <p:cNvSpPr>
            <a:spLocks noGrp="1"/>
          </p:cNvSpPr>
          <p:nvPr/>
        </p:nvSpPr>
        <p:spPr bwMode="auto">
          <a:xfrm>
            <a:off x="762000" y="3600450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02</a:t>
            </a:r>
            <a:endParaRPr/>
          </a:p>
        </p:txBody>
      </p:sp>
      <p:sp>
        <p:nvSpPr>
          <p:cNvPr id="372162555" name=""/>
          <p:cNvSpPr>
            <a:spLocks noGrp="1"/>
          </p:cNvSpPr>
          <p:nvPr/>
        </p:nvSpPr>
        <p:spPr bwMode="auto">
          <a:xfrm>
            <a:off x="1562100" y="3600450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Each group identifies the original absolute source path.</a:t>
            </a:r>
            <a:endParaRPr/>
          </a:p>
        </p:txBody>
      </p:sp>
      <p:sp>
        <p:nvSpPr>
          <p:cNvPr id="871422016" name=""/>
          <p:cNvSpPr>
            <a:spLocks noGrp="1"/>
          </p:cNvSpPr>
          <p:nvPr/>
        </p:nvSpPr>
        <p:spPr bwMode="auto">
          <a:xfrm>
            <a:off x="762000" y="439102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03</a:t>
            </a:r>
            <a:endParaRPr/>
          </a:p>
        </p:txBody>
      </p:sp>
      <p:sp>
        <p:nvSpPr>
          <p:cNvPr id="847899410" name=""/>
          <p:cNvSpPr>
            <a:spLocks noGrp="1"/>
          </p:cNvSpPr>
          <p:nvPr/>
        </p:nvSpPr>
        <p:spPr bwMode="auto">
          <a:xfrm>
            <a:off x="1562100" y="4391025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Entries display the backup timestamp and path identifier.</a:t>
            </a:r>
            <a:endParaRPr/>
          </a:p>
        </p:txBody>
      </p:sp>
      <p:sp>
        <p:nvSpPr>
          <p:cNvPr id="1648448150" name=""/>
          <p:cNvSpPr>
            <a:spLocks noGrp="1"/>
          </p:cNvSpPr>
          <p:nvPr/>
        </p:nvSpPr>
        <p:spPr bwMode="auto">
          <a:xfrm>
            <a:off x="762000" y="5181600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04</a:t>
            </a:r>
            <a:endParaRPr/>
          </a:p>
        </p:txBody>
      </p:sp>
      <p:sp>
        <p:nvSpPr>
          <p:cNvPr id="1375186209" name=""/>
          <p:cNvSpPr>
            <a:spLocks noGrp="1"/>
          </p:cNvSpPr>
          <p:nvPr/>
        </p:nvSpPr>
        <p:spPr bwMode="auto">
          <a:xfrm>
            <a:off x="1562100" y="5181600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If the history file cannot be opened, it reports “No backups yet.”</a:t>
            </a:r>
            <a:endParaRPr/>
          </a:p>
        </p:txBody>
      </p:sp>
      <p:sp>
        <p:nvSpPr>
          <p:cNvPr id="1780836303" name=""/>
          <p:cNvSpPr>
            <a:spLocks noGrp="1"/>
          </p:cNvSpPr>
          <p:nvPr/>
        </p:nvSpPr>
        <p:spPr bwMode="auto">
          <a:xfrm>
            <a:off x="790575" y="5667375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50" b="0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750" b="0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CSV fields: timestamp,path,hash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3359392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80914618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Interactive snapshot selection</a:t>
            </a:r>
            <a:endParaRPr/>
          </a:p>
        </p:txBody>
      </p:sp>
      <p:sp>
        <p:nvSpPr>
          <p:cNvPr id="1112598657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10</a:t>
            </a:r>
            <a:endParaRPr/>
          </a:p>
        </p:txBody>
      </p:sp>
      <p:sp>
        <p:nvSpPr>
          <p:cNvPr id="847665385" name=""/>
          <p:cNvSpPr>
            <a:spLocks noGrp="1"/>
          </p:cNvSpPr>
          <p:nvPr/>
        </p:nvSpPr>
        <p:spPr bwMode="auto">
          <a:xfrm>
            <a:off x="762000" y="1752599"/>
            <a:ext cx="3143250" cy="1314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7900" b="0">
                <a:solidFill>
                  <a:srgbClr val="75D4CA"/>
                </a:solidFill>
                <a:latin typeface="Noto Serif"/>
                <a:ea typeface="Noto Serif"/>
                <a:cs typeface="Noto Serif"/>
              </a:defRPr>
            </a:pPr>
            <a:r>
              <a:rPr sz="7900" b="0">
                <a:solidFill>
                  <a:srgbClr val="75D4CA"/>
                </a:solidFill>
                <a:latin typeface="Noto Serif"/>
                <a:ea typeface="Noto Serif"/>
                <a:cs typeface="Noto Serif"/>
              </a:rPr>
              <a:t>fzf</a:t>
            </a:r>
            <a:endParaRPr/>
          </a:p>
        </p:txBody>
      </p:sp>
      <p:sp>
        <p:nvSpPr>
          <p:cNvPr id="1053232022" name=""/>
          <p:cNvSpPr>
            <a:spLocks noGrp="1"/>
          </p:cNvSpPr>
          <p:nvPr/>
        </p:nvSpPr>
        <p:spPr bwMode="auto">
          <a:xfrm>
            <a:off x="4086225" y="1971675"/>
            <a:ext cx="714375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00" b="0">
                <a:solidFill>
                  <a:srgbClr val="D6B481"/>
                </a:solidFill>
                <a:latin typeface="Noto Serif"/>
                <a:ea typeface="Noto Serif"/>
                <a:cs typeface="Noto Serif"/>
              </a:defRPr>
            </a:pPr>
            <a:r>
              <a:rPr sz="3100" b="0">
                <a:solidFill>
                  <a:srgbClr val="D6B481"/>
                </a:solidFill>
                <a:latin typeface="Noto Serif"/>
                <a:ea typeface="Noto Serif"/>
                <a:cs typeface="Noto Serif"/>
              </a:rPr>
              <a:t>Choose a saved timestamp</a:t>
            </a:r>
            <a:endParaRPr/>
          </a:p>
        </p:txBody>
      </p:sp>
      <p:sp>
        <p:nvSpPr>
          <p:cNvPr id="2080835567" name=""/>
          <p:cNvSpPr>
            <a:spLocks noGrp="1"/>
          </p:cNvSpPr>
          <p:nvPr/>
        </p:nvSpPr>
        <p:spPr bwMode="auto">
          <a:xfrm>
            <a:off x="762000" y="338137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01</a:t>
            </a:r>
            <a:endParaRPr/>
          </a:p>
        </p:txBody>
      </p:sp>
      <p:sp>
        <p:nvSpPr>
          <p:cNvPr id="311224570" name=""/>
          <p:cNvSpPr>
            <a:spLocks noGrp="1"/>
          </p:cNvSpPr>
          <p:nvPr/>
        </p:nvSpPr>
        <p:spPr bwMode="auto">
          <a:xfrm>
            <a:off x="1562100" y="3381375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Find snapshots using the original absolute source path.</a:t>
            </a:r>
            <a:endParaRPr/>
          </a:p>
        </p:txBody>
      </p:sp>
      <p:sp>
        <p:nvSpPr>
          <p:cNvPr id="2125492305" name=""/>
          <p:cNvSpPr>
            <a:spLocks noGrp="1"/>
          </p:cNvSpPr>
          <p:nvPr/>
        </p:nvSpPr>
        <p:spPr bwMode="auto">
          <a:xfrm>
            <a:off x="762000" y="4076699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02</a:t>
            </a:r>
            <a:endParaRPr/>
          </a:p>
        </p:txBody>
      </p:sp>
      <p:sp>
        <p:nvSpPr>
          <p:cNvPr id="1454305890" name=""/>
          <p:cNvSpPr>
            <a:spLocks noGrp="1"/>
          </p:cNvSpPr>
          <p:nvPr/>
        </p:nvSpPr>
        <p:spPr bwMode="auto">
          <a:xfrm>
            <a:off x="1562100" y="4076699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Show the newest timestamps first in the selector.</a:t>
            </a:r>
            <a:endParaRPr/>
          </a:p>
        </p:txBody>
      </p:sp>
      <p:sp>
        <p:nvSpPr>
          <p:cNvPr id="1876491397" name=""/>
          <p:cNvSpPr>
            <a:spLocks noGrp="1"/>
          </p:cNvSpPr>
          <p:nvPr/>
        </p:nvSpPr>
        <p:spPr bwMode="auto">
          <a:xfrm>
            <a:off x="762000" y="477202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03</a:t>
            </a:r>
            <a:endParaRPr/>
          </a:p>
        </p:txBody>
      </p:sp>
      <p:sp>
        <p:nvSpPr>
          <p:cNvPr id="165069502" name=""/>
          <p:cNvSpPr>
            <a:spLocks noGrp="1"/>
          </p:cNvSpPr>
          <p:nvPr/>
        </p:nvSpPr>
        <p:spPr bwMode="auto">
          <a:xfrm>
            <a:off x="1562100" y="4772025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Select a timestamp and press Enter to restore.</a:t>
            </a:r>
            <a:endParaRPr/>
          </a:p>
        </p:txBody>
      </p:sp>
      <p:sp>
        <p:nvSpPr>
          <p:cNvPr id="277541750" name=""/>
          <p:cNvSpPr>
            <a:spLocks noGrp="1"/>
          </p:cNvSpPr>
          <p:nvPr/>
        </p:nvSpPr>
        <p:spPr bwMode="auto">
          <a:xfrm>
            <a:off x="762000" y="5467350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04</a:t>
            </a:r>
            <a:endParaRPr/>
          </a:p>
        </p:txBody>
      </p:sp>
      <p:sp>
        <p:nvSpPr>
          <p:cNvPr id="122025046" name=""/>
          <p:cNvSpPr>
            <a:spLocks noGrp="1"/>
          </p:cNvSpPr>
          <p:nvPr/>
        </p:nvSpPr>
        <p:spPr bwMode="auto">
          <a:xfrm>
            <a:off x="1562100" y="5467350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Cancel selection to leave the current target untouched.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9359998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43731642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Restore capabilities</a:t>
            </a:r>
            <a:endParaRPr/>
          </a:p>
        </p:txBody>
      </p:sp>
      <p:sp>
        <p:nvSpPr>
          <p:cNvPr id="1213727373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11</a:t>
            </a:r>
            <a:endParaRPr/>
          </a:p>
        </p:txBody>
      </p:sp>
      <p:sp>
        <p:nvSpPr>
          <p:cNvPr id="1330147421" name=""/>
          <p:cNvSpPr>
            <a:spLocks noGrp="1"/>
          </p:cNvSpPr>
          <p:nvPr/>
        </p:nvSpPr>
        <p:spPr bwMode="auto">
          <a:xfrm>
            <a:off x="781050" y="1866900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Automatic format detection</a:t>
            </a:r>
            <a:endParaRPr/>
          </a:p>
        </p:txBody>
      </p:sp>
      <p:sp>
        <p:nvSpPr>
          <p:cNvPr id="985937133" name=""/>
          <p:cNvSpPr>
            <a:spLocks noGrp="1"/>
          </p:cNvSpPr>
          <p:nvPr/>
        </p:nvSpPr>
        <p:spPr bwMode="auto">
          <a:xfrm>
            <a:off x="781050" y="2438400"/>
            <a:ext cx="4762500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Detect plain, compressed, encrypted and combined formats by filename.</a:t>
            </a:r>
            <a:endParaRPr/>
          </a:p>
        </p:txBody>
      </p:sp>
      <p:sp>
        <p:nvSpPr>
          <p:cNvPr id="1098324912" name=""/>
          <p:cNvSpPr>
            <a:spLocks noGrp="1"/>
          </p:cNvSpPr>
          <p:nvPr/>
        </p:nvSpPr>
        <p:spPr bwMode="auto">
          <a:xfrm>
            <a:off x="6705600" y="1866900"/>
            <a:ext cx="442912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Original-location recovery</a:t>
            </a:r>
            <a:endParaRPr/>
          </a:p>
        </p:txBody>
      </p:sp>
      <p:sp>
        <p:nvSpPr>
          <p:cNvPr id="1048782921" name=""/>
          <p:cNvSpPr>
            <a:spLocks noGrp="1"/>
          </p:cNvSpPr>
          <p:nvPr/>
        </p:nvSpPr>
        <p:spPr bwMode="auto">
          <a:xfrm>
            <a:off x="6705600" y="2438400"/>
            <a:ext cx="4429125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Copy or extract the selected snapshot to its original location, replacing the target.</a:t>
            </a:r>
            <a:endParaRPr/>
          </a:p>
        </p:txBody>
      </p:sp>
      <p:sp>
        <p:nvSpPr>
          <p:cNvPr id="1978772566" name=""/>
          <p:cNvSpPr>
            <a:spLocks noGrp="1"/>
          </p:cNvSpPr>
          <p:nvPr/>
        </p:nvSpPr>
        <p:spPr bwMode="auto">
          <a:xfrm>
            <a:off x="781050" y="3962400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Deleted-source recovery</a:t>
            </a:r>
            <a:endParaRPr/>
          </a:p>
        </p:txBody>
      </p:sp>
      <p:sp>
        <p:nvSpPr>
          <p:cNvPr id="1040207461" name=""/>
          <p:cNvSpPr>
            <a:spLocks noGrp="1"/>
          </p:cNvSpPr>
          <p:nvPr/>
        </p:nvSpPr>
        <p:spPr bwMode="auto">
          <a:xfrm>
            <a:off x="781050" y="4533900"/>
            <a:ext cx="4762500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Recover a deleted file or folder using the exact original absolute path.</a:t>
            </a:r>
            <a:endParaRPr/>
          </a:p>
        </p:txBody>
      </p:sp>
      <p:sp>
        <p:nvSpPr>
          <p:cNvPr id="712778317" name=""/>
          <p:cNvSpPr>
            <a:spLocks noGrp="1"/>
          </p:cNvSpPr>
          <p:nvPr/>
        </p:nvSpPr>
        <p:spPr bwMode="auto">
          <a:xfrm>
            <a:off x="6705600" y="3962400"/>
            <a:ext cx="442912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Encrypted recovery</a:t>
            </a:r>
            <a:endParaRPr/>
          </a:p>
        </p:txBody>
      </p:sp>
      <p:sp>
        <p:nvSpPr>
          <p:cNvPr id="1079580454" name=""/>
          <p:cNvSpPr>
            <a:spLocks noGrp="1"/>
          </p:cNvSpPr>
          <p:nvPr/>
        </p:nvSpPr>
        <p:spPr bwMode="auto">
          <a:xfrm>
            <a:off x="6705600" y="4533900"/>
            <a:ext cx="4429125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Decrypt the archive with the password, then extract its contents.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4383576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10527574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Local storage layout</a:t>
            </a:r>
            <a:endParaRPr/>
          </a:p>
        </p:txBody>
      </p:sp>
      <p:sp>
        <p:nvSpPr>
          <p:cNvPr id="1298905802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12</a:t>
            </a:r>
            <a:endParaRPr/>
          </a:p>
        </p:txBody>
      </p:sp>
      <p:sp>
        <p:nvSpPr>
          <p:cNvPr id="1851018592" name=""/>
          <p:cNvSpPr>
            <a:spLocks noGrp="1"/>
          </p:cNvSpPr>
          <p:nvPr/>
        </p:nvSpPr>
        <p:spPr bwMode="auto">
          <a:xfrm>
            <a:off x="762000" y="1809750"/>
            <a:ext cx="10382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24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~/.local/share/safestore/</a:t>
            </a:r>
            <a:endParaRPr/>
          </a:p>
        </p:txBody>
      </p:sp>
      <p:sp>
        <p:nvSpPr>
          <p:cNvPr id="1353042179" name=""/>
          <p:cNvSpPr>
            <a:spLocks noGrp="1"/>
          </p:cNvSpPr>
          <p:nvPr/>
        </p:nvSpPr>
        <p:spPr bwMode="auto">
          <a:xfrm>
            <a:off x="790575" y="2752725"/>
            <a:ext cx="7048500" cy="250507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file.csv</a:t>
            </a:r>
            <a:endParaRPr/>
          </a:p>
          <a:p>
            <a:pPr>
              <a:defRPr sz="21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Backup/</a:t>
            </a:r>
            <a:endParaRPr/>
          </a:p>
          <a:p>
            <a:pPr>
              <a:defRPr sz="21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    &lt;SHA-1 of absolute source path&gt;/</a:t>
            </a:r>
            <a:endParaRPr/>
          </a:p>
          <a:p>
            <a:pPr>
              <a:defRPr sz="21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        &lt;YYYYMMDD-HHMMSS&gt;/</a:t>
            </a:r>
            <a:endParaRPr/>
          </a:p>
          <a:p>
            <a:pPr>
              <a:defRPr sz="21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            &lt;source copy or archive&gt;</a:t>
            </a:r>
            <a:endParaRPr/>
          </a:p>
        </p:txBody>
      </p:sp>
      <p:sp>
        <p:nvSpPr>
          <p:cNvPr id="179809863" name=""/>
          <p:cNvSpPr>
            <a:spLocks noGrp="1"/>
          </p:cNvSpPr>
          <p:nvPr/>
        </p:nvSpPr>
        <p:spPr bwMode="auto">
          <a:xfrm>
            <a:off x="8763000" y="2695575"/>
            <a:ext cx="2476500" cy="9620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5550" b="0">
                <a:solidFill>
                  <a:srgbClr val="D6B481"/>
                </a:solidFill>
                <a:latin typeface="Noto Serif"/>
                <a:ea typeface="Noto Serif"/>
                <a:cs typeface="Noto Serif"/>
              </a:defRPr>
            </a:pPr>
            <a:r>
              <a:rPr sz="5550" b="0">
                <a:solidFill>
                  <a:srgbClr val="D6B481"/>
                </a:solidFill>
                <a:latin typeface="Noto Serif"/>
                <a:ea typeface="Noto Serif"/>
                <a:cs typeface="Noto Serif"/>
              </a:rPr>
              <a:t>40</a:t>
            </a:r>
            <a:endParaRPr/>
          </a:p>
        </p:txBody>
      </p:sp>
      <p:sp>
        <p:nvSpPr>
          <p:cNvPr id="423577850" name=""/>
          <p:cNvSpPr>
            <a:spLocks noGrp="1"/>
          </p:cNvSpPr>
          <p:nvPr/>
        </p:nvSpPr>
        <p:spPr bwMode="auto">
          <a:xfrm>
            <a:off x="8010524" y="3762375"/>
            <a:ext cx="3286125" cy="9239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hexadecimal characters</a:t>
            </a:r>
            <a:endParaRPr/>
          </a:p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in the path identifier</a:t>
            </a:r>
            <a:endParaRPr/>
          </a:p>
        </p:txBody>
      </p:sp>
      <p:sp>
        <p:nvSpPr>
          <p:cNvPr id="1975325341" name=""/>
          <p:cNvSpPr>
            <a:spLocks noGrp="1"/>
          </p:cNvSpPr>
          <p:nvPr/>
        </p:nvSpPr>
        <p:spPr bwMode="auto">
          <a:xfrm>
            <a:off x="790575" y="5648325"/>
            <a:ext cx="10382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History timestamp: YYYY-MM-DD HH:MM:SS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58375959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37850211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Storage and operation details</a:t>
            </a:r>
            <a:endParaRPr/>
          </a:p>
        </p:txBody>
      </p:sp>
      <p:sp>
        <p:nvSpPr>
          <p:cNvPr id="1486352112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13</a:t>
            </a:r>
            <a:endParaRPr/>
          </a:p>
        </p:txBody>
      </p:sp>
      <p:sp>
        <p:nvSpPr>
          <p:cNvPr id="570522498" name=""/>
          <p:cNvSpPr>
            <a:spLocks noGrp="1"/>
          </p:cNvSpPr>
          <p:nvPr/>
        </p:nvSpPr>
        <p:spPr bwMode="auto">
          <a:xfrm>
            <a:off x="762000" y="174307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01</a:t>
            </a:r>
            <a:endParaRPr/>
          </a:p>
        </p:txBody>
      </p:sp>
      <p:sp>
        <p:nvSpPr>
          <p:cNvPr id="116832999" name=""/>
          <p:cNvSpPr>
            <a:spLocks noGrp="1"/>
          </p:cNvSpPr>
          <p:nvPr/>
        </p:nvSpPr>
        <p:spPr bwMode="auto">
          <a:xfrm>
            <a:off x="1562100" y="1743075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Listing reads CSV history. Restore discovers snapshot directories directly.</a:t>
            </a:r>
            <a:endParaRPr/>
          </a:p>
        </p:txBody>
      </p:sp>
      <p:sp>
        <p:nvSpPr>
          <p:cNvPr id="877323987" name=""/>
          <p:cNvSpPr>
            <a:spLocks noGrp="1"/>
          </p:cNvSpPr>
          <p:nvPr/>
        </p:nvSpPr>
        <p:spPr bwMode="auto">
          <a:xfrm>
            <a:off x="762000" y="2552700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02</a:t>
            </a:r>
            <a:endParaRPr/>
          </a:p>
        </p:txBody>
      </p:sp>
      <p:sp>
        <p:nvSpPr>
          <p:cNvPr id="1653172222" name=""/>
          <p:cNvSpPr>
            <a:spLocks noGrp="1"/>
          </p:cNvSpPr>
          <p:nvPr/>
        </p:nvSpPr>
        <p:spPr bwMode="auto">
          <a:xfrm>
            <a:off x="1562100" y="2552700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Each normal backup creates one selected snapshot format.</a:t>
            </a:r>
            <a:endParaRPr/>
          </a:p>
        </p:txBody>
      </p:sp>
      <p:sp>
        <p:nvSpPr>
          <p:cNvPr id="1145614918" name=""/>
          <p:cNvSpPr>
            <a:spLocks noGrp="1"/>
          </p:cNvSpPr>
          <p:nvPr/>
        </p:nvSpPr>
        <p:spPr bwMode="auto">
          <a:xfrm>
            <a:off x="762000" y="3362324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03</a:t>
            </a:r>
            <a:endParaRPr/>
          </a:p>
        </p:txBody>
      </p:sp>
      <p:sp>
        <p:nvSpPr>
          <p:cNvPr id="699745601" name=""/>
          <p:cNvSpPr>
            <a:spLocks noGrp="1"/>
          </p:cNvSpPr>
          <p:nvPr/>
        </p:nvSpPr>
        <p:spPr bwMode="auto">
          <a:xfrm>
            <a:off x="1562100" y="3362324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Snapshot folders use local time with one-second precision.</a:t>
            </a:r>
            <a:endParaRPr/>
          </a:p>
        </p:txBody>
      </p:sp>
      <p:sp>
        <p:nvSpPr>
          <p:cNvPr id="610182101" name=""/>
          <p:cNvSpPr>
            <a:spLocks noGrp="1"/>
          </p:cNvSpPr>
          <p:nvPr/>
        </p:nvSpPr>
        <p:spPr bwMode="auto">
          <a:xfrm>
            <a:off x="762000" y="4171950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04</a:t>
            </a:r>
            <a:endParaRPr/>
          </a:p>
        </p:txBody>
      </p:sp>
      <p:sp>
        <p:nvSpPr>
          <p:cNvPr id="2115808062" name=""/>
          <p:cNvSpPr>
            <a:spLocks noGrp="1"/>
          </p:cNvSpPr>
          <p:nvPr/>
        </p:nvSpPr>
        <p:spPr bwMode="auto">
          <a:xfrm>
            <a:off x="1562100" y="4171950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Archive creation, selection and decryption use temporary files in /tmp.</a:t>
            </a:r>
            <a:endParaRPr/>
          </a:p>
        </p:txBody>
      </p:sp>
      <p:sp>
        <p:nvSpPr>
          <p:cNvPr id="426390186" name=""/>
          <p:cNvSpPr>
            <a:spLocks noGrp="1"/>
          </p:cNvSpPr>
          <p:nvPr/>
        </p:nvSpPr>
        <p:spPr bwMode="auto">
          <a:xfrm>
            <a:off x="762000" y="4981575"/>
            <a:ext cx="571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1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05</a:t>
            </a:r>
            <a:endParaRPr/>
          </a:p>
        </p:txBody>
      </p:sp>
      <p:sp>
        <p:nvSpPr>
          <p:cNvPr id="610539286" name=""/>
          <p:cNvSpPr>
            <a:spLocks noGrp="1"/>
          </p:cNvSpPr>
          <p:nvPr/>
        </p:nvSpPr>
        <p:spPr bwMode="auto">
          <a:xfrm>
            <a:off x="1562100" y="4981575"/>
            <a:ext cx="94869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Successful operations remove their temporary files.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8390713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65996715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Command reference</a:t>
            </a:r>
            <a:endParaRPr/>
          </a:p>
        </p:txBody>
      </p:sp>
      <p:sp>
        <p:nvSpPr>
          <p:cNvPr id="53037930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14</a:t>
            </a:r>
            <a:endParaRPr/>
          </a:p>
        </p:txBody>
      </p:sp>
      <p:sp>
        <p:nvSpPr>
          <p:cNvPr id="112798007" name=""/>
          <p:cNvSpPr>
            <a:spLocks noGrp="1"/>
          </p:cNvSpPr>
          <p:nvPr/>
        </p:nvSpPr>
        <p:spPr bwMode="auto">
          <a:xfrm>
            <a:off x="781050" y="1781175"/>
            <a:ext cx="29527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Backup</a:t>
            </a:r>
            <a:endParaRPr/>
          </a:p>
        </p:txBody>
      </p:sp>
      <p:sp>
        <p:nvSpPr>
          <p:cNvPr id="294953121" name=""/>
          <p:cNvSpPr>
            <a:spLocks noGrp="1"/>
          </p:cNvSpPr>
          <p:nvPr/>
        </p:nvSpPr>
        <p:spPr bwMode="auto">
          <a:xfrm>
            <a:off x="4000500" y="1781175"/>
            <a:ext cx="7334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-b  /  --backup &lt;file_or_folder&gt;</a:t>
            </a:r>
            <a:endParaRPr/>
          </a:p>
        </p:txBody>
      </p:sp>
      <p:sp>
        <p:nvSpPr>
          <p:cNvPr id="1395354389" name=""/>
          <p:cNvSpPr>
            <a:spLocks noGrp="1"/>
          </p:cNvSpPr>
          <p:nvPr/>
        </p:nvSpPr>
        <p:spPr bwMode="auto">
          <a:xfrm>
            <a:off x="781050" y="2581275"/>
            <a:ext cx="29527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Compression</a:t>
            </a:r>
            <a:endParaRPr/>
          </a:p>
        </p:txBody>
      </p:sp>
      <p:sp>
        <p:nvSpPr>
          <p:cNvPr id="1677202323" name=""/>
          <p:cNvSpPr>
            <a:spLocks noGrp="1"/>
          </p:cNvSpPr>
          <p:nvPr/>
        </p:nvSpPr>
        <p:spPr bwMode="auto">
          <a:xfrm>
            <a:off x="4000500" y="2581275"/>
            <a:ext cx="7334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-c  /  --compress</a:t>
            </a:r>
            <a:endParaRPr/>
          </a:p>
        </p:txBody>
      </p:sp>
      <p:sp>
        <p:nvSpPr>
          <p:cNvPr id="955309393" name=""/>
          <p:cNvSpPr>
            <a:spLocks noGrp="1"/>
          </p:cNvSpPr>
          <p:nvPr/>
        </p:nvSpPr>
        <p:spPr bwMode="auto">
          <a:xfrm>
            <a:off x="781050" y="3381375"/>
            <a:ext cx="29527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Encryption</a:t>
            </a:r>
            <a:endParaRPr/>
          </a:p>
        </p:txBody>
      </p:sp>
      <p:sp>
        <p:nvSpPr>
          <p:cNvPr id="1682825549" name=""/>
          <p:cNvSpPr>
            <a:spLocks noGrp="1"/>
          </p:cNvSpPr>
          <p:nvPr/>
        </p:nvSpPr>
        <p:spPr bwMode="auto">
          <a:xfrm>
            <a:off x="4000500" y="3381375"/>
            <a:ext cx="7334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-e  /  --encrypt</a:t>
            </a:r>
            <a:endParaRPr/>
          </a:p>
        </p:txBody>
      </p:sp>
      <p:sp>
        <p:nvSpPr>
          <p:cNvPr id="2092640177" name=""/>
          <p:cNvSpPr>
            <a:spLocks noGrp="1"/>
          </p:cNvSpPr>
          <p:nvPr/>
        </p:nvSpPr>
        <p:spPr bwMode="auto">
          <a:xfrm>
            <a:off x="781050" y="4181475"/>
            <a:ext cx="29527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History</a:t>
            </a:r>
            <a:endParaRPr/>
          </a:p>
        </p:txBody>
      </p:sp>
      <p:sp>
        <p:nvSpPr>
          <p:cNvPr id="2129605776" name=""/>
          <p:cNvSpPr>
            <a:spLocks noGrp="1"/>
          </p:cNvSpPr>
          <p:nvPr/>
        </p:nvSpPr>
        <p:spPr bwMode="auto">
          <a:xfrm>
            <a:off x="4000500" y="4181475"/>
            <a:ext cx="7334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-l  /  --list</a:t>
            </a:r>
            <a:endParaRPr/>
          </a:p>
        </p:txBody>
      </p:sp>
      <p:sp>
        <p:nvSpPr>
          <p:cNvPr id="2101152273" name=""/>
          <p:cNvSpPr>
            <a:spLocks noGrp="1"/>
          </p:cNvSpPr>
          <p:nvPr/>
        </p:nvSpPr>
        <p:spPr bwMode="auto">
          <a:xfrm>
            <a:off x="781050" y="4981575"/>
            <a:ext cx="29527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Restore</a:t>
            </a:r>
            <a:endParaRPr/>
          </a:p>
        </p:txBody>
      </p:sp>
      <p:sp>
        <p:nvSpPr>
          <p:cNvPr id="2030766446" name=""/>
          <p:cNvSpPr>
            <a:spLocks noGrp="1"/>
          </p:cNvSpPr>
          <p:nvPr/>
        </p:nvSpPr>
        <p:spPr bwMode="auto">
          <a:xfrm>
            <a:off x="4000500" y="4981575"/>
            <a:ext cx="7334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-r  /  --restore &lt;file_or_folder&gt;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2975344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59701998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Usage examples</a:t>
            </a:r>
            <a:endParaRPr/>
          </a:p>
        </p:txBody>
      </p:sp>
      <p:sp>
        <p:nvSpPr>
          <p:cNvPr id="1782266425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15</a:t>
            </a:r>
            <a:endParaRPr/>
          </a:p>
        </p:txBody>
      </p:sp>
      <p:sp>
        <p:nvSpPr>
          <p:cNvPr id="736288917" name=""/>
          <p:cNvSpPr>
            <a:spLocks noGrp="1"/>
          </p:cNvSpPr>
          <p:nvPr/>
        </p:nvSpPr>
        <p:spPr bwMode="auto">
          <a:xfrm>
            <a:off x="781050" y="1743075"/>
            <a:ext cx="1028700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0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Files and folders</a:t>
            </a:r>
            <a:endParaRPr/>
          </a:p>
        </p:txBody>
      </p:sp>
      <p:sp>
        <p:nvSpPr>
          <p:cNvPr id="1000231646" name=""/>
          <p:cNvSpPr>
            <a:spLocks noGrp="1"/>
          </p:cNvSpPr>
          <p:nvPr/>
        </p:nvSpPr>
        <p:spPr bwMode="auto">
          <a:xfrm>
            <a:off x="781050" y="2343150"/>
            <a:ext cx="10382250" cy="9239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./safestore --backup ./notes.txt</a:t>
            </a:r>
            <a:endParaRPr/>
          </a:p>
          <a:p>
            <a:pPr>
              <a:defRPr sz="19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./safestore --backup ./documents</a:t>
            </a:r>
            <a:endParaRPr/>
          </a:p>
        </p:txBody>
      </p:sp>
      <p:sp>
        <p:nvSpPr>
          <p:cNvPr id="1097285095" name=""/>
          <p:cNvSpPr>
            <a:spLocks noGrp="1"/>
          </p:cNvSpPr>
          <p:nvPr/>
        </p:nvSpPr>
        <p:spPr bwMode="auto">
          <a:xfrm>
            <a:off x="781050" y="3514725"/>
            <a:ext cx="1028700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0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Storage options</a:t>
            </a:r>
            <a:endParaRPr/>
          </a:p>
        </p:txBody>
      </p:sp>
      <p:sp>
        <p:nvSpPr>
          <p:cNvPr id="455123186" name=""/>
          <p:cNvSpPr>
            <a:spLocks noGrp="1"/>
          </p:cNvSpPr>
          <p:nvPr/>
        </p:nvSpPr>
        <p:spPr bwMode="auto">
          <a:xfrm>
            <a:off x="781050" y="4095750"/>
            <a:ext cx="10572750" cy="1285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./safestore --backup ./documents --compress</a:t>
            </a:r>
            <a:endParaRPr/>
          </a:p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./safestore --backup ./documents --encrypt</a:t>
            </a:r>
            <a:endParaRPr/>
          </a:p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./safestore --backup ./documents --compress --encrypt</a:t>
            </a:r>
            <a:endParaRPr/>
          </a:p>
        </p:txBody>
      </p:sp>
      <p:sp>
        <p:nvSpPr>
          <p:cNvPr id="324548277" name=""/>
          <p:cNvSpPr>
            <a:spLocks noGrp="1"/>
          </p:cNvSpPr>
          <p:nvPr/>
        </p:nvSpPr>
        <p:spPr bwMode="auto">
          <a:xfrm>
            <a:off x="781050" y="5248275"/>
            <a:ext cx="1028700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0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History and recovery</a:t>
            </a:r>
            <a:endParaRPr/>
          </a:p>
        </p:txBody>
      </p:sp>
      <p:sp>
        <p:nvSpPr>
          <p:cNvPr id="155737359" name=""/>
          <p:cNvSpPr>
            <a:spLocks noGrp="1"/>
          </p:cNvSpPr>
          <p:nvPr/>
        </p:nvSpPr>
        <p:spPr bwMode="auto">
          <a:xfrm>
            <a:off x="781050" y="569595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./safestore --list</a:t>
            </a:r>
            <a:endParaRPr/>
          </a:p>
          <a:p>
            <a:pPr>
              <a:defRPr sz="16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./safestore --restore /absolute/path/notes.txt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73891840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22822733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Build and runtime tools</a:t>
            </a:r>
            <a:endParaRPr/>
          </a:p>
        </p:txBody>
      </p:sp>
      <p:sp>
        <p:nvSpPr>
          <p:cNvPr id="1658244227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16</a:t>
            </a:r>
            <a:endParaRPr/>
          </a:p>
        </p:txBody>
      </p:sp>
      <p:sp>
        <p:nvSpPr>
          <p:cNvPr id="1413535599" name=""/>
          <p:cNvSpPr>
            <a:spLocks noGrp="1"/>
          </p:cNvSpPr>
          <p:nvPr/>
        </p:nvSpPr>
        <p:spPr bwMode="auto">
          <a:xfrm>
            <a:off x="781050" y="1819275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Build</a:t>
            </a:r>
            <a:endParaRPr/>
          </a:p>
        </p:txBody>
      </p:sp>
      <p:sp>
        <p:nvSpPr>
          <p:cNvPr id="1173476386" name=""/>
          <p:cNvSpPr>
            <a:spLocks noGrp="1"/>
          </p:cNvSpPr>
          <p:nvPr/>
        </p:nvSpPr>
        <p:spPr bwMode="auto">
          <a:xfrm>
            <a:off x="781050" y="2390775"/>
            <a:ext cx="4762500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make</a:t>
            </a:r>
            <a:endParaRPr/>
          </a:p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cc compiles eight C source files with</a:t>
            </a:r>
            <a:endParaRPr/>
          </a:p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-Wall -Wextra -O2.</a:t>
            </a:r>
            <a:endParaRPr/>
          </a:p>
        </p:txBody>
      </p:sp>
      <p:sp>
        <p:nvSpPr>
          <p:cNvPr id="1824549805" name=""/>
          <p:cNvSpPr>
            <a:spLocks noGrp="1"/>
          </p:cNvSpPr>
          <p:nvPr/>
        </p:nvSpPr>
        <p:spPr bwMode="auto">
          <a:xfrm>
            <a:off x="6705600" y="1819275"/>
            <a:ext cx="442912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Clean and rebuild</a:t>
            </a:r>
            <a:endParaRPr/>
          </a:p>
        </p:txBody>
      </p:sp>
      <p:sp>
        <p:nvSpPr>
          <p:cNvPr id="1433753570" name=""/>
          <p:cNvSpPr>
            <a:spLocks noGrp="1"/>
          </p:cNvSpPr>
          <p:nvPr/>
        </p:nvSpPr>
        <p:spPr bwMode="auto">
          <a:xfrm>
            <a:off x="6705600" y="2390775"/>
            <a:ext cx="4429125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make clean</a:t>
            </a:r>
            <a:endParaRPr/>
          </a:p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make</a:t>
            </a:r>
            <a:endParaRPr/>
          </a:p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The build produces ./safestore.</a:t>
            </a:r>
            <a:endParaRPr/>
          </a:p>
        </p:txBody>
      </p:sp>
      <p:sp>
        <p:nvSpPr>
          <p:cNvPr id="524858161" name=""/>
          <p:cNvSpPr>
            <a:spLocks noGrp="1"/>
          </p:cNvSpPr>
          <p:nvPr/>
        </p:nvSpPr>
        <p:spPr bwMode="auto">
          <a:xfrm>
            <a:off x="781050" y="4029075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Linux / compatible Unix</a:t>
            </a:r>
            <a:endParaRPr/>
          </a:p>
        </p:txBody>
      </p:sp>
      <p:sp>
        <p:nvSpPr>
          <p:cNvPr id="1776877770" name=""/>
          <p:cNvSpPr>
            <a:spLocks noGrp="1"/>
          </p:cNvSpPr>
          <p:nvPr/>
        </p:nvSpPr>
        <p:spPr bwMode="auto">
          <a:xfrm>
            <a:off x="781050" y="4600575"/>
            <a:ext cx="4762500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POSIX APIs and GNU-style utilities.</a:t>
            </a:r>
            <a:endParaRPr/>
          </a:p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Runtime utilities must be on PATH.</a:t>
            </a:r>
            <a:endParaRPr/>
          </a:p>
        </p:txBody>
      </p:sp>
      <p:sp>
        <p:nvSpPr>
          <p:cNvPr id="1362207840" name=""/>
          <p:cNvSpPr>
            <a:spLocks noGrp="1"/>
          </p:cNvSpPr>
          <p:nvPr/>
        </p:nvSpPr>
        <p:spPr bwMode="auto">
          <a:xfrm>
            <a:off x="6705600" y="4029075"/>
            <a:ext cx="442912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Runtime utilities</a:t>
            </a:r>
            <a:endParaRPr/>
          </a:p>
        </p:txBody>
      </p:sp>
      <p:sp>
        <p:nvSpPr>
          <p:cNvPr id="1031159072" name=""/>
          <p:cNvSpPr>
            <a:spLocks noGrp="1"/>
          </p:cNvSpPr>
          <p:nvPr/>
        </p:nvSpPr>
        <p:spPr bwMode="auto">
          <a:xfrm>
            <a:off x="6705600" y="4600575"/>
            <a:ext cx="4429125" cy="1162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date, sha1sum, cp, mv, rm</a:t>
            </a:r>
            <a:endParaRPr/>
          </a:p>
          <a:p>
            <a:pPr>
              <a:def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05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tar, lz4, openssl and fzf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5470565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95974766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Source architecture</a:t>
            </a:r>
            <a:endParaRPr/>
          </a:p>
        </p:txBody>
      </p:sp>
      <p:sp>
        <p:nvSpPr>
          <p:cNvPr id="536591099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17</a:t>
            </a:r>
            <a:endParaRPr/>
          </a:p>
        </p:txBody>
      </p:sp>
      <p:sp>
        <p:nvSpPr>
          <p:cNvPr id="117909101" name=""/>
          <p:cNvSpPr>
            <a:spLocks noGrp="1"/>
          </p:cNvSpPr>
          <p:nvPr/>
        </p:nvSpPr>
        <p:spPr bwMode="auto">
          <a:xfrm>
            <a:off x="790575" y="1819275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main.c</a:t>
            </a:r>
            <a:endParaRPr/>
          </a:p>
        </p:txBody>
      </p:sp>
      <p:sp>
        <p:nvSpPr>
          <p:cNvPr id="1069011591" name=""/>
          <p:cNvSpPr>
            <a:spLocks noGrp="1"/>
          </p:cNvSpPr>
          <p:nvPr/>
        </p:nvSpPr>
        <p:spPr bwMode="auto">
          <a:xfrm>
            <a:off x="790575" y="2228850"/>
            <a:ext cx="46672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Command parsing</a:t>
            </a:r>
            <a:endParaRPr/>
          </a:p>
        </p:txBody>
      </p:sp>
      <p:sp>
        <p:nvSpPr>
          <p:cNvPr id="1061621791" name=""/>
          <p:cNvSpPr>
            <a:spLocks noGrp="1"/>
          </p:cNvSpPr>
          <p:nvPr/>
        </p:nvSpPr>
        <p:spPr bwMode="auto">
          <a:xfrm>
            <a:off x="790575" y="2733675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backup.c</a:t>
            </a:r>
            <a:endParaRPr/>
          </a:p>
        </p:txBody>
      </p:sp>
      <p:sp>
        <p:nvSpPr>
          <p:cNvPr id="1794491412" name=""/>
          <p:cNvSpPr>
            <a:spLocks noGrp="1"/>
          </p:cNvSpPr>
          <p:nvPr/>
        </p:nvSpPr>
        <p:spPr bwMode="auto">
          <a:xfrm>
            <a:off x="790575" y="3143250"/>
            <a:ext cx="46672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Snapshots and CSV records</a:t>
            </a:r>
            <a:endParaRPr/>
          </a:p>
        </p:txBody>
      </p:sp>
      <p:sp>
        <p:nvSpPr>
          <p:cNvPr id="1147357493" name=""/>
          <p:cNvSpPr>
            <a:spLocks noGrp="1"/>
          </p:cNvSpPr>
          <p:nvPr/>
        </p:nvSpPr>
        <p:spPr bwMode="auto">
          <a:xfrm>
            <a:off x="790575" y="3648074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list.c</a:t>
            </a:r>
            <a:endParaRPr/>
          </a:p>
        </p:txBody>
      </p:sp>
      <p:sp>
        <p:nvSpPr>
          <p:cNvPr id="235866500" name=""/>
          <p:cNvSpPr>
            <a:spLocks noGrp="1"/>
          </p:cNvSpPr>
          <p:nvPr/>
        </p:nvSpPr>
        <p:spPr bwMode="auto">
          <a:xfrm>
            <a:off x="790575" y="4057650"/>
            <a:ext cx="46672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Grouped history</a:t>
            </a:r>
            <a:endParaRPr/>
          </a:p>
        </p:txBody>
      </p:sp>
      <p:sp>
        <p:nvSpPr>
          <p:cNvPr id="706504432" name=""/>
          <p:cNvSpPr>
            <a:spLocks noGrp="1"/>
          </p:cNvSpPr>
          <p:nvPr/>
        </p:nvSpPr>
        <p:spPr bwMode="auto">
          <a:xfrm>
            <a:off x="790575" y="4562475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restore.c</a:t>
            </a:r>
            <a:endParaRPr/>
          </a:p>
        </p:txBody>
      </p:sp>
      <p:sp>
        <p:nvSpPr>
          <p:cNvPr id="1488447680" name=""/>
          <p:cNvSpPr>
            <a:spLocks noGrp="1"/>
          </p:cNvSpPr>
          <p:nvPr/>
        </p:nvSpPr>
        <p:spPr bwMode="auto">
          <a:xfrm>
            <a:off x="790575" y="4972050"/>
            <a:ext cx="46672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Selection and recovery</a:t>
            </a:r>
            <a:endParaRPr/>
          </a:p>
        </p:txBody>
      </p:sp>
      <p:sp>
        <p:nvSpPr>
          <p:cNvPr id="1857028838" name=""/>
          <p:cNvSpPr>
            <a:spLocks noGrp="1"/>
          </p:cNvSpPr>
          <p:nvPr/>
        </p:nvSpPr>
        <p:spPr bwMode="auto">
          <a:xfrm>
            <a:off x="6705600" y="1819275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hash.c</a:t>
            </a:r>
            <a:endParaRPr/>
          </a:p>
        </p:txBody>
      </p:sp>
      <p:sp>
        <p:nvSpPr>
          <p:cNvPr id="177016536" name=""/>
          <p:cNvSpPr>
            <a:spLocks noGrp="1"/>
          </p:cNvSpPr>
          <p:nvPr/>
        </p:nvSpPr>
        <p:spPr bwMode="auto">
          <a:xfrm>
            <a:off x="6705600" y="2228850"/>
            <a:ext cx="46672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Path identification</a:t>
            </a:r>
            <a:endParaRPr/>
          </a:p>
        </p:txBody>
      </p:sp>
      <p:sp>
        <p:nvSpPr>
          <p:cNvPr id="921973275" name=""/>
          <p:cNvSpPr>
            <a:spLocks noGrp="1"/>
          </p:cNvSpPr>
          <p:nvPr/>
        </p:nvSpPr>
        <p:spPr bwMode="auto">
          <a:xfrm>
            <a:off x="6705600" y="2733675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fsutil.c</a:t>
            </a:r>
            <a:endParaRPr/>
          </a:p>
        </p:txBody>
      </p:sp>
      <p:sp>
        <p:nvSpPr>
          <p:cNvPr id="100292145" name=""/>
          <p:cNvSpPr>
            <a:spLocks noGrp="1"/>
          </p:cNvSpPr>
          <p:nvPr/>
        </p:nvSpPr>
        <p:spPr bwMode="auto">
          <a:xfrm>
            <a:off x="6705600" y="3143250"/>
            <a:ext cx="46672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Directories and recursive copy</a:t>
            </a:r>
            <a:endParaRPr/>
          </a:p>
        </p:txBody>
      </p:sp>
      <p:sp>
        <p:nvSpPr>
          <p:cNvPr id="263364195" name=""/>
          <p:cNvSpPr>
            <a:spLocks noGrp="1"/>
          </p:cNvSpPr>
          <p:nvPr/>
        </p:nvSpPr>
        <p:spPr bwMode="auto">
          <a:xfrm>
            <a:off x="6705600" y="3648074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compress.c</a:t>
            </a:r>
            <a:endParaRPr/>
          </a:p>
        </p:txBody>
      </p:sp>
      <p:sp>
        <p:nvSpPr>
          <p:cNvPr id="538545628" name=""/>
          <p:cNvSpPr>
            <a:spLocks noGrp="1"/>
          </p:cNvSpPr>
          <p:nvPr/>
        </p:nvSpPr>
        <p:spPr bwMode="auto">
          <a:xfrm>
            <a:off x="6705600" y="4057650"/>
            <a:ext cx="46672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tar archives and LZ4</a:t>
            </a:r>
            <a:endParaRPr/>
          </a:p>
        </p:txBody>
      </p:sp>
      <p:sp>
        <p:nvSpPr>
          <p:cNvPr id="612543246" name=""/>
          <p:cNvSpPr>
            <a:spLocks noGrp="1"/>
          </p:cNvSpPr>
          <p:nvPr/>
        </p:nvSpPr>
        <p:spPr bwMode="auto">
          <a:xfrm>
            <a:off x="6705600" y="4562475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2200" b="1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encrypt.c</a:t>
            </a:r>
            <a:endParaRPr/>
          </a:p>
        </p:txBody>
      </p:sp>
      <p:sp>
        <p:nvSpPr>
          <p:cNvPr id="21561308" name=""/>
          <p:cNvSpPr>
            <a:spLocks noGrp="1"/>
          </p:cNvSpPr>
          <p:nvPr/>
        </p:nvSpPr>
        <p:spPr bwMode="auto">
          <a:xfrm>
            <a:off x="6705600" y="4972050"/>
            <a:ext cx="4667250" cy="4381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Passwords and OpenSSL</a:t>
            </a:r>
            <a:endParaRPr/>
          </a:p>
        </p:txBody>
      </p:sp>
      <p:sp>
        <p:nvSpPr>
          <p:cNvPr id="1738878045" name=""/>
          <p:cNvSpPr>
            <a:spLocks noGrp="1"/>
          </p:cNvSpPr>
          <p:nvPr/>
        </p:nvSpPr>
        <p:spPr bwMode="auto">
          <a:xfrm>
            <a:off x="790575" y="5572125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50" b="0">
                <a:solidFill>
                  <a:srgbClr val="BFCBD7"/>
                </a:solidFill>
                <a:latin typeface="Noto Sans"/>
                <a:ea typeface="Noto Sans"/>
                <a:cs typeface="Noto Sans"/>
              </a:defRPr>
            </a:pPr>
            <a:r>
              <a:rPr sz="1750" b="0">
                <a:solidFill>
                  <a:srgbClr val="BFCBD7"/>
                </a:solidFill>
                <a:latin typeface="Noto Sans"/>
                <a:ea typeface="Noto Sans"/>
                <a:cs typeface="Noto Sans"/>
              </a:rPr>
              <a:t>common.h and module headers share definitions. Makefile handles build and cleanup.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1D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9093629" name=""/>
          <p:cNvPicPr>
            <a:picLocks noChangeAspect="1"/>
          </p:cNvPicPr>
          <p:nvPr/>
        </p:nvPicPr>
        <p:blipFill rotWithShape="1">
          <a:blip r:embed="rId3"/>
          <a:srcRect l="0" t="27" r="0" b="27"/>
          <a:stretch>
            <a:fillRect l="0" t="0" r="0" b="0"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08097744" name=""/>
          <p:cNvSpPr>
            <a:spLocks noGrp="1"/>
          </p:cNvSpPr>
          <p:nvPr/>
        </p:nvSpPr>
        <p:spPr bwMode="auto">
          <a:xfrm>
            <a:off x="723900" y="571500"/>
            <a:ext cx="1038225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defRPr>
            </a:pPr>
            <a:r>
              <a:rPr sz="3300" b="0">
                <a:solidFill>
                  <a:srgbClr val="F5F1E8"/>
                </a:solidFill>
                <a:latin typeface="Noto Serif"/>
                <a:ea typeface="Noto Serif"/>
                <a:cs typeface="Noto Serif"/>
              </a:rPr>
              <a:t>SafeStore</a:t>
            </a:r>
            <a:endParaRPr/>
          </a:p>
        </p:txBody>
      </p:sp>
      <p:sp>
        <p:nvSpPr>
          <p:cNvPr id="96309639" name=""/>
          <p:cNvSpPr>
            <a:spLocks noGrp="1"/>
          </p:cNvSpPr>
          <p:nvPr/>
        </p:nvSpPr>
        <p:spPr bwMode="auto">
          <a:xfrm>
            <a:off x="11029950" y="6153149"/>
            <a:ext cx="476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D6B481"/>
                </a:solidFill>
                <a:latin typeface="Noto Sans"/>
                <a:ea typeface="Noto Sans"/>
                <a:cs typeface="Noto Sans"/>
              </a:rPr>
              <a:t>18</a:t>
            </a:r>
            <a:endParaRPr/>
          </a:p>
        </p:txBody>
      </p:sp>
      <p:sp>
        <p:nvSpPr>
          <p:cNvPr id="83779205" name=""/>
          <p:cNvSpPr>
            <a:spLocks noGrp="1"/>
          </p:cNvSpPr>
          <p:nvPr/>
        </p:nvSpPr>
        <p:spPr bwMode="auto">
          <a:xfrm>
            <a:off x="762000" y="1857375"/>
            <a:ext cx="10477500" cy="16859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600" b="0">
                <a:solidFill>
                  <a:srgbClr val="D6B481"/>
                </a:solidFill>
                <a:latin typeface="Noto Serif"/>
                <a:ea typeface="Noto Serif"/>
                <a:cs typeface="Noto Serif"/>
              </a:defRPr>
            </a:pPr>
            <a:r>
              <a:rPr sz="4600" b="0">
                <a:solidFill>
                  <a:srgbClr val="D6B481"/>
                </a:solidFill>
                <a:latin typeface="Noto Serif"/>
                <a:ea typeface="Noto Serif"/>
                <a:cs typeface="Noto Serif"/>
              </a:rPr>
              <a:t>Backup history,</a:t>
            </a:r>
            <a:endParaRPr/>
          </a:p>
          <a:p>
            <a:pPr>
              <a:defRPr sz="4600" b="0">
                <a:solidFill>
                  <a:srgbClr val="D6B481"/>
                </a:solidFill>
                <a:latin typeface="Noto Serif"/>
                <a:ea typeface="Noto Serif"/>
                <a:cs typeface="Noto Serif"/>
              </a:defRPr>
            </a:pPr>
            <a:r>
              <a:rPr sz="4600" b="0">
                <a:solidFill>
                  <a:srgbClr val="D6B481"/>
                </a:solidFill>
                <a:latin typeface="Noto Serif"/>
                <a:ea typeface="Noto Serif"/>
                <a:cs typeface="Noto Serif"/>
              </a:rPr>
              <a:t>ready for recovery</a:t>
            </a:r>
            <a:endParaRPr/>
          </a:p>
        </p:txBody>
      </p:sp>
      <p:sp>
        <p:nvSpPr>
          <p:cNvPr id="613978219" name=""/>
          <p:cNvSpPr>
            <a:spLocks noGrp="1"/>
          </p:cNvSpPr>
          <p:nvPr/>
        </p:nvSpPr>
        <p:spPr bwMode="auto">
          <a:xfrm>
            <a:off x="790575" y="4095750"/>
            <a:ext cx="10382250" cy="1143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0">
                <a:solidFill>
                  <a:srgbClr val="F5F1E8"/>
                </a:solidFill>
                <a:latin typeface="Noto Sans"/>
                <a:ea typeface="Noto Sans"/>
                <a:cs typeface="Noto Sans"/>
              </a:defRPr>
            </a:pPr>
            <a:r>
              <a:rPr sz="2400" b="0">
                <a:solidFill>
                  <a:srgbClr val="F5F1E8"/>
                </a:solidFill>
                <a:latin typeface="Noto Sans"/>
                <a:ea typeface="Noto Sans"/>
                <a:cs typeface="Noto Sans"/>
              </a:rPr>
              <a:t>Local file and folder snapshots with optional LZ4 compression, OpenSSL encryption and interactive version selection.</a:t>
            </a:r>
            <a:endParaRPr/>
          </a:p>
        </p:txBody>
      </p:sp>
      <p:sp>
        <p:nvSpPr>
          <p:cNvPr id="1759485514" name=""/>
          <p:cNvSpPr>
            <a:spLocks noGrp="1"/>
          </p:cNvSpPr>
          <p:nvPr/>
        </p:nvSpPr>
        <p:spPr bwMode="auto">
          <a:xfrm>
            <a:off x="790575" y="5543550"/>
            <a:ext cx="10191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75D4CA"/>
                </a:solidFill>
                <a:latin typeface="Noto Sans"/>
                <a:ea typeface="Noto Sans"/>
                <a:cs typeface="Noto Sans"/>
              </a:defRPr>
            </a:pPr>
            <a:r>
              <a:rPr sz="1900" b="0">
                <a:solidFill>
                  <a:srgbClr val="75D4CA"/>
                </a:solidFill>
                <a:latin typeface="Noto Sans"/>
                <a:ea typeface="Noto Sans"/>
                <a:cs typeface="Noto Sans"/>
              </a:rPr>
              <a:t>github.com/srikar0006/safestore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19</Slides>
  <Notes>19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1</cp:revision>
  <dcterms:modified xsi:type="dcterms:W3CDTF">2026-10-06T21:55:10Z</dcterms:modified>
</cp:coreProperties>
</file>