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1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5240000" cy="8572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>
        <p:scale>
          <a:sx n="0" d="6"/>
          <a:sy n="0" d="2"/>
        </p:scale>
        <p:origin x="513318496" y="0"/>
      </p:cViewPr>
      <p:guideLst>
        <p:guide pos="4800"/>
        <p:guide pos="270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6243623" name="Header Placeholder"/>
          <p:cNvSpPr/>
          <p:nvPr>
            <p:ph type="hdr" sz="quarter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798713" name="Date Placeholder"/>
          <p:cNvSpPr/>
          <p:nvPr>
            <p:ph type="dt" sz="quarter" idx="1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708101" name="Slide Image Placeholder"/>
          <p:cNvSpPr/>
          <p:nvPr>
            <p:ph type="sldImg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8121822" name="Notes Placeholder"/>
          <p:cNvSpPr/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0497652" name="Footer Placeholder"/>
          <p:cNvSpPr/>
          <p:nvPr>
            <p:ph type="ftr" sz="quarter" idx="4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225696" name="Slide Number Placeholder"/>
          <p:cNvSpPr/>
          <p:nvPr>
            <p:ph type="sldNum" sz="quarter" idx="5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/>
    </a:lvl1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9299873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20952881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</a:t>
            </a:r>
            <a:endParaRPr/>
          </a:p>
        </p:txBody>
      </p:sp>
      <p:sp>
        <p:nvSpPr>
          <p:cNvPr id="245371183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397853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21439189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Names and student identifiers supplied by the user.</a:t>
            </a:r>
            <a:endParaRPr/>
          </a:p>
        </p:txBody>
      </p:sp>
      <p:sp>
        <p:nvSpPr>
          <p:cNvPr id="858252461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35787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4489329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https://github.com/srikar0006/safestore/blob/main/readme.md</a:t>
            </a:r>
            <a:endParaRPr/>
          </a:p>
          <a:p>
            <a:pPr>
              <a:defRPr/>
            </a:pPr>
            <a:r>
              <a:rPr/>
              <a:t>Terminal-style headings are presentation labels, not executable commands.</a:t>
            </a:r>
            <a:endParaRPr/>
          </a:p>
        </p:txBody>
      </p:sp>
      <p:sp>
        <p:nvSpPr>
          <p:cNvPr id="1563878585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207612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360184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https://github.com/srikar0006/safestore/blob/main/readme.md</a:t>
            </a:r>
            <a:endParaRPr/>
          </a:p>
          <a:p>
            <a:pPr>
              <a:defRPr/>
            </a:pPr>
            <a:r>
              <a:rPr/>
              <a:t>Terminal-style headings are presentation labels, not executable commands.</a:t>
            </a:r>
            <a:endParaRPr/>
          </a:p>
        </p:txBody>
      </p:sp>
      <p:sp>
        <p:nvSpPr>
          <p:cNvPr id="909408108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640698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771717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Sources: README and src/compress.c, src/encrypt.c at https://github.com/srikar0006/safestore/tree/main/src</a:t>
            </a:r>
            <a:endParaRPr/>
          </a:p>
          <a:p>
            <a:pPr>
              <a:defRPr/>
            </a:pPr>
            <a:r>
              <a:rPr/>
              <a:t>Each archive contains the source basename. Compression and encryption are optional and may be combined.</a:t>
            </a:r>
            <a:endParaRPr/>
          </a:p>
        </p:txBody>
      </p:sp>
      <p:sp>
        <p:nvSpPr>
          <p:cNvPr id="1849865231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861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3874559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https://github.com/srikar0006/safestore/blob/main/readme.md</a:t>
            </a:r>
            <a:endParaRPr/>
          </a:p>
          <a:p>
            <a:pPr>
              <a:defRPr/>
            </a:pPr>
            <a:r>
              <a:rPr/>
              <a:t>Terminal-style headings are presentation labels, not executable commands.</a:t>
            </a:r>
            <a:endParaRPr/>
          </a:p>
        </p:txBody>
      </p:sp>
      <p:sp>
        <p:nvSpPr>
          <p:cNvPr id="782778084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165287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656153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https://github.com/srikar0006/safestore/blob/main/readme.md</a:t>
            </a:r>
            <a:endParaRPr/>
          </a:p>
          <a:p>
            <a:pPr>
              <a:defRPr/>
            </a:pPr>
            <a:r>
              <a:rPr/>
              <a:t>Terminal-style headings are presentation labels, not executable commands.</a:t>
            </a:r>
            <a:endParaRPr/>
          </a:p>
        </p:txBody>
      </p:sp>
      <p:sp>
        <p:nvSpPr>
          <p:cNvPr id="726130447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5075742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1100874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https://github.com/srikar0006/safestore/blob/main/readme.md</a:t>
            </a:r>
            <a:endParaRPr/>
          </a:p>
          <a:p>
            <a:pPr>
              <a:defRPr/>
            </a:pPr>
            <a:r>
              <a:rPr/>
              <a:t>Terminal-style headings are presentation labels, not executable commands.</a:t>
            </a:r>
            <a:endParaRPr/>
          </a:p>
        </p:txBody>
      </p:sp>
      <p:sp>
        <p:nvSpPr>
          <p:cNvPr id="1181968204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2920778" name="Slide Image Placeholder 1"/>
          <p:cNvSpPr>
            <a:spLocks noGrp="1"/>
          </p:cNvSpPr>
          <p:nvPr>
            <p:ph type="sldImg" idx="0"/>
          </p:nvPr>
        </p:nvSpPr>
        <p:spPr bwMode="auto"/>
      </p:sp>
      <p:sp>
        <p:nvSpPr>
          <p:cNvPr id="473645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Source: https://github.com/srikar0006/safestore/blob/main/readme.md#troubleshooting-and-verification</a:t>
            </a:r>
            <a:endParaRPr/>
          </a:p>
          <a:p>
            <a:pPr>
              <a:defRPr/>
            </a:pPr>
            <a:r>
              <a:rPr/>
              <a:t>The README recommends preserving current data separately before restoring. Build checks include ensuring cc and make are installed.</a:t>
            </a:r>
            <a:endParaRPr/>
          </a:p>
        </p:txBody>
      </p:sp>
      <p:sp>
        <p:nvSpPr>
          <p:cNvPr id="797992411" name="Slide Number Placeholder 3"/>
          <p:cNvSpPr>
            <a:spLocks noGrp="1"/>
          </p:cNvSpPr>
          <p:nvPr>
            <p:ph type="sldNum" idx="5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Master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C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2013926" name=""/>
          <p:cNvSpPr>
            <a:spLocks noGrp="1"/>
          </p:cNvSpPr>
          <p:nvPr/>
        </p:nvSpPr>
        <p:spPr bwMode="auto">
          <a:xfrm>
            <a:off x="464344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FF5F57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FF5F57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2026648858" name=""/>
          <p:cNvSpPr>
            <a:spLocks noGrp="1"/>
          </p:cNvSpPr>
          <p:nvPr/>
        </p:nvSpPr>
        <p:spPr bwMode="auto">
          <a:xfrm>
            <a:off x="738188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FEBC2E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FEBC2E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1256538414" name=""/>
          <p:cNvSpPr>
            <a:spLocks noGrp="1"/>
          </p:cNvSpPr>
          <p:nvPr/>
        </p:nvSpPr>
        <p:spPr bwMode="auto">
          <a:xfrm>
            <a:off x="1012031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8C840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28C840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949020065" name=""/>
          <p:cNvSpPr>
            <a:spLocks noGrp="1"/>
          </p:cNvSpPr>
          <p:nvPr/>
        </p:nvSpPr>
        <p:spPr bwMode="auto">
          <a:xfrm>
            <a:off x="1702594" y="226219"/>
            <a:ext cx="10834688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rPr>
              <a:t>safestore  ~  project presentation</a:t>
            </a:r>
            <a:endParaRPr/>
          </a:p>
        </p:txBody>
      </p:sp>
      <p:sp>
        <p:nvSpPr>
          <p:cNvPr id="1103794518" name=""/>
          <p:cNvSpPr>
            <a:spLocks noGrp="1"/>
          </p:cNvSpPr>
          <p:nvPr/>
        </p:nvSpPr>
        <p:spPr bwMode="auto">
          <a:xfrm>
            <a:off x="464344" y="571500"/>
            <a:ext cx="14168438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253344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253344"/>
                </a:solidFill>
                <a:latin typeface="Maple Mono"/>
                <a:ea typeface="Maple Mono"/>
                <a:cs typeface="Maple Mono"/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  <a:endParaRPr/>
          </a:p>
        </p:txBody>
      </p:sp>
      <p:sp>
        <p:nvSpPr>
          <p:cNvPr id="1599621492" name=""/>
          <p:cNvSpPr>
            <a:spLocks noGrp="1"/>
          </p:cNvSpPr>
          <p:nvPr/>
        </p:nvSpPr>
        <p:spPr bwMode="auto">
          <a:xfrm>
            <a:off x="928688" y="1893094"/>
            <a:ext cx="1333500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0">
                <a:solidFill>
                  <a:srgbClr val="59D5F5"/>
                </a:solidFill>
                <a:latin typeface="Maple Mono"/>
                <a:ea typeface="Maple Mono"/>
                <a:cs typeface="Maple Mono"/>
              </a:defRPr>
            </a:pPr>
            <a:r>
              <a:rPr sz="2200" b="0">
                <a:solidFill>
                  <a:srgbClr val="59D5F5"/>
                </a:solidFill>
                <a:latin typeface="Maple Mono"/>
                <a:ea typeface="Maple Mono"/>
                <a:cs typeface="Maple Mono"/>
              </a:rPr>
              <a:t>safestore@local:~$ ./safestore</a:t>
            </a:r>
            <a:endParaRPr/>
          </a:p>
        </p:txBody>
      </p:sp>
      <p:sp>
        <p:nvSpPr>
          <p:cNvPr id="389946677" name=""/>
          <p:cNvSpPr>
            <a:spLocks noGrp="1"/>
          </p:cNvSpPr>
          <p:nvPr/>
        </p:nvSpPr>
        <p:spPr bwMode="auto">
          <a:xfrm>
            <a:off x="916781" y="2964656"/>
            <a:ext cx="12858750" cy="172640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675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675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SafeStore_</a:t>
            </a:r>
            <a:endParaRPr/>
          </a:p>
        </p:txBody>
      </p:sp>
      <p:sp>
        <p:nvSpPr>
          <p:cNvPr id="748626438" name=""/>
          <p:cNvSpPr>
            <a:spLocks noGrp="1"/>
          </p:cNvSpPr>
          <p:nvPr/>
        </p:nvSpPr>
        <p:spPr bwMode="auto">
          <a:xfrm>
            <a:off x="976313" y="4762500"/>
            <a:ext cx="12501563" cy="72628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7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27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Local backup and restore in C</a:t>
            </a:r>
            <a:endParaRPr/>
          </a:p>
        </p:txBody>
      </p:sp>
      <p:sp>
        <p:nvSpPr>
          <p:cNvPr id="1419785118" name=""/>
          <p:cNvSpPr>
            <a:spLocks noGrp="1"/>
          </p:cNvSpPr>
          <p:nvPr/>
        </p:nvSpPr>
        <p:spPr bwMode="auto">
          <a:xfrm>
            <a:off x="976313" y="5893594"/>
            <a:ext cx="13096875" cy="58340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59D5F5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59D5F5"/>
                </a:solidFill>
                <a:latin typeface="Maple Mono"/>
                <a:ea typeface="Maple Mono"/>
                <a:cs typeface="Maple Mono"/>
              </a:rPr>
              <a:t>[ FILES ]  [ SNAPSHOTS ]  [ RECOVERY ]</a:t>
            </a:r>
            <a:endParaRPr/>
          </a:p>
        </p:txBody>
      </p:sp>
      <p:sp>
        <p:nvSpPr>
          <p:cNvPr id="24381486" name=""/>
          <p:cNvSpPr>
            <a:spLocks noGrp="1"/>
          </p:cNvSpPr>
          <p:nvPr/>
        </p:nvSpPr>
        <p:spPr bwMode="auto">
          <a:xfrm>
            <a:off x="976313" y="6881813"/>
            <a:ext cx="12501563" cy="500063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endParaRPr/>
          </a:p>
        </p:txBody>
      </p:sp>
      <p:sp>
        <p:nvSpPr>
          <p:cNvPr id="453284660" name=""/>
          <p:cNvSpPr>
            <a:spLocks noGrp="1"/>
          </p:cNvSpPr>
          <p:nvPr/>
        </p:nvSpPr>
        <p:spPr bwMode="auto">
          <a:xfrm>
            <a:off x="976313" y="7453313"/>
            <a:ext cx="12977813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0">
                <a:solidFill>
                  <a:srgbClr val="85929F"/>
                </a:solidFill>
                <a:latin typeface="Maple Mono"/>
                <a:ea typeface="Maple Mono"/>
                <a:cs typeface="Maple Mono"/>
              </a:defRPr>
            </a:pPr>
            <a:r>
              <a:rPr sz="1600" b="0">
                <a:solidFill>
                  <a:srgbClr val="85929F"/>
                </a:solidFill>
                <a:latin typeface="Maple Mono"/>
                <a:ea typeface="Maple Mono"/>
                <a:cs typeface="Maple Mono"/>
              </a:rPr>
              <a:t>github.com/srikar0006/safestore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C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405829" name=""/>
          <p:cNvSpPr>
            <a:spLocks noGrp="1"/>
          </p:cNvSpPr>
          <p:nvPr/>
        </p:nvSpPr>
        <p:spPr bwMode="auto">
          <a:xfrm>
            <a:off x="464344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FF5F57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FF5F57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1953358425" name=""/>
          <p:cNvSpPr>
            <a:spLocks noGrp="1"/>
          </p:cNvSpPr>
          <p:nvPr/>
        </p:nvSpPr>
        <p:spPr bwMode="auto">
          <a:xfrm>
            <a:off x="738188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FEBC2E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FEBC2E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1059284391" name=""/>
          <p:cNvSpPr>
            <a:spLocks noGrp="1"/>
          </p:cNvSpPr>
          <p:nvPr/>
        </p:nvSpPr>
        <p:spPr bwMode="auto">
          <a:xfrm>
            <a:off x="1012031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8C840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28C840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442167856" name=""/>
          <p:cNvSpPr>
            <a:spLocks noGrp="1"/>
          </p:cNvSpPr>
          <p:nvPr/>
        </p:nvSpPr>
        <p:spPr bwMode="auto">
          <a:xfrm>
            <a:off x="1702594" y="226219"/>
            <a:ext cx="10834688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rPr>
              <a:t>safestore  ~  project presentation</a:t>
            </a:r>
            <a:endParaRPr/>
          </a:p>
        </p:txBody>
      </p:sp>
      <p:sp>
        <p:nvSpPr>
          <p:cNvPr id="1626822981" name=""/>
          <p:cNvSpPr>
            <a:spLocks noGrp="1"/>
          </p:cNvSpPr>
          <p:nvPr/>
        </p:nvSpPr>
        <p:spPr bwMode="auto">
          <a:xfrm>
            <a:off x="464344" y="571500"/>
            <a:ext cx="14168438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253344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253344"/>
                </a:solidFill>
                <a:latin typeface="Maple Mono"/>
                <a:ea typeface="Maple Mono"/>
                <a:cs typeface="Maple Mono"/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  <a:endParaRPr/>
          </a:p>
        </p:txBody>
      </p:sp>
      <p:sp>
        <p:nvSpPr>
          <p:cNvPr id="529054444" name=""/>
          <p:cNvSpPr>
            <a:spLocks noGrp="1"/>
          </p:cNvSpPr>
          <p:nvPr/>
        </p:nvSpPr>
        <p:spPr bwMode="auto">
          <a:xfrm>
            <a:off x="904875" y="869156"/>
            <a:ext cx="13215938" cy="105965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315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$ Project team</a:t>
            </a:r>
            <a:endParaRPr/>
          </a:p>
        </p:txBody>
      </p:sp>
      <p:sp>
        <p:nvSpPr>
          <p:cNvPr id="1220924498" name=""/>
          <p:cNvSpPr>
            <a:spLocks noGrp="1"/>
          </p:cNvSpPr>
          <p:nvPr/>
        </p:nvSpPr>
        <p:spPr bwMode="auto">
          <a:xfrm>
            <a:off x="12680156" y="7953375"/>
            <a:ext cx="2024063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rPr>
              <a:t>[ 02 / 09 ]</a:t>
            </a:r>
            <a:endParaRPr/>
          </a:p>
        </p:txBody>
      </p:sp>
      <p:sp>
        <p:nvSpPr>
          <p:cNvPr id="124919033" name=""/>
          <p:cNvSpPr>
            <a:spLocks noGrp="1"/>
          </p:cNvSpPr>
          <p:nvPr/>
        </p:nvSpPr>
        <p:spPr bwMode="auto">
          <a:xfrm>
            <a:off x="500063" y="7953375"/>
            <a:ext cx="1178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59D5F5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59D5F5"/>
                </a:solidFill>
                <a:latin typeface="Maple Mono"/>
                <a:ea typeface="Maple Mono"/>
                <a:cs typeface="Maple Mono"/>
              </a:rPr>
              <a:t>safestore@local:~$</a:t>
            </a:r>
            <a:endParaRPr/>
          </a:p>
        </p:txBody>
      </p:sp>
      <p:sp>
        <p:nvSpPr>
          <p:cNvPr id="1764117842" name=""/>
          <p:cNvSpPr>
            <a:spLocks noGrp="1"/>
          </p:cNvSpPr>
          <p:nvPr/>
        </p:nvSpPr>
        <p:spPr bwMode="auto">
          <a:xfrm>
            <a:off x="976313" y="2238375"/>
            <a:ext cx="12977813" cy="77390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50" b="0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3050" b="0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The team behind SafeStore</a:t>
            </a:r>
            <a:endParaRPr/>
          </a:p>
        </p:txBody>
      </p:sp>
      <p:sp>
        <p:nvSpPr>
          <p:cNvPr id="1267655779" name=""/>
          <p:cNvSpPr>
            <a:spLocks noGrp="1"/>
          </p:cNvSpPr>
          <p:nvPr/>
        </p:nvSpPr>
        <p:spPr bwMode="auto">
          <a:xfrm>
            <a:off x="988219" y="3583781"/>
            <a:ext cx="4048125" cy="5476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00" b="1">
                <a:solidFill>
                  <a:srgbClr val="59D5F5"/>
                </a:solidFill>
                <a:latin typeface="Maple Mono"/>
                <a:ea typeface="Maple Mono"/>
                <a:cs typeface="Maple Mono"/>
              </a:defRPr>
            </a:pPr>
            <a:r>
              <a:rPr sz="2300" b="1">
                <a:solidFill>
                  <a:srgbClr val="59D5F5"/>
                </a:solidFill>
                <a:latin typeface="Maple Mono"/>
                <a:ea typeface="Maple Mono"/>
                <a:cs typeface="Maple Mono"/>
              </a:rPr>
              <a:t>2510030006</a:t>
            </a:r>
            <a:endParaRPr/>
          </a:p>
        </p:txBody>
      </p:sp>
      <p:sp>
        <p:nvSpPr>
          <p:cNvPr id="1345975375" name=""/>
          <p:cNvSpPr>
            <a:spLocks noGrp="1"/>
          </p:cNvSpPr>
          <p:nvPr/>
        </p:nvSpPr>
        <p:spPr bwMode="auto">
          <a:xfrm>
            <a:off x="5476875" y="3583781"/>
            <a:ext cx="8453438" cy="5476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23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N Srikar (Team Lead)</a:t>
            </a:r>
            <a:endParaRPr/>
          </a:p>
        </p:txBody>
      </p:sp>
      <p:sp>
        <p:nvSpPr>
          <p:cNvPr id="603831004" name=""/>
          <p:cNvSpPr>
            <a:spLocks noGrp="1"/>
          </p:cNvSpPr>
          <p:nvPr/>
        </p:nvSpPr>
        <p:spPr bwMode="auto">
          <a:xfrm>
            <a:off x="988219" y="4500563"/>
            <a:ext cx="4048125" cy="5476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00" b="1">
                <a:solidFill>
                  <a:srgbClr val="59D5F5"/>
                </a:solidFill>
                <a:latin typeface="Maple Mono"/>
                <a:ea typeface="Maple Mono"/>
                <a:cs typeface="Maple Mono"/>
              </a:defRPr>
            </a:pPr>
            <a:r>
              <a:rPr sz="2300" b="1">
                <a:solidFill>
                  <a:srgbClr val="59D5F5"/>
                </a:solidFill>
                <a:latin typeface="Maple Mono"/>
                <a:ea typeface="Maple Mono"/>
                <a:cs typeface="Maple Mono"/>
              </a:rPr>
              <a:t>2510030147</a:t>
            </a:r>
            <a:endParaRPr/>
          </a:p>
        </p:txBody>
      </p:sp>
      <p:sp>
        <p:nvSpPr>
          <p:cNvPr id="144584923" name=""/>
          <p:cNvSpPr>
            <a:spLocks noGrp="1"/>
          </p:cNvSpPr>
          <p:nvPr/>
        </p:nvSpPr>
        <p:spPr bwMode="auto">
          <a:xfrm>
            <a:off x="5476875" y="4500563"/>
            <a:ext cx="8453438" cy="5476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23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U Yogendra</a:t>
            </a:r>
            <a:endParaRPr/>
          </a:p>
        </p:txBody>
      </p:sp>
      <p:sp>
        <p:nvSpPr>
          <p:cNvPr id="840087141" name=""/>
          <p:cNvSpPr>
            <a:spLocks noGrp="1"/>
          </p:cNvSpPr>
          <p:nvPr/>
        </p:nvSpPr>
        <p:spPr bwMode="auto">
          <a:xfrm>
            <a:off x="988219" y="5417344"/>
            <a:ext cx="4048125" cy="5476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00" b="1">
                <a:solidFill>
                  <a:srgbClr val="59D5F5"/>
                </a:solidFill>
                <a:latin typeface="Maple Mono"/>
                <a:ea typeface="Maple Mono"/>
                <a:cs typeface="Maple Mono"/>
              </a:defRPr>
            </a:pPr>
            <a:r>
              <a:rPr sz="2300" b="1">
                <a:solidFill>
                  <a:srgbClr val="59D5F5"/>
                </a:solidFill>
                <a:latin typeface="Maple Mono"/>
                <a:ea typeface="Maple Mono"/>
                <a:cs typeface="Maple Mono"/>
              </a:rPr>
              <a:t>2510030008</a:t>
            </a:r>
            <a:endParaRPr/>
          </a:p>
        </p:txBody>
      </p:sp>
      <p:sp>
        <p:nvSpPr>
          <p:cNvPr id="2079124931" name=""/>
          <p:cNvSpPr>
            <a:spLocks noGrp="1"/>
          </p:cNvSpPr>
          <p:nvPr/>
        </p:nvSpPr>
        <p:spPr bwMode="auto">
          <a:xfrm>
            <a:off x="5476875" y="5417344"/>
            <a:ext cx="8453438" cy="5476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23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G Pranav</a:t>
            </a:r>
            <a:endParaRPr/>
          </a:p>
        </p:txBody>
      </p:sp>
      <p:sp>
        <p:nvSpPr>
          <p:cNvPr id="1499280966" name=""/>
          <p:cNvSpPr>
            <a:spLocks noGrp="1"/>
          </p:cNvSpPr>
          <p:nvPr/>
        </p:nvSpPr>
        <p:spPr bwMode="auto">
          <a:xfrm>
            <a:off x="988219" y="6334125"/>
            <a:ext cx="4048125" cy="5476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00" b="1">
                <a:solidFill>
                  <a:srgbClr val="59D5F5"/>
                </a:solidFill>
                <a:latin typeface="Maple Mono"/>
                <a:ea typeface="Maple Mono"/>
                <a:cs typeface="Maple Mono"/>
              </a:defRPr>
            </a:pPr>
            <a:r>
              <a:rPr sz="2300" b="1">
                <a:solidFill>
                  <a:srgbClr val="59D5F5"/>
                </a:solidFill>
                <a:latin typeface="Maple Mono"/>
                <a:ea typeface="Maple Mono"/>
                <a:cs typeface="Maple Mono"/>
              </a:rPr>
              <a:t>2510030052</a:t>
            </a:r>
            <a:endParaRPr/>
          </a:p>
        </p:txBody>
      </p:sp>
      <p:sp>
        <p:nvSpPr>
          <p:cNvPr id="1455064499" name=""/>
          <p:cNvSpPr>
            <a:spLocks noGrp="1"/>
          </p:cNvSpPr>
          <p:nvPr/>
        </p:nvSpPr>
        <p:spPr bwMode="auto">
          <a:xfrm>
            <a:off x="5476875" y="6334125"/>
            <a:ext cx="8453438" cy="5476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23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Suleman Khan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C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2443002" name=""/>
          <p:cNvSpPr>
            <a:spLocks noGrp="1"/>
          </p:cNvSpPr>
          <p:nvPr/>
        </p:nvSpPr>
        <p:spPr bwMode="auto">
          <a:xfrm>
            <a:off x="464344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FF5F57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FF5F57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624443767" name=""/>
          <p:cNvSpPr>
            <a:spLocks noGrp="1"/>
          </p:cNvSpPr>
          <p:nvPr/>
        </p:nvSpPr>
        <p:spPr bwMode="auto">
          <a:xfrm>
            <a:off x="738188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FEBC2E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FEBC2E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1104186934" name=""/>
          <p:cNvSpPr>
            <a:spLocks noGrp="1"/>
          </p:cNvSpPr>
          <p:nvPr/>
        </p:nvSpPr>
        <p:spPr bwMode="auto">
          <a:xfrm>
            <a:off x="1012031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8C840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28C840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1588730407" name=""/>
          <p:cNvSpPr>
            <a:spLocks noGrp="1"/>
          </p:cNvSpPr>
          <p:nvPr/>
        </p:nvSpPr>
        <p:spPr bwMode="auto">
          <a:xfrm>
            <a:off x="1702594" y="226219"/>
            <a:ext cx="10834688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rPr>
              <a:t>safestore  ~  project presentation</a:t>
            </a:r>
            <a:endParaRPr/>
          </a:p>
        </p:txBody>
      </p:sp>
      <p:sp>
        <p:nvSpPr>
          <p:cNvPr id="1963122736" name=""/>
          <p:cNvSpPr>
            <a:spLocks noGrp="1"/>
          </p:cNvSpPr>
          <p:nvPr/>
        </p:nvSpPr>
        <p:spPr bwMode="auto">
          <a:xfrm>
            <a:off x="464344" y="571500"/>
            <a:ext cx="14168438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253344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253344"/>
                </a:solidFill>
                <a:latin typeface="Maple Mono"/>
                <a:ea typeface="Maple Mono"/>
                <a:cs typeface="Maple Mono"/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  <a:endParaRPr/>
          </a:p>
        </p:txBody>
      </p:sp>
      <p:sp>
        <p:nvSpPr>
          <p:cNvPr id="305211777" name=""/>
          <p:cNvSpPr>
            <a:spLocks noGrp="1"/>
          </p:cNvSpPr>
          <p:nvPr/>
        </p:nvSpPr>
        <p:spPr bwMode="auto">
          <a:xfrm>
            <a:off x="904875" y="869156"/>
            <a:ext cx="13215938" cy="105965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315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$ Overview and commands</a:t>
            </a:r>
            <a:endParaRPr/>
          </a:p>
        </p:txBody>
      </p:sp>
      <p:sp>
        <p:nvSpPr>
          <p:cNvPr id="1757067792" name=""/>
          <p:cNvSpPr>
            <a:spLocks noGrp="1"/>
          </p:cNvSpPr>
          <p:nvPr/>
        </p:nvSpPr>
        <p:spPr bwMode="auto">
          <a:xfrm>
            <a:off x="12680156" y="7953375"/>
            <a:ext cx="2024063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rPr>
              <a:t>[ 03 / 09 ]</a:t>
            </a:r>
            <a:endParaRPr/>
          </a:p>
        </p:txBody>
      </p:sp>
      <p:sp>
        <p:nvSpPr>
          <p:cNvPr id="1264923959" name=""/>
          <p:cNvSpPr>
            <a:spLocks noGrp="1"/>
          </p:cNvSpPr>
          <p:nvPr/>
        </p:nvSpPr>
        <p:spPr bwMode="auto">
          <a:xfrm>
            <a:off x="500063" y="7953375"/>
            <a:ext cx="1178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59D5F5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59D5F5"/>
                </a:solidFill>
                <a:latin typeface="Maple Mono"/>
                <a:ea typeface="Maple Mono"/>
                <a:cs typeface="Maple Mono"/>
              </a:rPr>
              <a:t>safestore@local:~$</a:t>
            </a:r>
            <a:endParaRPr/>
          </a:p>
        </p:txBody>
      </p:sp>
      <p:sp>
        <p:nvSpPr>
          <p:cNvPr id="1381641520" name=""/>
          <p:cNvSpPr>
            <a:spLocks noGrp="1"/>
          </p:cNvSpPr>
          <p:nvPr/>
        </p:nvSpPr>
        <p:spPr bwMode="auto">
          <a:xfrm>
            <a:off x="976313" y="2047875"/>
            <a:ext cx="10417969" cy="63103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600" b="0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600" b="0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Local file and directory snapshots in C</a:t>
            </a:r>
            <a:endParaRPr/>
          </a:p>
        </p:txBody>
      </p:sp>
      <p:sp>
        <p:nvSpPr>
          <p:cNvPr id="855970250" name=""/>
          <p:cNvSpPr>
            <a:spLocks noGrp="1"/>
          </p:cNvSpPr>
          <p:nvPr/>
        </p:nvSpPr>
        <p:spPr bwMode="auto">
          <a:xfrm>
            <a:off x="976313" y="2881312"/>
            <a:ext cx="9882188" cy="1643063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21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SafeStore creates timestamped backups, groups their history by source path and offers interactive snapshot recovery. Optional compression and encryption change how each snapshot is stored.</a:t>
            </a:r>
            <a:endParaRPr/>
          </a:p>
        </p:txBody>
      </p:sp>
      <p:sp>
        <p:nvSpPr>
          <p:cNvPr id="1808661379" name=""/>
          <p:cNvSpPr>
            <a:spLocks noGrp="1"/>
          </p:cNvSpPr>
          <p:nvPr/>
        </p:nvSpPr>
        <p:spPr bwMode="auto">
          <a:xfrm>
            <a:off x="976313" y="4810125"/>
            <a:ext cx="5655469" cy="5119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Command interface</a:t>
            </a:r>
            <a:endParaRPr/>
          </a:p>
        </p:txBody>
      </p:sp>
      <p:sp>
        <p:nvSpPr>
          <p:cNvPr id="716898077" name=""/>
          <p:cNvSpPr>
            <a:spLocks noGrp="1"/>
          </p:cNvSpPr>
          <p:nvPr/>
        </p:nvSpPr>
        <p:spPr bwMode="auto">
          <a:xfrm>
            <a:off x="976313" y="5393531"/>
            <a:ext cx="5655469" cy="22264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-b / --backup &lt;file_or_folder&gt;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-c / --compress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-e / --encrypt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-l / --list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-r / --restore &lt;file_or_folder&gt;</a:t>
            </a:r>
            <a:endParaRPr/>
          </a:p>
        </p:txBody>
      </p:sp>
      <p:sp>
        <p:nvSpPr>
          <p:cNvPr id="272378941" name=""/>
          <p:cNvSpPr>
            <a:spLocks noGrp="1"/>
          </p:cNvSpPr>
          <p:nvPr/>
        </p:nvSpPr>
        <p:spPr bwMode="auto">
          <a:xfrm>
            <a:off x="7929563" y="4810125"/>
            <a:ext cx="6191250" cy="5119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Example usage</a:t>
            </a:r>
            <a:endParaRPr/>
          </a:p>
        </p:txBody>
      </p:sp>
      <p:sp>
        <p:nvSpPr>
          <p:cNvPr id="456481727" name=""/>
          <p:cNvSpPr>
            <a:spLocks noGrp="1"/>
          </p:cNvSpPr>
          <p:nvPr/>
        </p:nvSpPr>
        <p:spPr bwMode="auto">
          <a:xfrm>
            <a:off x="7929563" y="5393531"/>
            <a:ext cx="6191250" cy="22264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8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./safestore --backup ./notes.txt</a:t>
            </a:r>
            <a:endParaRPr/>
          </a:p>
          <a:p>
            <a:pPr>
              <a:defRPr sz="18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8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./safestore --backup ./documents</a:t>
            </a:r>
            <a:endParaRPr/>
          </a:p>
          <a:p>
            <a:pPr>
              <a:defRPr sz="18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8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  --compress --encrypt</a:t>
            </a:r>
            <a:endParaRPr/>
          </a:p>
          <a:p>
            <a:pPr>
              <a:defRPr sz="18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8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./safestore --list</a:t>
            </a:r>
            <a:endParaRPr/>
          </a:p>
          <a:p>
            <a:pPr>
              <a:defRPr sz="18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8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./safestore --restore /absolute/path/notes.txt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C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6489208" name=""/>
          <p:cNvSpPr>
            <a:spLocks noGrp="1"/>
          </p:cNvSpPr>
          <p:nvPr/>
        </p:nvSpPr>
        <p:spPr bwMode="auto">
          <a:xfrm>
            <a:off x="464344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FF5F57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FF5F57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875200702" name=""/>
          <p:cNvSpPr>
            <a:spLocks noGrp="1"/>
          </p:cNvSpPr>
          <p:nvPr/>
        </p:nvSpPr>
        <p:spPr bwMode="auto">
          <a:xfrm>
            <a:off x="738188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FEBC2E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FEBC2E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94815902" name=""/>
          <p:cNvSpPr>
            <a:spLocks noGrp="1"/>
          </p:cNvSpPr>
          <p:nvPr/>
        </p:nvSpPr>
        <p:spPr bwMode="auto">
          <a:xfrm>
            <a:off x="1012031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8C840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28C840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990534393" name=""/>
          <p:cNvSpPr>
            <a:spLocks noGrp="1"/>
          </p:cNvSpPr>
          <p:nvPr/>
        </p:nvSpPr>
        <p:spPr bwMode="auto">
          <a:xfrm>
            <a:off x="1702594" y="226219"/>
            <a:ext cx="10834688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rPr>
              <a:t>safestore  ~  project presentation</a:t>
            </a:r>
            <a:endParaRPr/>
          </a:p>
        </p:txBody>
      </p:sp>
      <p:sp>
        <p:nvSpPr>
          <p:cNvPr id="218981218" name=""/>
          <p:cNvSpPr>
            <a:spLocks noGrp="1"/>
          </p:cNvSpPr>
          <p:nvPr/>
        </p:nvSpPr>
        <p:spPr bwMode="auto">
          <a:xfrm>
            <a:off x="464344" y="571500"/>
            <a:ext cx="14168438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253344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253344"/>
                </a:solidFill>
                <a:latin typeface="Maple Mono"/>
                <a:ea typeface="Maple Mono"/>
                <a:cs typeface="Maple Mono"/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  <a:endParaRPr/>
          </a:p>
        </p:txBody>
      </p:sp>
      <p:sp>
        <p:nvSpPr>
          <p:cNvPr id="1309886868" name=""/>
          <p:cNvSpPr>
            <a:spLocks noGrp="1"/>
          </p:cNvSpPr>
          <p:nvPr/>
        </p:nvSpPr>
        <p:spPr bwMode="auto">
          <a:xfrm>
            <a:off x="904875" y="869156"/>
            <a:ext cx="13215938" cy="105965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315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$ Backup workflow and local storage</a:t>
            </a:r>
            <a:endParaRPr/>
          </a:p>
        </p:txBody>
      </p:sp>
      <p:sp>
        <p:nvSpPr>
          <p:cNvPr id="387871415" name=""/>
          <p:cNvSpPr>
            <a:spLocks noGrp="1"/>
          </p:cNvSpPr>
          <p:nvPr/>
        </p:nvSpPr>
        <p:spPr bwMode="auto">
          <a:xfrm>
            <a:off x="12680156" y="7953375"/>
            <a:ext cx="2024063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rPr>
              <a:t>[ 04 / 09 ]</a:t>
            </a:r>
            <a:endParaRPr/>
          </a:p>
        </p:txBody>
      </p:sp>
      <p:sp>
        <p:nvSpPr>
          <p:cNvPr id="987096586" name=""/>
          <p:cNvSpPr>
            <a:spLocks noGrp="1"/>
          </p:cNvSpPr>
          <p:nvPr/>
        </p:nvSpPr>
        <p:spPr bwMode="auto">
          <a:xfrm>
            <a:off x="500063" y="7953375"/>
            <a:ext cx="1178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59D5F5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59D5F5"/>
                </a:solidFill>
                <a:latin typeface="Maple Mono"/>
                <a:ea typeface="Maple Mono"/>
                <a:cs typeface="Maple Mono"/>
              </a:rPr>
              <a:t>safestore@local:~$</a:t>
            </a:r>
            <a:endParaRPr/>
          </a:p>
        </p:txBody>
      </p:sp>
      <p:sp>
        <p:nvSpPr>
          <p:cNvPr id="2095807722" name=""/>
          <p:cNvSpPr>
            <a:spLocks noGrp="1"/>
          </p:cNvSpPr>
          <p:nvPr/>
        </p:nvSpPr>
        <p:spPr bwMode="auto">
          <a:xfrm>
            <a:off x="976313" y="2059781"/>
            <a:ext cx="6191250" cy="5119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How a backup works</a:t>
            </a:r>
            <a:endParaRPr/>
          </a:p>
        </p:txBody>
      </p:sp>
      <p:sp>
        <p:nvSpPr>
          <p:cNvPr id="881003655" name=""/>
          <p:cNvSpPr>
            <a:spLocks noGrp="1"/>
          </p:cNvSpPr>
          <p:nvPr/>
        </p:nvSpPr>
        <p:spPr bwMode="auto">
          <a:xfrm>
            <a:off x="976313" y="2643188"/>
            <a:ext cx="6191250" cy="476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1. Resolve the existing source to an absolute path.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2. Compute its SHA-1 path identifier.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3. Create a timestamped snapshot folder.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4. Recursively copy the source or create an archive.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5. Append a CSV history record.</a:t>
            </a:r>
            <a:endParaRPr/>
          </a:p>
        </p:txBody>
      </p:sp>
      <p:sp>
        <p:nvSpPr>
          <p:cNvPr id="55451013" name=""/>
          <p:cNvSpPr>
            <a:spLocks noGrp="1"/>
          </p:cNvSpPr>
          <p:nvPr/>
        </p:nvSpPr>
        <p:spPr bwMode="auto">
          <a:xfrm>
            <a:off x="7929563" y="2059781"/>
            <a:ext cx="6191250" cy="5119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Store structure</a:t>
            </a:r>
            <a:endParaRPr/>
          </a:p>
        </p:txBody>
      </p:sp>
      <p:sp>
        <p:nvSpPr>
          <p:cNvPr id="2056215331" name=""/>
          <p:cNvSpPr>
            <a:spLocks noGrp="1"/>
          </p:cNvSpPr>
          <p:nvPr/>
        </p:nvSpPr>
        <p:spPr bwMode="auto">
          <a:xfrm>
            <a:off x="7929563" y="2643188"/>
            <a:ext cx="6191250" cy="476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~/.local/share/safestore/</a:t>
            </a:r>
            <a:endParaRPr/>
          </a:p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  file.csv</a:t>
            </a:r>
            <a:endParaRPr/>
          </a:p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  Backup/</a:t>
            </a:r>
            <a:endParaRPr/>
          </a:p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    &lt;SHA-1 of absolute source path&gt;/</a:t>
            </a:r>
            <a:endParaRPr/>
          </a:p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      &lt;YYYYMMDD-HHMMSS&gt;/</a:t>
            </a:r>
            <a:endParaRPr/>
          </a:p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        &lt;source copy or archive&gt;</a:t>
            </a:r>
            <a:endParaRPr/>
          </a:p>
        </p:txBody>
      </p:sp>
      <p:sp>
        <p:nvSpPr>
          <p:cNvPr id="287458812" name=""/>
          <p:cNvSpPr>
            <a:spLocks noGrp="1"/>
          </p:cNvSpPr>
          <p:nvPr/>
        </p:nvSpPr>
        <p:spPr bwMode="auto">
          <a:xfrm>
            <a:off x="976313" y="5345906"/>
            <a:ext cx="6191250" cy="5119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Timestamps and identifiers</a:t>
            </a:r>
            <a:endParaRPr/>
          </a:p>
        </p:txBody>
      </p:sp>
      <p:sp>
        <p:nvSpPr>
          <p:cNvPr id="1742519335" name=""/>
          <p:cNvSpPr>
            <a:spLocks noGrp="1"/>
          </p:cNvSpPr>
          <p:nvPr/>
        </p:nvSpPr>
        <p:spPr bwMode="auto">
          <a:xfrm>
            <a:off x="976313" y="5929313"/>
            <a:ext cx="6191250" cy="16906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Local timestamps have one-second precision. SHA-1 identifies the source path with 40 hexadecimal characters.</a:t>
            </a:r>
            <a:endParaRPr/>
          </a:p>
        </p:txBody>
      </p:sp>
      <p:sp>
        <p:nvSpPr>
          <p:cNvPr id="1767906002" name=""/>
          <p:cNvSpPr>
            <a:spLocks noGrp="1"/>
          </p:cNvSpPr>
          <p:nvPr/>
        </p:nvSpPr>
        <p:spPr bwMode="auto">
          <a:xfrm>
            <a:off x="7929563" y="5345906"/>
            <a:ext cx="6191250" cy="5119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History and temporary files</a:t>
            </a:r>
            <a:endParaRPr/>
          </a:p>
        </p:txBody>
      </p:sp>
      <p:sp>
        <p:nvSpPr>
          <p:cNvPr id="1649018553" name=""/>
          <p:cNvSpPr>
            <a:spLocks noGrp="1"/>
          </p:cNvSpPr>
          <p:nvPr/>
        </p:nvSpPr>
        <p:spPr bwMode="auto">
          <a:xfrm>
            <a:off x="7929563" y="5929313"/>
            <a:ext cx="6191250" cy="16906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CSV fields: timestamp,path,hash</a:t>
            </a:r>
            <a:endParaRPr/>
          </a:p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Log time: YYYY-MM-DD HH:MM:SS</a:t>
            </a:r>
            <a:endParaRPr/>
          </a:p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Temporary archives use /tmp and are removed after successful operations.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C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4187788" name=""/>
          <p:cNvSpPr>
            <a:spLocks noGrp="1"/>
          </p:cNvSpPr>
          <p:nvPr/>
        </p:nvSpPr>
        <p:spPr bwMode="auto">
          <a:xfrm>
            <a:off x="464344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FF5F57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FF5F57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394633047" name=""/>
          <p:cNvSpPr>
            <a:spLocks noGrp="1"/>
          </p:cNvSpPr>
          <p:nvPr/>
        </p:nvSpPr>
        <p:spPr bwMode="auto">
          <a:xfrm>
            <a:off x="738188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FEBC2E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FEBC2E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876351113" name=""/>
          <p:cNvSpPr>
            <a:spLocks noGrp="1"/>
          </p:cNvSpPr>
          <p:nvPr/>
        </p:nvSpPr>
        <p:spPr bwMode="auto">
          <a:xfrm>
            <a:off x="1012031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8C840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28C840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1372554258" name=""/>
          <p:cNvSpPr>
            <a:spLocks noGrp="1"/>
          </p:cNvSpPr>
          <p:nvPr/>
        </p:nvSpPr>
        <p:spPr bwMode="auto">
          <a:xfrm>
            <a:off x="1702594" y="226219"/>
            <a:ext cx="10834688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rPr>
              <a:t>safestore  ~  project presentation</a:t>
            </a:r>
            <a:endParaRPr/>
          </a:p>
        </p:txBody>
      </p:sp>
      <p:sp>
        <p:nvSpPr>
          <p:cNvPr id="914852797" name=""/>
          <p:cNvSpPr>
            <a:spLocks noGrp="1"/>
          </p:cNvSpPr>
          <p:nvPr/>
        </p:nvSpPr>
        <p:spPr bwMode="auto">
          <a:xfrm>
            <a:off x="464344" y="571500"/>
            <a:ext cx="14168438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253344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253344"/>
                </a:solidFill>
                <a:latin typeface="Maple Mono"/>
                <a:ea typeface="Maple Mono"/>
                <a:cs typeface="Maple Mono"/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  <a:endParaRPr/>
          </a:p>
        </p:txBody>
      </p:sp>
      <p:sp>
        <p:nvSpPr>
          <p:cNvPr id="1206081309" name=""/>
          <p:cNvSpPr>
            <a:spLocks noGrp="1"/>
          </p:cNvSpPr>
          <p:nvPr/>
        </p:nvSpPr>
        <p:spPr bwMode="auto">
          <a:xfrm>
            <a:off x="904875" y="869156"/>
            <a:ext cx="13215938" cy="105965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315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$ Storage formats and encryption</a:t>
            </a:r>
            <a:endParaRPr/>
          </a:p>
        </p:txBody>
      </p:sp>
      <p:sp>
        <p:nvSpPr>
          <p:cNvPr id="1681292626" name=""/>
          <p:cNvSpPr>
            <a:spLocks noGrp="1"/>
          </p:cNvSpPr>
          <p:nvPr/>
        </p:nvSpPr>
        <p:spPr bwMode="auto">
          <a:xfrm>
            <a:off x="12680156" y="7953375"/>
            <a:ext cx="2024063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rPr>
              <a:t>[ 05 / 09 ]</a:t>
            </a:r>
            <a:endParaRPr/>
          </a:p>
        </p:txBody>
      </p:sp>
      <p:sp>
        <p:nvSpPr>
          <p:cNvPr id="1394850058" name=""/>
          <p:cNvSpPr>
            <a:spLocks noGrp="1"/>
          </p:cNvSpPr>
          <p:nvPr/>
        </p:nvSpPr>
        <p:spPr bwMode="auto">
          <a:xfrm>
            <a:off x="500063" y="7953375"/>
            <a:ext cx="1178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59D5F5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59D5F5"/>
                </a:solidFill>
                <a:latin typeface="Maple Mono"/>
                <a:ea typeface="Maple Mono"/>
                <a:cs typeface="Maple Mono"/>
              </a:rPr>
              <a:t>safestore@local:~$</a:t>
            </a:r>
            <a:endParaRPr/>
          </a:p>
        </p:txBody>
      </p:sp>
      <p:sp>
        <p:nvSpPr>
          <p:cNvPr id="988411593" name=""/>
          <p:cNvSpPr>
            <a:spLocks noGrp="1"/>
          </p:cNvSpPr>
          <p:nvPr/>
        </p:nvSpPr>
        <p:spPr bwMode="auto">
          <a:xfrm>
            <a:off x="976313" y="2071688"/>
            <a:ext cx="6250781" cy="5119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Four snapshot formats</a:t>
            </a:r>
            <a:endParaRPr/>
          </a:p>
        </p:txBody>
      </p:sp>
      <p:sp>
        <p:nvSpPr>
          <p:cNvPr id="1616147697" name=""/>
          <p:cNvSpPr>
            <a:spLocks noGrp="1"/>
          </p:cNvSpPr>
          <p:nvPr/>
        </p:nvSpPr>
        <p:spPr bwMode="auto">
          <a:xfrm>
            <a:off x="976313" y="2655094"/>
            <a:ext cx="6250781" cy="476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Plain: recursive source copy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Compressed: &lt;basename&gt;.tar.lz4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Encrypted: &lt;basename&gt;.tar.enc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Both: &lt;basename&gt;.tar.lz4.enc</a:t>
            </a:r>
            <a:endParaRPr/>
          </a:p>
          <a:p>
            <a:pPr>
              <a:defRPr/>
            </a:pP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tar packages the source basename. LZ4 compresses the archive before encryption when both options are selected.</a:t>
            </a:r>
            <a:endParaRPr/>
          </a:p>
        </p:txBody>
      </p:sp>
      <p:sp>
        <p:nvSpPr>
          <p:cNvPr id="1681186706" name=""/>
          <p:cNvSpPr>
            <a:spLocks noGrp="1"/>
          </p:cNvSpPr>
          <p:nvPr/>
        </p:nvSpPr>
        <p:spPr bwMode="auto">
          <a:xfrm>
            <a:off x="7929563" y="2071688"/>
            <a:ext cx="6191250" cy="5119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Encryption details</a:t>
            </a:r>
            <a:endParaRPr/>
          </a:p>
        </p:txBody>
      </p:sp>
      <p:sp>
        <p:nvSpPr>
          <p:cNvPr id="1486530622" name=""/>
          <p:cNvSpPr>
            <a:spLocks noGrp="1"/>
          </p:cNvSpPr>
          <p:nvPr/>
        </p:nvSpPr>
        <p:spPr bwMode="auto">
          <a:xfrm>
            <a:off x="7929563" y="2655094"/>
            <a:ext cx="6191250" cy="476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OpenSSL uses AES-256-CBC with PBKDF2 and a salt.</a:t>
            </a:r>
            <a:endParaRPr/>
          </a:p>
          <a:p>
            <a:pPr>
              <a:defRPr/>
            </a:pP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Backup requires a nonempty password and matching confirmation. Terminal input echo is disabled during password entry.</a:t>
            </a:r>
            <a:endParaRPr/>
          </a:p>
          <a:p>
            <a:pPr>
              <a:defRPr/>
            </a:pP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Encrypted restore asks once for the snapshot password.</a:t>
            </a:r>
            <a:endParaRPr/>
          </a:p>
        </p:txBody>
      </p:sp>
      <p:sp>
        <p:nvSpPr>
          <p:cNvPr id="142566705" name=""/>
          <p:cNvSpPr>
            <a:spLocks noGrp="1"/>
          </p:cNvSpPr>
          <p:nvPr/>
        </p:nvSpPr>
        <p:spPr bwMode="auto">
          <a:xfrm>
            <a:off x="976313" y="7096125"/>
            <a:ext cx="12501563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59D5F5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59D5F5"/>
                </a:solidFill>
                <a:latin typeface="Maple Mono"/>
                <a:ea typeface="Maple Mono"/>
                <a:cs typeface="Maple Mono"/>
              </a:rPr>
              <a:t>Compression and cryptography run through command-line utilities.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C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644810" name=""/>
          <p:cNvSpPr>
            <a:spLocks noGrp="1"/>
          </p:cNvSpPr>
          <p:nvPr/>
        </p:nvSpPr>
        <p:spPr bwMode="auto">
          <a:xfrm>
            <a:off x="464344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FF5F57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FF5F57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1196950456" name=""/>
          <p:cNvSpPr>
            <a:spLocks noGrp="1"/>
          </p:cNvSpPr>
          <p:nvPr/>
        </p:nvSpPr>
        <p:spPr bwMode="auto">
          <a:xfrm>
            <a:off x="738188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FEBC2E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FEBC2E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815776039" name=""/>
          <p:cNvSpPr>
            <a:spLocks noGrp="1"/>
          </p:cNvSpPr>
          <p:nvPr/>
        </p:nvSpPr>
        <p:spPr bwMode="auto">
          <a:xfrm>
            <a:off x="1012031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8C840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28C840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1499435136" name=""/>
          <p:cNvSpPr>
            <a:spLocks noGrp="1"/>
          </p:cNvSpPr>
          <p:nvPr/>
        </p:nvSpPr>
        <p:spPr bwMode="auto">
          <a:xfrm>
            <a:off x="1702594" y="226219"/>
            <a:ext cx="10834688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rPr>
              <a:t>safestore  ~  project presentation</a:t>
            </a:r>
            <a:endParaRPr/>
          </a:p>
        </p:txBody>
      </p:sp>
      <p:sp>
        <p:nvSpPr>
          <p:cNvPr id="738313680" name=""/>
          <p:cNvSpPr>
            <a:spLocks noGrp="1"/>
          </p:cNvSpPr>
          <p:nvPr/>
        </p:nvSpPr>
        <p:spPr bwMode="auto">
          <a:xfrm>
            <a:off x="464344" y="571500"/>
            <a:ext cx="14168438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253344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253344"/>
                </a:solidFill>
                <a:latin typeface="Maple Mono"/>
                <a:ea typeface="Maple Mono"/>
                <a:cs typeface="Maple Mono"/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  <a:endParaRPr/>
          </a:p>
        </p:txBody>
      </p:sp>
      <p:sp>
        <p:nvSpPr>
          <p:cNvPr id="89941169" name=""/>
          <p:cNvSpPr>
            <a:spLocks noGrp="1"/>
          </p:cNvSpPr>
          <p:nvPr/>
        </p:nvSpPr>
        <p:spPr bwMode="auto">
          <a:xfrm>
            <a:off x="904875" y="869156"/>
            <a:ext cx="13215938" cy="105965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315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$ History and interactive restore</a:t>
            </a:r>
            <a:endParaRPr/>
          </a:p>
        </p:txBody>
      </p:sp>
      <p:sp>
        <p:nvSpPr>
          <p:cNvPr id="1958963403" name=""/>
          <p:cNvSpPr>
            <a:spLocks noGrp="1"/>
          </p:cNvSpPr>
          <p:nvPr/>
        </p:nvSpPr>
        <p:spPr bwMode="auto">
          <a:xfrm>
            <a:off x="12680156" y="7953375"/>
            <a:ext cx="2024063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rPr>
              <a:t>[ 06 / 09 ]</a:t>
            </a:r>
            <a:endParaRPr/>
          </a:p>
        </p:txBody>
      </p:sp>
      <p:sp>
        <p:nvSpPr>
          <p:cNvPr id="1213778611" name=""/>
          <p:cNvSpPr>
            <a:spLocks noGrp="1"/>
          </p:cNvSpPr>
          <p:nvPr/>
        </p:nvSpPr>
        <p:spPr bwMode="auto">
          <a:xfrm>
            <a:off x="500063" y="7953375"/>
            <a:ext cx="1178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59D5F5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59D5F5"/>
                </a:solidFill>
                <a:latin typeface="Maple Mono"/>
                <a:ea typeface="Maple Mono"/>
                <a:cs typeface="Maple Mono"/>
              </a:rPr>
              <a:t>safestore@local:~$</a:t>
            </a:r>
            <a:endParaRPr/>
          </a:p>
        </p:txBody>
      </p:sp>
      <p:sp>
        <p:nvSpPr>
          <p:cNvPr id="1490361369" name=""/>
          <p:cNvSpPr>
            <a:spLocks noGrp="1"/>
          </p:cNvSpPr>
          <p:nvPr/>
        </p:nvSpPr>
        <p:spPr bwMode="auto">
          <a:xfrm>
            <a:off x="976313" y="2071688"/>
            <a:ext cx="6191250" cy="5119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Backup history</a:t>
            </a:r>
            <a:endParaRPr/>
          </a:p>
        </p:txBody>
      </p:sp>
      <p:sp>
        <p:nvSpPr>
          <p:cNvPr id="27921605" name=""/>
          <p:cNvSpPr>
            <a:spLocks noGrp="1"/>
          </p:cNvSpPr>
          <p:nvPr/>
        </p:nvSpPr>
        <p:spPr bwMode="auto">
          <a:xfrm>
            <a:off x="976313" y="2655094"/>
            <a:ext cx="6191250" cy="476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--list reads file.csv and groups entries by original absolute path.</a:t>
            </a:r>
            <a:endParaRPr/>
          </a:p>
          <a:p>
            <a:pPr>
              <a:defRPr/>
            </a:pP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Every entry displays the timestamp and path identifier. If the history file cannot be opened, SafeStore prints “No backups yet.”</a:t>
            </a:r>
            <a:endParaRPr/>
          </a:p>
          <a:p>
            <a:pPr>
              <a:defRPr/>
            </a:pP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Copy the recorded absolute path when preparing to restore.</a:t>
            </a:r>
            <a:endParaRPr/>
          </a:p>
        </p:txBody>
      </p:sp>
      <p:sp>
        <p:nvSpPr>
          <p:cNvPr id="511128306" name=""/>
          <p:cNvSpPr>
            <a:spLocks noGrp="1"/>
          </p:cNvSpPr>
          <p:nvPr/>
        </p:nvSpPr>
        <p:spPr bwMode="auto">
          <a:xfrm>
            <a:off x="7929563" y="2071688"/>
            <a:ext cx="6191250" cy="5119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Snapshot recovery</a:t>
            </a:r>
            <a:endParaRPr/>
          </a:p>
        </p:txBody>
      </p:sp>
      <p:sp>
        <p:nvSpPr>
          <p:cNvPr id="1318068752" name=""/>
          <p:cNvSpPr>
            <a:spLocks noGrp="1"/>
          </p:cNvSpPr>
          <p:nvPr/>
        </p:nvSpPr>
        <p:spPr bwMode="auto">
          <a:xfrm>
            <a:off x="7929563" y="2655094"/>
            <a:ext cx="6191250" cy="476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Restore discovers timestamp directories directly. fzf shows newer backups first.</a:t>
            </a:r>
            <a:endParaRPr/>
          </a:p>
          <a:p>
            <a:pPr>
              <a:defRPr/>
            </a:pP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Select a timestamp and press Enter. Cancel to leave the target untouched.</a:t>
            </a:r>
            <a:endParaRPr/>
          </a:p>
          <a:p>
            <a:pPr>
              <a:defRPr/>
            </a:pP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SafeStore detects the format by filename, then copies or extracts to the original location, replacing the target. Deleted sources can be recovered using the exact original path.</a:t>
            </a:r>
            <a:endParaRPr/>
          </a:p>
        </p:txBody>
      </p:sp>
      <p:sp>
        <p:nvSpPr>
          <p:cNvPr id="1119975402" name=""/>
          <p:cNvSpPr>
            <a:spLocks noGrp="1"/>
          </p:cNvSpPr>
          <p:nvPr/>
        </p:nvSpPr>
        <p:spPr bwMode="auto">
          <a:xfrm>
            <a:off x="976313" y="7096125"/>
            <a:ext cx="12739688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59D5F5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59D5F5"/>
                </a:solidFill>
                <a:latin typeface="Maple Mono"/>
                <a:ea typeface="Maple Mono"/>
                <a:cs typeface="Maple Mono"/>
              </a:rPr>
              <a:t>Encrypted recovery decrypts the selected archive before extraction.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C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6899422" name=""/>
          <p:cNvSpPr>
            <a:spLocks noGrp="1"/>
          </p:cNvSpPr>
          <p:nvPr/>
        </p:nvSpPr>
        <p:spPr bwMode="auto">
          <a:xfrm>
            <a:off x="464344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FF5F57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FF5F57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1953527232" name=""/>
          <p:cNvSpPr>
            <a:spLocks noGrp="1"/>
          </p:cNvSpPr>
          <p:nvPr/>
        </p:nvSpPr>
        <p:spPr bwMode="auto">
          <a:xfrm>
            <a:off x="738188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FEBC2E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FEBC2E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2017211725" name=""/>
          <p:cNvSpPr>
            <a:spLocks noGrp="1"/>
          </p:cNvSpPr>
          <p:nvPr/>
        </p:nvSpPr>
        <p:spPr bwMode="auto">
          <a:xfrm>
            <a:off x="1012031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8C840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28C840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646950209" name=""/>
          <p:cNvSpPr>
            <a:spLocks noGrp="1"/>
          </p:cNvSpPr>
          <p:nvPr/>
        </p:nvSpPr>
        <p:spPr bwMode="auto">
          <a:xfrm>
            <a:off x="1702594" y="226219"/>
            <a:ext cx="10834688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rPr>
              <a:t>safestore  ~  project presentation</a:t>
            </a:r>
            <a:endParaRPr/>
          </a:p>
        </p:txBody>
      </p:sp>
      <p:sp>
        <p:nvSpPr>
          <p:cNvPr id="1889340225" name=""/>
          <p:cNvSpPr>
            <a:spLocks noGrp="1"/>
          </p:cNvSpPr>
          <p:nvPr/>
        </p:nvSpPr>
        <p:spPr bwMode="auto">
          <a:xfrm>
            <a:off x="464344" y="571500"/>
            <a:ext cx="14168438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253344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253344"/>
                </a:solidFill>
                <a:latin typeface="Maple Mono"/>
                <a:ea typeface="Maple Mono"/>
                <a:cs typeface="Maple Mono"/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  <a:endParaRPr/>
          </a:p>
        </p:txBody>
      </p:sp>
      <p:sp>
        <p:nvSpPr>
          <p:cNvPr id="2014075042" name=""/>
          <p:cNvSpPr>
            <a:spLocks noGrp="1"/>
          </p:cNvSpPr>
          <p:nvPr/>
        </p:nvSpPr>
        <p:spPr bwMode="auto">
          <a:xfrm>
            <a:off x="904875" y="869156"/>
            <a:ext cx="13215938" cy="105965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315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$ Build and runtime requirements</a:t>
            </a:r>
            <a:endParaRPr/>
          </a:p>
        </p:txBody>
      </p:sp>
      <p:sp>
        <p:nvSpPr>
          <p:cNvPr id="1735799753" name=""/>
          <p:cNvSpPr>
            <a:spLocks noGrp="1"/>
          </p:cNvSpPr>
          <p:nvPr/>
        </p:nvSpPr>
        <p:spPr bwMode="auto">
          <a:xfrm>
            <a:off x="12680156" y="7953375"/>
            <a:ext cx="2024063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rPr>
              <a:t>[ 07 / 09 ]</a:t>
            </a:r>
            <a:endParaRPr/>
          </a:p>
        </p:txBody>
      </p:sp>
      <p:sp>
        <p:nvSpPr>
          <p:cNvPr id="761215045" name=""/>
          <p:cNvSpPr>
            <a:spLocks noGrp="1"/>
          </p:cNvSpPr>
          <p:nvPr/>
        </p:nvSpPr>
        <p:spPr bwMode="auto">
          <a:xfrm>
            <a:off x="500063" y="7953375"/>
            <a:ext cx="1178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59D5F5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59D5F5"/>
                </a:solidFill>
                <a:latin typeface="Maple Mono"/>
                <a:ea typeface="Maple Mono"/>
                <a:cs typeface="Maple Mono"/>
              </a:rPr>
              <a:t>safestore@local:~$</a:t>
            </a:r>
            <a:endParaRPr/>
          </a:p>
        </p:txBody>
      </p:sp>
      <p:sp>
        <p:nvSpPr>
          <p:cNvPr id="2006908850" name=""/>
          <p:cNvSpPr>
            <a:spLocks noGrp="1"/>
          </p:cNvSpPr>
          <p:nvPr/>
        </p:nvSpPr>
        <p:spPr bwMode="auto">
          <a:xfrm>
            <a:off x="976313" y="2071688"/>
            <a:ext cx="6191250" cy="5119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Build and execution</a:t>
            </a:r>
            <a:endParaRPr/>
          </a:p>
        </p:txBody>
      </p:sp>
      <p:sp>
        <p:nvSpPr>
          <p:cNvPr id="1165248679" name=""/>
          <p:cNvSpPr>
            <a:spLocks noGrp="1"/>
          </p:cNvSpPr>
          <p:nvPr/>
        </p:nvSpPr>
        <p:spPr bwMode="auto">
          <a:xfrm>
            <a:off x="976313" y="2655094"/>
            <a:ext cx="6191250" cy="476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Use Linux or a compatible Unix environment with a C compiler and Make.</a:t>
            </a:r>
            <a:endParaRPr/>
          </a:p>
          <a:p>
            <a:pPr>
              <a:defRPr/>
            </a:pP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make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./safestore --list</a:t>
            </a:r>
            <a:endParaRPr/>
          </a:p>
          <a:p>
            <a:pPr>
              <a:defRPr/>
            </a:pP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The Makefile compiles eight C files with cc -Wall -Wextra -O2 and produces ./safestore.</a:t>
            </a:r>
            <a:endParaRPr/>
          </a:p>
        </p:txBody>
      </p:sp>
      <p:sp>
        <p:nvSpPr>
          <p:cNvPr id="1609669533" name=""/>
          <p:cNvSpPr>
            <a:spLocks noGrp="1"/>
          </p:cNvSpPr>
          <p:nvPr/>
        </p:nvSpPr>
        <p:spPr bwMode="auto">
          <a:xfrm>
            <a:off x="7929563" y="2071688"/>
            <a:ext cx="6191250" cy="5119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Runtime tools</a:t>
            </a:r>
            <a:endParaRPr/>
          </a:p>
        </p:txBody>
      </p:sp>
      <p:sp>
        <p:nvSpPr>
          <p:cNvPr id="1097836713" name=""/>
          <p:cNvSpPr>
            <a:spLocks noGrp="1"/>
          </p:cNvSpPr>
          <p:nvPr/>
        </p:nvSpPr>
        <p:spPr bwMode="auto">
          <a:xfrm>
            <a:off x="7929563" y="2655094"/>
            <a:ext cx="6191250" cy="476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Basic backup: date, sha1sum, cp, mv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Restore: fzf, rm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Archives: tar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Compression: lz4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Encryption: openssl with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  enc -aes-256-cbc -pbkdf2</a:t>
            </a:r>
            <a:endParaRPr/>
          </a:p>
          <a:p>
            <a:pPr>
              <a:defRPr/>
            </a:pP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Utilities must be on PATH. HOME locates the backup store.</a:t>
            </a:r>
            <a:endParaRPr/>
          </a:p>
        </p:txBody>
      </p:sp>
      <p:sp>
        <p:nvSpPr>
          <p:cNvPr id="1688901167" name=""/>
          <p:cNvSpPr>
            <a:spLocks noGrp="1"/>
          </p:cNvSpPr>
          <p:nvPr/>
        </p:nvSpPr>
        <p:spPr bwMode="auto">
          <a:xfrm>
            <a:off x="976313" y="6060281"/>
            <a:ext cx="6191250" cy="5119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Clean and rebuild</a:t>
            </a:r>
            <a:endParaRPr/>
          </a:p>
        </p:txBody>
      </p:sp>
      <p:sp>
        <p:nvSpPr>
          <p:cNvPr id="1692399470" name=""/>
          <p:cNvSpPr>
            <a:spLocks noGrp="1"/>
          </p:cNvSpPr>
          <p:nvPr/>
        </p:nvSpPr>
        <p:spPr bwMode="auto">
          <a:xfrm>
            <a:off x="976313" y="6643688"/>
            <a:ext cx="6191250" cy="976313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make clean removes the executable and object files. Run make again to rebuild.</a:t>
            </a:r>
            <a:endParaRPr/>
          </a:p>
        </p:txBody>
      </p:sp>
      <p:sp>
        <p:nvSpPr>
          <p:cNvPr id="926866346" name=""/>
          <p:cNvSpPr>
            <a:spLocks noGrp="1"/>
          </p:cNvSpPr>
          <p:nvPr/>
        </p:nvSpPr>
        <p:spPr bwMode="auto">
          <a:xfrm>
            <a:off x="7929563" y="6060281"/>
            <a:ext cx="6191250" cy="5119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Operating environment</a:t>
            </a:r>
            <a:endParaRPr/>
          </a:p>
        </p:txBody>
      </p:sp>
      <p:sp>
        <p:nvSpPr>
          <p:cNvPr id="584010606" name=""/>
          <p:cNvSpPr>
            <a:spLocks noGrp="1"/>
          </p:cNvSpPr>
          <p:nvPr/>
        </p:nvSpPr>
        <p:spPr bwMode="auto">
          <a:xfrm>
            <a:off x="7929563" y="6643688"/>
            <a:ext cx="6191250" cy="976313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POSIX APIs and GNU-style tools. Allow space for snapshots and /tmp archives.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C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7898834" name=""/>
          <p:cNvSpPr>
            <a:spLocks noGrp="1"/>
          </p:cNvSpPr>
          <p:nvPr/>
        </p:nvSpPr>
        <p:spPr bwMode="auto">
          <a:xfrm>
            <a:off x="464344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FF5F57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FF5F57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1480474819" name=""/>
          <p:cNvSpPr>
            <a:spLocks noGrp="1"/>
          </p:cNvSpPr>
          <p:nvPr/>
        </p:nvSpPr>
        <p:spPr bwMode="auto">
          <a:xfrm>
            <a:off x="738188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FEBC2E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FEBC2E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28691079" name=""/>
          <p:cNvSpPr>
            <a:spLocks noGrp="1"/>
          </p:cNvSpPr>
          <p:nvPr/>
        </p:nvSpPr>
        <p:spPr bwMode="auto">
          <a:xfrm>
            <a:off x="1012031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8C840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28C840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713736237" name=""/>
          <p:cNvSpPr>
            <a:spLocks noGrp="1"/>
          </p:cNvSpPr>
          <p:nvPr/>
        </p:nvSpPr>
        <p:spPr bwMode="auto">
          <a:xfrm>
            <a:off x="1702594" y="226219"/>
            <a:ext cx="10834688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rPr>
              <a:t>safestore  ~  project presentation</a:t>
            </a:r>
            <a:endParaRPr/>
          </a:p>
        </p:txBody>
      </p:sp>
      <p:sp>
        <p:nvSpPr>
          <p:cNvPr id="102611701" name=""/>
          <p:cNvSpPr>
            <a:spLocks noGrp="1"/>
          </p:cNvSpPr>
          <p:nvPr/>
        </p:nvSpPr>
        <p:spPr bwMode="auto">
          <a:xfrm>
            <a:off x="464344" y="571500"/>
            <a:ext cx="14168438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253344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253344"/>
                </a:solidFill>
                <a:latin typeface="Maple Mono"/>
                <a:ea typeface="Maple Mono"/>
                <a:cs typeface="Maple Mono"/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  <a:endParaRPr/>
          </a:p>
        </p:txBody>
      </p:sp>
      <p:sp>
        <p:nvSpPr>
          <p:cNvPr id="1304923206" name=""/>
          <p:cNvSpPr>
            <a:spLocks noGrp="1"/>
          </p:cNvSpPr>
          <p:nvPr/>
        </p:nvSpPr>
        <p:spPr bwMode="auto">
          <a:xfrm>
            <a:off x="904875" y="869156"/>
            <a:ext cx="13215938" cy="105965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315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$ Source architecture</a:t>
            </a:r>
            <a:endParaRPr/>
          </a:p>
        </p:txBody>
      </p:sp>
      <p:sp>
        <p:nvSpPr>
          <p:cNvPr id="1112561197" name=""/>
          <p:cNvSpPr>
            <a:spLocks noGrp="1"/>
          </p:cNvSpPr>
          <p:nvPr/>
        </p:nvSpPr>
        <p:spPr bwMode="auto">
          <a:xfrm>
            <a:off x="12680156" y="7953375"/>
            <a:ext cx="2024063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rPr>
              <a:t>[ 08 / 09 ]</a:t>
            </a:r>
            <a:endParaRPr/>
          </a:p>
        </p:txBody>
      </p:sp>
      <p:sp>
        <p:nvSpPr>
          <p:cNvPr id="2004313676" name=""/>
          <p:cNvSpPr>
            <a:spLocks noGrp="1"/>
          </p:cNvSpPr>
          <p:nvPr/>
        </p:nvSpPr>
        <p:spPr bwMode="auto">
          <a:xfrm>
            <a:off x="500063" y="7953375"/>
            <a:ext cx="1178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59D5F5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59D5F5"/>
                </a:solidFill>
                <a:latin typeface="Maple Mono"/>
                <a:ea typeface="Maple Mono"/>
                <a:cs typeface="Maple Mono"/>
              </a:rPr>
              <a:t>safestore@local:~$</a:t>
            </a:r>
            <a:endParaRPr/>
          </a:p>
        </p:txBody>
      </p:sp>
      <p:sp>
        <p:nvSpPr>
          <p:cNvPr id="1944040878" name=""/>
          <p:cNvSpPr>
            <a:spLocks noGrp="1"/>
          </p:cNvSpPr>
          <p:nvPr/>
        </p:nvSpPr>
        <p:spPr bwMode="auto">
          <a:xfrm>
            <a:off x="976313" y="2083593"/>
            <a:ext cx="6191250" cy="44053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main.c</a:t>
            </a:r>
            <a:endParaRPr/>
          </a:p>
        </p:txBody>
      </p:sp>
      <p:sp>
        <p:nvSpPr>
          <p:cNvPr id="305111649" name=""/>
          <p:cNvSpPr>
            <a:spLocks noGrp="1"/>
          </p:cNvSpPr>
          <p:nvPr/>
        </p:nvSpPr>
        <p:spPr bwMode="auto">
          <a:xfrm>
            <a:off x="976313" y="2547938"/>
            <a:ext cx="6191250" cy="77390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Parses backup, list and restore arguments.</a:t>
            </a:r>
            <a:endParaRPr/>
          </a:p>
        </p:txBody>
      </p:sp>
      <p:sp>
        <p:nvSpPr>
          <p:cNvPr id="820856884" name=""/>
          <p:cNvSpPr>
            <a:spLocks noGrp="1"/>
          </p:cNvSpPr>
          <p:nvPr/>
        </p:nvSpPr>
        <p:spPr bwMode="auto">
          <a:xfrm>
            <a:off x="976313" y="3214688"/>
            <a:ext cx="6191250" cy="44053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backup.c</a:t>
            </a:r>
            <a:endParaRPr/>
          </a:p>
        </p:txBody>
      </p:sp>
      <p:sp>
        <p:nvSpPr>
          <p:cNvPr id="130081090" name=""/>
          <p:cNvSpPr>
            <a:spLocks noGrp="1"/>
          </p:cNvSpPr>
          <p:nvPr/>
        </p:nvSpPr>
        <p:spPr bwMode="auto">
          <a:xfrm>
            <a:off x="976313" y="3679031"/>
            <a:ext cx="6191250" cy="77390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Resolves paths, saves snapshots and logs CSV records.</a:t>
            </a:r>
            <a:endParaRPr/>
          </a:p>
        </p:txBody>
      </p:sp>
      <p:sp>
        <p:nvSpPr>
          <p:cNvPr id="2104193062" name=""/>
          <p:cNvSpPr>
            <a:spLocks noGrp="1"/>
          </p:cNvSpPr>
          <p:nvPr/>
        </p:nvSpPr>
        <p:spPr bwMode="auto">
          <a:xfrm>
            <a:off x="976313" y="4345781"/>
            <a:ext cx="6191250" cy="44053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list.c</a:t>
            </a:r>
            <a:endParaRPr/>
          </a:p>
        </p:txBody>
      </p:sp>
      <p:sp>
        <p:nvSpPr>
          <p:cNvPr id="1902219549" name=""/>
          <p:cNvSpPr>
            <a:spLocks noGrp="1"/>
          </p:cNvSpPr>
          <p:nvPr/>
        </p:nvSpPr>
        <p:spPr bwMode="auto">
          <a:xfrm>
            <a:off x="976313" y="4810125"/>
            <a:ext cx="6191250" cy="77390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Reads CSV records and groups history by path.</a:t>
            </a:r>
            <a:endParaRPr/>
          </a:p>
        </p:txBody>
      </p:sp>
      <p:sp>
        <p:nvSpPr>
          <p:cNvPr id="1259567640" name=""/>
          <p:cNvSpPr>
            <a:spLocks noGrp="1"/>
          </p:cNvSpPr>
          <p:nvPr/>
        </p:nvSpPr>
        <p:spPr bwMode="auto">
          <a:xfrm>
            <a:off x="976313" y="5476875"/>
            <a:ext cx="6191250" cy="44053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restore.c</a:t>
            </a:r>
            <a:endParaRPr/>
          </a:p>
        </p:txBody>
      </p:sp>
      <p:sp>
        <p:nvSpPr>
          <p:cNvPr id="1035411868" name=""/>
          <p:cNvSpPr>
            <a:spLocks noGrp="1"/>
          </p:cNvSpPr>
          <p:nvPr/>
        </p:nvSpPr>
        <p:spPr bwMode="auto">
          <a:xfrm>
            <a:off x="976313" y="5941219"/>
            <a:ext cx="6191250" cy="77390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Finds versions, invokes fzf and recovers data.</a:t>
            </a:r>
            <a:endParaRPr/>
          </a:p>
        </p:txBody>
      </p:sp>
      <p:sp>
        <p:nvSpPr>
          <p:cNvPr id="757306596" name=""/>
          <p:cNvSpPr>
            <a:spLocks noGrp="1"/>
          </p:cNvSpPr>
          <p:nvPr/>
        </p:nvSpPr>
        <p:spPr bwMode="auto">
          <a:xfrm>
            <a:off x="7929563" y="2083593"/>
            <a:ext cx="6191250" cy="44053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hash.c</a:t>
            </a:r>
            <a:endParaRPr/>
          </a:p>
        </p:txBody>
      </p:sp>
      <p:sp>
        <p:nvSpPr>
          <p:cNvPr id="1719826636" name=""/>
          <p:cNvSpPr>
            <a:spLocks noGrp="1"/>
          </p:cNvSpPr>
          <p:nvPr/>
        </p:nvSpPr>
        <p:spPr bwMode="auto">
          <a:xfrm>
            <a:off x="7929563" y="2547938"/>
            <a:ext cx="6191250" cy="77390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Invokes sha1sum for absolute source paths.</a:t>
            </a:r>
            <a:endParaRPr/>
          </a:p>
        </p:txBody>
      </p:sp>
      <p:sp>
        <p:nvSpPr>
          <p:cNvPr id="1502208157" name=""/>
          <p:cNvSpPr>
            <a:spLocks noGrp="1"/>
          </p:cNvSpPr>
          <p:nvPr/>
        </p:nvSpPr>
        <p:spPr bwMode="auto">
          <a:xfrm>
            <a:off x="7929563" y="3214688"/>
            <a:ext cx="6191250" cy="44053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fsutil.c</a:t>
            </a:r>
            <a:endParaRPr/>
          </a:p>
        </p:txBody>
      </p:sp>
      <p:sp>
        <p:nvSpPr>
          <p:cNvPr id="1183101213" name=""/>
          <p:cNvSpPr>
            <a:spLocks noGrp="1"/>
          </p:cNvSpPr>
          <p:nvPr/>
        </p:nvSpPr>
        <p:spPr bwMode="auto">
          <a:xfrm>
            <a:off x="7929563" y="3679031"/>
            <a:ext cx="6191250" cy="77390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Creates directories and recursively copies data.</a:t>
            </a:r>
            <a:endParaRPr/>
          </a:p>
        </p:txBody>
      </p:sp>
      <p:sp>
        <p:nvSpPr>
          <p:cNvPr id="1852135781" name=""/>
          <p:cNvSpPr>
            <a:spLocks noGrp="1"/>
          </p:cNvSpPr>
          <p:nvPr/>
        </p:nvSpPr>
        <p:spPr bwMode="auto">
          <a:xfrm>
            <a:off x="7929563" y="4345781"/>
            <a:ext cx="6191250" cy="44053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compress.c</a:t>
            </a:r>
            <a:endParaRPr/>
          </a:p>
        </p:txBody>
      </p:sp>
      <p:sp>
        <p:nvSpPr>
          <p:cNvPr id="1646245767" name=""/>
          <p:cNvSpPr>
            <a:spLocks noGrp="1"/>
          </p:cNvSpPr>
          <p:nvPr/>
        </p:nvSpPr>
        <p:spPr bwMode="auto">
          <a:xfrm>
            <a:off x="7929563" y="4810125"/>
            <a:ext cx="6191250" cy="77390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Creates and extracts tar archives with optional LZ4.</a:t>
            </a:r>
            <a:endParaRPr/>
          </a:p>
        </p:txBody>
      </p:sp>
      <p:sp>
        <p:nvSpPr>
          <p:cNvPr id="703192850" name=""/>
          <p:cNvSpPr>
            <a:spLocks noGrp="1"/>
          </p:cNvSpPr>
          <p:nvPr/>
        </p:nvSpPr>
        <p:spPr bwMode="auto">
          <a:xfrm>
            <a:off x="7929563" y="5476875"/>
            <a:ext cx="6191250" cy="440531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encrypt.c</a:t>
            </a:r>
            <a:endParaRPr/>
          </a:p>
        </p:txBody>
      </p:sp>
      <p:sp>
        <p:nvSpPr>
          <p:cNvPr id="1561080087" name=""/>
          <p:cNvSpPr>
            <a:spLocks noGrp="1"/>
          </p:cNvSpPr>
          <p:nvPr/>
        </p:nvSpPr>
        <p:spPr bwMode="auto">
          <a:xfrm>
            <a:off x="7929563" y="5941219"/>
            <a:ext cx="6191250" cy="77390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Reads passwords and invokes OpenSSL.</a:t>
            </a:r>
            <a:endParaRPr/>
          </a:p>
        </p:txBody>
      </p:sp>
      <p:sp>
        <p:nvSpPr>
          <p:cNvPr id="515386223" name=""/>
          <p:cNvSpPr>
            <a:spLocks noGrp="1"/>
          </p:cNvSpPr>
          <p:nvPr/>
        </p:nvSpPr>
        <p:spPr bwMode="auto">
          <a:xfrm>
            <a:off x="976313" y="6905625"/>
            <a:ext cx="1285875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59D5F5"/>
                </a:solidFill>
                <a:latin typeface="Maple Mono"/>
                <a:ea typeface="Maple Mono"/>
                <a:cs typeface="Maple Mono"/>
              </a:defRPr>
            </a:pPr>
            <a:r>
              <a:rPr sz="1800" b="0">
                <a:solidFill>
                  <a:srgbClr val="59D5F5"/>
                </a:solidFill>
                <a:latin typeface="Maple Mono"/>
                <a:ea typeface="Maple Mono"/>
                <a:cs typeface="Maple Mono"/>
              </a:rPr>
              <a:t>common.h shares includes and the store suffix. Module headers declare interfaces.</a:t>
            </a:r>
            <a:endParaRPr/>
          </a:p>
        </p:txBody>
      </p:sp>
      <p:sp>
        <p:nvSpPr>
          <p:cNvPr id="1945145550" name=""/>
          <p:cNvSpPr>
            <a:spLocks noGrp="1"/>
          </p:cNvSpPr>
          <p:nvPr/>
        </p:nvSpPr>
        <p:spPr bwMode="auto">
          <a:xfrm>
            <a:off x="976313" y="7334250"/>
            <a:ext cx="1285875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 b="0">
                <a:solidFill>
                  <a:srgbClr val="85929F"/>
                </a:solidFill>
                <a:latin typeface="Maple Mono"/>
                <a:ea typeface="Maple Mono"/>
                <a:cs typeface="Maple Mono"/>
              </a:defRPr>
            </a:pPr>
            <a:r>
              <a:rPr sz="1800" b="0">
                <a:solidFill>
                  <a:srgbClr val="85929F"/>
                </a:solidFill>
                <a:latin typeface="Maple Mono"/>
                <a:ea typeface="Maple Mono"/>
                <a:cs typeface="Maple Mono"/>
              </a:rPr>
              <a:t>Makefile handles build and cleanup. Presentations/ stores project decks.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C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38659" name=""/>
          <p:cNvSpPr>
            <a:spLocks noGrp="1"/>
          </p:cNvSpPr>
          <p:nvPr/>
        </p:nvSpPr>
        <p:spPr bwMode="auto">
          <a:xfrm>
            <a:off x="464344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FF5F57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FF5F57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324544853" name=""/>
          <p:cNvSpPr>
            <a:spLocks noGrp="1"/>
          </p:cNvSpPr>
          <p:nvPr/>
        </p:nvSpPr>
        <p:spPr bwMode="auto">
          <a:xfrm>
            <a:off x="738188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FEBC2E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FEBC2E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1475715387" name=""/>
          <p:cNvSpPr>
            <a:spLocks noGrp="1"/>
          </p:cNvSpPr>
          <p:nvPr/>
        </p:nvSpPr>
        <p:spPr bwMode="auto">
          <a:xfrm>
            <a:off x="1012031" y="226219"/>
            <a:ext cx="35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28C840"/>
                </a:solidFill>
                <a:latin typeface="Maple Mono"/>
                <a:ea typeface="Maple Mono"/>
                <a:cs typeface="Maple Mono"/>
              </a:defRPr>
            </a:pPr>
            <a:r>
              <a:rPr sz="1350" b="0">
                <a:solidFill>
                  <a:srgbClr val="28C840"/>
                </a:solidFill>
                <a:latin typeface="Maple Mono"/>
                <a:ea typeface="Maple Mono"/>
                <a:cs typeface="Maple Mono"/>
              </a:rPr>
              <a:t>●</a:t>
            </a:r>
            <a:endParaRPr/>
          </a:p>
        </p:txBody>
      </p:sp>
      <p:sp>
        <p:nvSpPr>
          <p:cNvPr id="1768174166" name=""/>
          <p:cNvSpPr>
            <a:spLocks noGrp="1"/>
          </p:cNvSpPr>
          <p:nvPr/>
        </p:nvSpPr>
        <p:spPr bwMode="auto">
          <a:xfrm>
            <a:off x="1702594" y="226219"/>
            <a:ext cx="10834688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rPr>
              <a:t>safestore  ~  project presentation</a:t>
            </a:r>
            <a:endParaRPr/>
          </a:p>
        </p:txBody>
      </p:sp>
      <p:sp>
        <p:nvSpPr>
          <p:cNvPr id="1154126695" name=""/>
          <p:cNvSpPr>
            <a:spLocks noGrp="1"/>
          </p:cNvSpPr>
          <p:nvPr/>
        </p:nvSpPr>
        <p:spPr bwMode="auto">
          <a:xfrm>
            <a:off x="464344" y="571500"/>
            <a:ext cx="14168438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253344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253344"/>
                </a:solidFill>
                <a:latin typeface="Maple Mono"/>
                <a:ea typeface="Maple Mono"/>
                <a:cs typeface="Maple Mono"/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  <a:endParaRPr/>
          </a:p>
        </p:txBody>
      </p:sp>
      <p:sp>
        <p:nvSpPr>
          <p:cNvPr id="916302114" name=""/>
          <p:cNvSpPr>
            <a:spLocks noGrp="1"/>
          </p:cNvSpPr>
          <p:nvPr/>
        </p:nvSpPr>
        <p:spPr bwMode="auto">
          <a:xfrm>
            <a:off x="904875" y="869156"/>
            <a:ext cx="13215938" cy="1059656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15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315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$ Verification and useful diagnostics</a:t>
            </a:r>
            <a:endParaRPr/>
          </a:p>
        </p:txBody>
      </p:sp>
      <p:sp>
        <p:nvSpPr>
          <p:cNvPr id="938772350" name=""/>
          <p:cNvSpPr>
            <a:spLocks noGrp="1"/>
          </p:cNvSpPr>
          <p:nvPr/>
        </p:nvSpPr>
        <p:spPr bwMode="auto">
          <a:xfrm>
            <a:off x="12680156" y="7953375"/>
            <a:ext cx="2024063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85929F"/>
                </a:solidFill>
                <a:latin typeface="Maple Mono"/>
                <a:ea typeface="Maple Mono"/>
                <a:cs typeface="Maple Mono"/>
              </a:rPr>
              <a:t>[ 09 / 09 ]</a:t>
            </a:r>
            <a:endParaRPr/>
          </a:p>
        </p:txBody>
      </p:sp>
      <p:sp>
        <p:nvSpPr>
          <p:cNvPr id="436204588" name=""/>
          <p:cNvSpPr>
            <a:spLocks noGrp="1"/>
          </p:cNvSpPr>
          <p:nvPr/>
        </p:nvSpPr>
        <p:spPr bwMode="auto">
          <a:xfrm>
            <a:off x="500063" y="7953375"/>
            <a:ext cx="11787188" cy="3571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400" b="0">
                <a:solidFill>
                  <a:srgbClr val="59D5F5"/>
                </a:solidFill>
                <a:latin typeface="Maple Mono"/>
                <a:ea typeface="Maple Mono"/>
                <a:cs typeface="Maple Mono"/>
              </a:defRPr>
            </a:pPr>
            <a:r>
              <a:rPr sz="1400" b="0">
                <a:solidFill>
                  <a:srgbClr val="59D5F5"/>
                </a:solidFill>
                <a:latin typeface="Maple Mono"/>
                <a:ea typeface="Maple Mono"/>
                <a:cs typeface="Maple Mono"/>
              </a:rPr>
              <a:t>safestore@local:~$</a:t>
            </a:r>
            <a:endParaRPr/>
          </a:p>
        </p:txBody>
      </p:sp>
      <p:sp>
        <p:nvSpPr>
          <p:cNvPr id="1693220547" name=""/>
          <p:cNvSpPr>
            <a:spLocks noGrp="1"/>
          </p:cNvSpPr>
          <p:nvPr/>
        </p:nvSpPr>
        <p:spPr bwMode="auto">
          <a:xfrm>
            <a:off x="976313" y="2071688"/>
            <a:ext cx="6191250" cy="5119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Verification workflow</a:t>
            </a:r>
            <a:endParaRPr/>
          </a:p>
        </p:txBody>
      </p:sp>
      <p:sp>
        <p:nvSpPr>
          <p:cNvPr id="491086648" name=""/>
          <p:cNvSpPr>
            <a:spLocks noGrp="1"/>
          </p:cNvSpPr>
          <p:nvPr/>
        </p:nvSpPr>
        <p:spPr bwMode="auto">
          <a:xfrm>
            <a:off x="976313" y="2655094"/>
            <a:ext cx="6191250" cy="476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Use disposable files to exercise each mode.</a:t>
            </a:r>
            <a:endParaRPr/>
          </a:p>
          <a:p>
            <a:pPr>
              <a:defRPr/>
            </a:pP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1. Back up a small file and inspect its stored copy and history.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2. Change the original file.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3. Restore the selected snapshot.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4. Compare the recovered contents.</a:t>
            </a:r>
            <a:endParaRPr/>
          </a:p>
          <a:p>
            <a:pPr>
              <a:def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5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5. Repeat for directories, compression and encryption.</a:t>
            </a:r>
            <a:endParaRPr/>
          </a:p>
        </p:txBody>
      </p:sp>
      <p:sp>
        <p:nvSpPr>
          <p:cNvPr id="947565636" name=""/>
          <p:cNvSpPr>
            <a:spLocks noGrp="1"/>
          </p:cNvSpPr>
          <p:nvPr/>
        </p:nvSpPr>
        <p:spPr bwMode="auto">
          <a:xfrm>
            <a:off x="7929563" y="2071688"/>
            <a:ext cx="6191250" cy="511969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defRPr>
            </a:pPr>
            <a:r>
              <a:rPr sz="2200" b="1">
                <a:solidFill>
                  <a:srgbClr val="A3E635"/>
                </a:solidFill>
                <a:latin typeface="Maple Mono"/>
                <a:ea typeface="Maple Mono"/>
                <a:cs typeface="Maple Mono"/>
              </a:rPr>
              <a:t>Diagnostic messages</a:t>
            </a:r>
            <a:endParaRPr/>
          </a:p>
        </p:txBody>
      </p:sp>
      <p:sp>
        <p:nvSpPr>
          <p:cNvPr id="157317921" name=""/>
          <p:cNvSpPr>
            <a:spLocks noGrp="1"/>
          </p:cNvSpPr>
          <p:nvPr/>
        </p:nvSpPr>
        <p:spPr bwMode="auto">
          <a:xfrm>
            <a:off x="7929563" y="2655094"/>
            <a:ext cx="6191250" cy="476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“Couldn’t find”</a:t>
            </a:r>
            <a:endParaRPr/>
          </a:p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The backup source could not be resolved.</a:t>
            </a:r>
            <a:endParaRPr/>
          </a:p>
          <a:p>
            <a:pPr>
              <a:defRPr/>
            </a:pPr>
            <a:endParaRPr/>
          </a:p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“No backups found”</a:t>
            </a:r>
            <a:endParaRPr/>
          </a:p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Check the original path in --list and the HOME value used for the store.</a:t>
            </a:r>
            <a:endParaRPr/>
          </a:p>
          <a:p>
            <a:pPr>
              <a:defRPr/>
            </a:pPr>
            <a:endParaRPr/>
          </a:p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“Restore cancelled.”</a:t>
            </a:r>
            <a:endParaRPr/>
          </a:p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No timestamp was selected.</a:t>
            </a:r>
            <a:endParaRPr/>
          </a:p>
          <a:p>
            <a:pPr>
              <a:defRPr/>
            </a:pPr>
            <a:endParaRPr/>
          </a:p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“Decryption failed”</a:t>
            </a:r>
            <a:endParaRPr/>
          </a:p>
          <a:p>
            <a:pPr>
              <a:def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D7E0E8"/>
                </a:solidFill>
                <a:latin typeface="Maple Mono"/>
                <a:ea typeface="Maple Mono"/>
                <a:cs typeface="Maple Mono"/>
              </a:rPr>
              <a:t>Check the password and archive.</a:t>
            </a:r>
            <a:endParaRPr/>
          </a:p>
        </p:txBody>
      </p:sp>
      <p:sp>
        <p:nvSpPr>
          <p:cNvPr id="1284535959" name=""/>
          <p:cNvSpPr>
            <a:spLocks noGrp="1"/>
          </p:cNvSpPr>
          <p:nvPr/>
        </p:nvSpPr>
        <p:spPr bwMode="auto">
          <a:xfrm>
            <a:off x="976313" y="7131844"/>
            <a:ext cx="12858750" cy="46434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900" b="0">
                <a:solidFill>
                  <a:srgbClr val="59D5F5"/>
                </a:solidFill>
                <a:latin typeface="Maple Mono"/>
                <a:ea typeface="Maple Mono"/>
                <a:cs typeface="Maple Mono"/>
              </a:defRPr>
            </a:pPr>
            <a:r>
              <a:rPr sz="1900" b="0">
                <a:solidFill>
                  <a:srgbClr val="59D5F5"/>
                </a:solidFill>
                <a:latin typeface="Maple Mono"/>
                <a:ea typeface="Maple Mono"/>
                <a:cs typeface="Maple Mono"/>
              </a:rPr>
              <a:t>Check tool availability with command -v fzf or command -v lz4.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9</Slides>
  <Notes>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1</cp:revision>
  <dcterms:modified xsi:type="dcterms:W3CDTF">2026-10-07T04:04:09Z</dcterms:modified>
</cp:coreProperties>
</file>