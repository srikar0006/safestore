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9928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77414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063829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892289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570327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49330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445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241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7651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678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1207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3089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502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1401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6011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963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843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8085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89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547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9463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22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567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84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039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3450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5072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144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8574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6523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2833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820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940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3055546" name="Image 0" descr="/home/claude/safestore_ppt/assets/bg_tit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54429107" name="Image 1" descr="/home/claude/safestore_ppt/assets/glow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188720" y="914400"/>
            <a:ext cx="3291840" cy="3291840"/>
          </a:xfrm>
          <a:prstGeom prst="rect">
            <a:avLst/>
          </a:prstGeom>
        </p:spPr>
      </p:pic>
      <p:pic>
        <p:nvPicPr>
          <p:cNvPr id="912887541" name="Image 2" descr="/home/claude/safestore_ppt/assets/circle_gree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2960" y="868680"/>
            <a:ext cx="960120" cy="960120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482846910" name="Image 3" descr="/home/claude/safestore_ppt/icons/terminal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53389" y="1099109"/>
            <a:ext cx="499262" cy="499262"/>
          </a:xfrm>
          <a:prstGeom prst="rect">
            <a:avLst/>
          </a:prstGeom>
        </p:spPr>
      </p:pic>
      <p:sp>
        <p:nvSpPr>
          <p:cNvPr id="2080226631" name="Text 0"/>
          <p:cNvSpPr/>
          <p:nvPr/>
        </p:nvSpPr>
        <p:spPr bwMode="auto">
          <a:xfrm>
            <a:off x="777240" y="228600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6450" b="1">
                <a:solidFill>
                  <a:srgbClr val="E6EDF3"/>
                </a:solidFill>
                <a:latin typeface="Cambria"/>
                <a:ea typeface="Cambria"/>
                <a:cs typeface="Cambria"/>
              </a:rPr>
              <a:t>safestore</a:t>
            </a:r>
            <a:endParaRPr lang="en-US" sz="6450"/>
          </a:p>
        </p:txBody>
      </p:sp>
      <p:sp>
        <p:nvSpPr>
          <p:cNvPr id="1844879101" name="Text 1"/>
          <p:cNvSpPr/>
          <p:nvPr/>
        </p:nvSpPr>
        <p:spPr bwMode="auto">
          <a:xfrm>
            <a:off x="804672" y="32004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A minimal C backup utility for Linux</a:t>
            </a:r>
            <a:endParaRPr lang="en-US" sz="2300"/>
          </a:p>
        </p:txBody>
      </p:sp>
      <p:sp>
        <p:nvSpPr>
          <p:cNvPr id="1982454833" name="Text 2"/>
          <p:cNvSpPr/>
          <p:nvPr/>
        </p:nvSpPr>
        <p:spPr bwMode="auto">
          <a:xfrm>
            <a:off x="804672" y="3767328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 short code walkthrough and literature review of the Linux backup ecosystem — rsync, Borg, restic, Duplicity, and snapshot tools — with lessons for safestore.</a:t>
            </a:r>
            <a:endParaRPr lang="en-US" sz="1500"/>
          </a:p>
        </p:txBody>
      </p:sp>
      <p:sp>
        <p:nvSpPr>
          <p:cNvPr id="813628913" name="Shape 3"/>
          <p:cNvSpPr/>
          <p:nvPr/>
        </p:nvSpPr>
        <p:spPr bwMode="auto">
          <a:xfrm>
            <a:off x="822960" y="4800600"/>
            <a:ext cx="29260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814005450" name="Text 4"/>
          <p:cNvSpPr/>
          <p:nvPr/>
        </p:nvSpPr>
        <p:spPr bwMode="auto">
          <a:xfrm>
            <a:off x="822960" y="4983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8B949E"/>
                </a:solidFill>
              </a:rPr>
              <a:t>SOURCE   </a:t>
            </a: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safestore.c</a:t>
            </a:r>
            <a:r>
              <a:rPr lang="en-US" sz="1400" b="1">
                <a:solidFill>
                  <a:srgbClr val="8B949E"/>
                </a:solidFill>
              </a:rPr>
              <a:t>        SCOPE   </a:t>
            </a: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-b / --backup   ·   -l / --list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165033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05868275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OVERVIEW</a:t>
            </a:r>
            <a:endParaRPr lang="en-US" sz="1400"/>
          </a:p>
        </p:txBody>
      </p:sp>
      <p:sp>
        <p:nvSpPr>
          <p:cNvPr id="343631564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What safestore does</a:t>
            </a:r>
            <a:endParaRPr lang="en-US" sz="3350"/>
          </a:p>
        </p:txBody>
      </p:sp>
      <p:sp>
        <p:nvSpPr>
          <p:cNvPr id="776334019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pic>
        <p:nvPicPr>
          <p:cNvPr id="2093386695" name="Image 1" descr="/home/claude/safestore_ppt/assets/circle_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1874520"/>
            <a:ext cx="621792" cy="621792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000924330" name="Image 2" descr="/home/claude/safestore_ppt/icons/termina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97870" y="2023750"/>
            <a:ext cx="323332" cy="323332"/>
          </a:xfrm>
          <a:prstGeom prst="rect">
            <a:avLst/>
          </a:prstGeom>
        </p:spPr>
      </p:pic>
      <p:sp>
        <p:nvSpPr>
          <p:cNvPr id="497881432" name="Text 3"/>
          <p:cNvSpPr/>
          <p:nvPr/>
        </p:nvSpPr>
        <p:spPr bwMode="auto">
          <a:xfrm>
            <a:off x="1417320" y="18562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Two commands, nothing else</a:t>
            </a:r>
            <a:endParaRPr lang="en-US" sz="1700"/>
          </a:p>
        </p:txBody>
      </p:sp>
      <p:sp>
        <p:nvSpPr>
          <p:cNvPr id="1513233707" name="Text 4"/>
          <p:cNvSpPr/>
          <p:nvPr/>
        </p:nvSpPr>
        <p:spPr bwMode="auto">
          <a:xfrm>
            <a:off x="1417320" y="2203704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-b &lt;path&gt; takes a backup; -l lists every backup taken. No config file, no daemon.</a:t>
            </a:r>
            <a:endParaRPr lang="en-US" sz="1300"/>
          </a:p>
        </p:txBody>
      </p:sp>
      <p:pic>
        <p:nvPicPr>
          <p:cNvPr id="1131969435" name="Image 3" descr="/home/claude/safestore_ppt/assets/circle_green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48640" y="3172968"/>
            <a:ext cx="621792" cy="621792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907076136" name="Image 4" descr="/home/claude/safestore_ppt/icons/hard-driv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97870" y="3322198"/>
            <a:ext cx="323332" cy="323332"/>
          </a:xfrm>
          <a:prstGeom prst="rect">
            <a:avLst/>
          </a:prstGeom>
        </p:spPr>
      </p:pic>
      <p:sp>
        <p:nvSpPr>
          <p:cNvPr id="662868652" name="Text 5"/>
          <p:cNvSpPr/>
          <p:nvPr/>
        </p:nvSpPr>
        <p:spPr bwMode="auto">
          <a:xfrm>
            <a:off x="1417320" y="3154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Full, path-keyed copies</a:t>
            </a:r>
            <a:endParaRPr lang="en-US" sz="1700"/>
          </a:p>
        </p:txBody>
      </p:sp>
      <p:sp>
        <p:nvSpPr>
          <p:cNvPr id="783088390" name="Text 6"/>
          <p:cNvSpPr/>
          <p:nvPr/>
        </p:nvSpPr>
        <p:spPr bwMode="auto">
          <a:xfrm>
            <a:off x="1417320" y="3502152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Each backup is a plain cp -r, grouped by a SHA-1 hash of the source path, under a timestamped folder.</a:t>
            </a:r>
            <a:endParaRPr lang="en-US" sz="1300"/>
          </a:p>
        </p:txBody>
      </p:sp>
      <p:pic>
        <p:nvPicPr>
          <p:cNvPr id="2146109075" name="Image 5" descr="/home/claude/safestore_ppt/assets/circle_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4471416"/>
            <a:ext cx="621792" cy="621792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745487482" name="Image 6" descr="/home/claude/safestore_ppt/icons/file-text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97870" y="4620646"/>
            <a:ext cx="323332" cy="323332"/>
          </a:xfrm>
          <a:prstGeom prst="rect">
            <a:avLst/>
          </a:prstGeom>
        </p:spPr>
      </p:pic>
      <p:sp>
        <p:nvSpPr>
          <p:cNvPr id="1731350896" name="Text 7"/>
          <p:cNvSpPr/>
          <p:nvPr/>
        </p:nvSpPr>
        <p:spPr bwMode="auto">
          <a:xfrm>
            <a:off x="1417320" y="44531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A flat CSV ledger</a:t>
            </a:r>
            <a:endParaRPr lang="en-US" sz="1700"/>
          </a:p>
        </p:txBody>
      </p:sp>
      <p:sp>
        <p:nvSpPr>
          <p:cNvPr id="1463613317" name="Text 8"/>
          <p:cNvSpPr/>
          <p:nvPr/>
        </p:nvSpPr>
        <p:spPr bwMode="auto">
          <a:xfrm>
            <a:off x="1417320" y="480060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Every backup is logged as a row in file.csv — timestamp, path, hash — greppable and spreadsheet-readable.</a:t>
            </a:r>
            <a:endParaRPr lang="en-US" sz="1300"/>
          </a:p>
        </p:txBody>
      </p:sp>
      <p:sp>
        <p:nvSpPr>
          <p:cNvPr id="248864592" name="Shape 9"/>
          <p:cNvSpPr/>
          <p:nvPr/>
        </p:nvSpPr>
        <p:spPr bwMode="auto">
          <a:xfrm>
            <a:off x="7086600" y="1783080"/>
            <a:ext cx="4526280" cy="4206240"/>
          </a:xfrm>
          <a:prstGeom prst="roundRect">
            <a:avLst>
              <a:gd name="adj" fmla="val 1957"/>
            </a:avLst>
          </a:prstGeom>
          <a:solidFill>
            <a:srgbClr val="0D1117"/>
          </a:solidFill>
          <a:ln/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2014638358" name="Shape 10"/>
          <p:cNvSpPr/>
          <p:nvPr/>
        </p:nvSpPr>
        <p:spPr bwMode="auto">
          <a:xfrm>
            <a:off x="7342632" y="2020824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344202320" name="Shape 11"/>
          <p:cNvSpPr/>
          <p:nvPr/>
        </p:nvSpPr>
        <p:spPr bwMode="auto">
          <a:xfrm>
            <a:off x="7580376" y="2020824"/>
            <a:ext cx="118872" cy="118872"/>
          </a:xfrm>
          <a:prstGeom prst="ellipse">
            <a:avLst/>
          </a:prstGeom>
          <a:solidFill>
            <a:srgbClr val="E3A008"/>
          </a:solidFill>
          <a:ln/>
        </p:spPr>
      </p:sp>
      <p:sp>
        <p:nvSpPr>
          <p:cNvPr id="590653652" name="Shape 12"/>
          <p:cNvSpPr/>
          <p:nvPr/>
        </p:nvSpPr>
        <p:spPr bwMode="auto">
          <a:xfrm>
            <a:off x="7818120" y="2020824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46661365" name="Text 13"/>
          <p:cNvSpPr/>
          <p:nvPr/>
        </p:nvSpPr>
        <p:spPr bwMode="auto">
          <a:xfrm>
            <a:off x="8092440" y="1947671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5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~/.local/share/safestore</a:t>
            </a:r>
            <a:endParaRPr lang="en-US" sz="1150"/>
          </a:p>
        </p:txBody>
      </p:sp>
      <p:sp>
        <p:nvSpPr>
          <p:cNvPr id="2050151013" name="Shape 14"/>
          <p:cNvSpPr/>
          <p:nvPr/>
        </p:nvSpPr>
        <p:spPr bwMode="auto">
          <a:xfrm>
            <a:off x="7086600" y="2295144"/>
            <a:ext cx="452628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335491473" name="Text 15"/>
          <p:cNvSpPr/>
          <p:nvPr/>
        </p:nvSpPr>
        <p:spPr bwMode="auto">
          <a:xfrm>
            <a:off x="7406640" y="25603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Backup/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└─ &lt;sha1 of path&gt;/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├─ 20260812-091500/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│   └─ project/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└─ 20260819-140210/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└─ project/</a:t>
            </a:r>
            <a:endParaRPr lang="en-US" sz="1400"/>
          </a:p>
          <a:p>
            <a:pPr marL="0" indent="0">
              <a:lnSpc>
                <a:spcPct val="145000"/>
              </a:lnSpc>
              <a:buNone/>
              <a:defRPr/>
            </a:pPr>
            <a:r>
              <a:rPr lang="en-US" sz="14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file.csv</a:t>
            </a:r>
            <a:endParaRPr lang="en-US" sz="1400"/>
          </a:p>
        </p:txBody>
      </p:sp>
      <p:sp>
        <p:nvSpPr>
          <p:cNvPr id="1218441282" name="Text 16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1511735650" name="Text 17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992415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33359078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ARCHITECTURE</a:t>
            </a:r>
            <a:endParaRPr lang="en-US" sz="1400"/>
          </a:p>
        </p:txBody>
      </p:sp>
      <p:sp>
        <p:nvSpPr>
          <p:cNvPr id="577007728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What happens on `safestore -b &lt;path&gt;`</a:t>
            </a:r>
            <a:endParaRPr lang="en-US" sz="3350"/>
          </a:p>
        </p:txBody>
      </p:sp>
      <p:sp>
        <p:nvSpPr>
          <p:cNvPr id="919516914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sp>
        <p:nvSpPr>
          <p:cNvPr id="990083992" name="Shape 3"/>
          <p:cNvSpPr/>
          <p:nvPr/>
        </p:nvSpPr>
        <p:spPr bwMode="auto">
          <a:xfrm>
            <a:off x="54864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437860304" name="Text 4"/>
          <p:cNvSpPr/>
          <p:nvPr/>
        </p:nvSpPr>
        <p:spPr bwMode="auto">
          <a:xfrm>
            <a:off x="67665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1400"/>
          </a:p>
        </p:txBody>
      </p:sp>
      <p:sp>
        <p:nvSpPr>
          <p:cNvPr id="917173132" name="Text 5"/>
          <p:cNvSpPr/>
          <p:nvPr/>
        </p:nvSpPr>
        <p:spPr bwMode="auto">
          <a:xfrm>
            <a:off x="67665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realpath()</a:t>
            </a:r>
            <a:endParaRPr lang="en-US" sz="1450"/>
          </a:p>
        </p:txBody>
      </p:sp>
      <p:sp>
        <p:nvSpPr>
          <p:cNvPr id="22894647" name="Text 6"/>
          <p:cNvSpPr/>
          <p:nvPr/>
        </p:nvSpPr>
        <p:spPr bwMode="auto">
          <a:xfrm>
            <a:off x="67665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Resolve to an absolute path</a:t>
            </a:r>
            <a:endParaRPr lang="en-US" sz="1100"/>
          </a:p>
        </p:txBody>
      </p:sp>
      <p:sp>
        <p:nvSpPr>
          <p:cNvPr id="953122034" name="Text 7"/>
          <p:cNvSpPr/>
          <p:nvPr/>
        </p:nvSpPr>
        <p:spPr bwMode="auto">
          <a:xfrm>
            <a:off x="2304288" y="2633472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50">
                <a:solidFill>
                  <a:srgbClr val="6E7681"/>
                </a:solidFill>
                <a:latin typeface="Arial"/>
                <a:ea typeface="Arial"/>
                <a:cs typeface="Arial"/>
              </a:rPr>
              <a:t>▸</a:t>
            </a:r>
            <a:endParaRPr lang="en-US" sz="1950"/>
          </a:p>
        </p:txBody>
      </p:sp>
      <p:sp>
        <p:nvSpPr>
          <p:cNvPr id="1304528561" name="Shape 8"/>
          <p:cNvSpPr/>
          <p:nvPr/>
        </p:nvSpPr>
        <p:spPr bwMode="auto">
          <a:xfrm>
            <a:off x="251460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535056956" name="Text 9"/>
          <p:cNvSpPr/>
          <p:nvPr/>
        </p:nvSpPr>
        <p:spPr bwMode="auto">
          <a:xfrm>
            <a:off x="264261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1400"/>
          </a:p>
        </p:txBody>
      </p:sp>
      <p:sp>
        <p:nvSpPr>
          <p:cNvPr id="665749042" name="Text 10"/>
          <p:cNvSpPr/>
          <p:nvPr/>
        </p:nvSpPr>
        <p:spPr bwMode="auto">
          <a:xfrm>
            <a:off x="264261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sha1_hex()</a:t>
            </a:r>
            <a:endParaRPr lang="en-US" sz="1450"/>
          </a:p>
        </p:txBody>
      </p:sp>
      <p:sp>
        <p:nvSpPr>
          <p:cNvPr id="698199685" name="Text 11"/>
          <p:cNvSpPr/>
          <p:nvPr/>
        </p:nvSpPr>
        <p:spPr bwMode="auto">
          <a:xfrm>
            <a:off x="264261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Hash the path to a bucket name</a:t>
            </a:r>
            <a:endParaRPr lang="en-US" sz="1100"/>
          </a:p>
        </p:txBody>
      </p:sp>
      <p:sp>
        <p:nvSpPr>
          <p:cNvPr id="1037243307" name="Text 12"/>
          <p:cNvSpPr/>
          <p:nvPr/>
        </p:nvSpPr>
        <p:spPr bwMode="auto">
          <a:xfrm>
            <a:off x="4270248" y="2633472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50">
                <a:solidFill>
                  <a:srgbClr val="6E7681"/>
                </a:solidFill>
                <a:latin typeface="Arial"/>
                <a:ea typeface="Arial"/>
                <a:cs typeface="Arial"/>
              </a:rPr>
              <a:t>▸</a:t>
            </a:r>
            <a:endParaRPr lang="en-US" sz="1950"/>
          </a:p>
        </p:txBody>
      </p:sp>
      <p:sp>
        <p:nvSpPr>
          <p:cNvPr id="1026464803" name="Shape 13"/>
          <p:cNvSpPr/>
          <p:nvPr/>
        </p:nvSpPr>
        <p:spPr bwMode="auto">
          <a:xfrm>
            <a:off x="448056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499054704" name="Text 14"/>
          <p:cNvSpPr/>
          <p:nvPr/>
        </p:nvSpPr>
        <p:spPr bwMode="auto">
          <a:xfrm>
            <a:off x="460857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1400"/>
          </a:p>
        </p:txBody>
      </p:sp>
      <p:sp>
        <p:nvSpPr>
          <p:cNvPr id="705120606" name="Text 15"/>
          <p:cNvSpPr/>
          <p:nvPr/>
        </p:nvSpPr>
        <p:spPr bwMode="auto">
          <a:xfrm>
            <a:off x="460857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date</a:t>
            </a:r>
            <a:endParaRPr lang="en-US" sz="1450"/>
          </a:p>
        </p:txBody>
      </p:sp>
      <p:sp>
        <p:nvSpPr>
          <p:cNvPr id="956873696" name="Text 16"/>
          <p:cNvSpPr/>
          <p:nvPr/>
        </p:nvSpPr>
        <p:spPr bwMode="auto">
          <a:xfrm>
            <a:off x="460857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One stamp, used twice</a:t>
            </a:r>
            <a:endParaRPr lang="en-US" sz="1100"/>
          </a:p>
        </p:txBody>
      </p:sp>
      <p:sp>
        <p:nvSpPr>
          <p:cNvPr id="769259792" name="Text 17"/>
          <p:cNvSpPr/>
          <p:nvPr/>
        </p:nvSpPr>
        <p:spPr bwMode="auto">
          <a:xfrm>
            <a:off x="6236208" y="2633472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50">
                <a:solidFill>
                  <a:srgbClr val="6E7681"/>
                </a:solidFill>
                <a:latin typeface="Arial"/>
                <a:ea typeface="Arial"/>
                <a:cs typeface="Arial"/>
              </a:rPr>
              <a:t>▸</a:t>
            </a:r>
            <a:endParaRPr lang="en-US" sz="1950"/>
          </a:p>
        </p:txBody>
      </p:sp>
      <p:sp>
        <p:nvSpPr>
          <p:cNvPr id="1129592578" name="Shape 18"/>
          <p:cNvSpPr/>
          <p:nvPr/>
        </p:nvSpPr>
        <p:spPr bwMode="auto">
          <a:xfrm>
            <a:off x="644652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5108137" name="Text 19"/>
          <p:cNvSpPr/>
          <p:nvPr/>
        </p:nvSpPr>
        <p:spPr bwMode="auto">
          <a:xfrm>
            <a:off x="657453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4</a:t>
            </a:r>
            <a:endParaRPr lang="en-US" sz="1400"/>
          </a:p>
        </p:txBody>
      </p:sp>
      <p:sp>
        <p:nvSpPr>
          <p:cNvPr id="868863062" name="Text 20"/>
          <p:cNvSpPr/>
          <p:nvPr/>
        </p:nvSpPr>
        <p:spPr bwMode="auto">
          <a:xfrm>
            <a:off x="657453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mkdir_p()</a:t>
            </a:r>
            <a:endParaRPr lang="en-US" sz="1450"/>
          </a:p>
        </p:txBody>
      </p:sp>
      <p:sp>
        <p:nvSpPr>
          <p:cNvPr id="440652751" name="Text 21"/>
          <p:cNvSpPr/>
          <p:nvPr/>
        </p:nvSpPr>
        <p:spPr bwMode="auto">
          <a:xfrm>
            <a:off x="657453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Create Backup/&lt;hash&gt;/&lt;stamp&gt;/</a:t>
            </a:r>
            <a:endParaRPr lang="en-US" sz="1100"/>
          </a:p>
        </p:txBody>
      </p:sp>
      <p:sp>
        <p:nvSpPr>
          <p:cNvPr id="1473221718" name="Text 22"/>
          <p:cNvSpPr/>
          <p:nvPr/>
        </p:nvSpPr>
        <p:spPr bwMode="auto">
          <a:xfrm>
            <a:off x="8202168" y="2633472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50">
                <a:solidFill>
                  <a:srgbClr val="6E7681"/>
                </a:solidFill>
                <a:latin typeface="Arial"/>
                <a:ea typeface="Arial"/>
                <a:cs typeface="Arial"/>
              </a:rPr>
              <a:t>▸</a:t>
            </a:r>
            <a:endParaRPr lang="en-US" sz="1950"/>
          </a:p>
        </p:txBody>
      </p:sp>
      <p:sp>
        <p:nvSpPr>
          <p:cNvPr id="530239233" name="Shape 23"/>
          <p:cNvSpPr/>
          <p:nvPr/>
        </p:nvSpPr>
        <p:spPr bwMode="auto">
          <a:xfrm>
            <a:off x="841248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53918361" name="Text 24"/>
          <p:cNvSpPr/>
          <p:nvPr/>
        </p:nvSpPr>
        <p:spPr bwMode="auto">
          <a:xfrm>
            <a:off x="854049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3FB950"/>
                </a:solidFill>
                <a:latin typeface="Consolas"/>
                <a:ea typeface="Consolas"/>
                <a:cs typeface="Consolas"/>
              </a:rPr>
              <a:t>5</a:t>
            </a:r>
            <a:endParaRPr lang="en-US" sz="1400"/>
          </a:p>
        </p:txBody>
      </p:sp>
      <p:sp>
        <p:nvSpPr>
          <p:cNvPr id="1251061491" name="Text 25"/>
          <p:cNvSpPr/>
          <p:nvPr/>
        </p:nvSpPr>
        <p:spPr bwMode="auto">
          <a:xfrm>
            <a:off x="854049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copy_path()</a:t>
            </a:r>
            <a:endParaRPr lang="en-US" sz="1450"/>
          </a:p>
        </p:txBody>
      </p:sp>
      <p:sp>
        <p:nvSpPr>
          <p:cNvPr id="1280325550" name="Text 26"/>
          <p:cNvSpPr/>
          <p:nvPr/>
        </p:nvSpPr>
        <p:spPr bwMode="auto">
          <a:xfrm>
            <a:off x="854049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cp -r the source into it</a:t>
            </a:r>
            <a:endParaRPr lang="en-US" sz="1100"/>
          </a:p>
        </p:txBody>
      </p:sp>
      <p:sp>
        <p:nvSpPr>
          <p:cNvPr id="146373315" name="Text 27"/>
          <p:cNvSpPr/>
          <p:nvPr/>
        </p:nvSpPr>
        <p:spPr bwMode="auto">
          <a:xfrm>
            <a:off x="10168128" y="2633472"/>
            <a:ext cx="237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950">
                <a:solidFill>
                  <a:srgbClr val="6E7681"/>
                </a:solidFill>
                <a:latin typeface="Arial"/>
                <a:ea typeface="Arial"/>
                <a:cs typeface="Arial"/>
              </a:rPr>
              <a:t>▸</a:t>
            </a:r>
            <a:endParaRPr lang="en-US" sz="1950"/>
          </a:p>
        </p:txBody>
      </p:sp>
      <p:sp>
        <p:nvSpPr>
          <p:cNvPr id="352633648" name="Shape 28"/>
          <p:cNvSpPr/>
          <p:nvPr/>
        </p:nvSpPr>
        <p:spPr bwMode="auto">
          <a:xfrm>
            <a:off x="10378440" y="1965960"/>
            <a:ext cx="1783080" cy="1737360"/>
          </a:xfrm>
          <a:prstGeom prst="roundRect">
            <a:avLst>
              <a:gd name="adj" fmla="val 3684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sp>
        <p:nvSpPr>
          <p:cNvPr id="1405001547" name="Text 29"/>
          <p:cNvSpPr/>
          <p:nvPr/>
        </p:nvSpPr>
        <p:spPr bwMode="auto">
          <a:xfrm>
            <a:off x="10506456" y="2075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6</a:t>
            </a:r>
            <a:endParaRPr lang="en-US" sz="1400"/>
          </a:p>
        </p:txBody>
      </p:sp>
      <p:sp>
        <p:nvSpPr>
          <p:cNvPr id="1534856692" name="Text 30"/>
          <p:cNvSpPr/>
          <p:nvPr/>
        </p:nvSpPr>
        <p:spPr bwMode="auto">
          <a:xfrm>
            <a:off x="10506456" y="2423160"/>
            <a:ext cx="15270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CSV append</a:t>
            </a:r>
            <a:endParaRPr lang="en-US" sz="1450"/>
          </a:p>
        </p:txBody>
      </p:sp>
      <p:sp>
        <p:nvSpPr>
          <p:cNvPr id="469881054" name="Text 31"/>
          <p:cNvSpPr/>
          <p:nvPr/>
        </p:nvSpPr>
        <p:spPr bwMode="auto">
          <a:xfrm>
            <a:off x="10506456" y="2862072"/>
            <a:ext cx="15270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Log timestamp, path, hash</a:t>
            </a:r>
            <a:endParaRPr lang="en-US" sz="1100"/>
          </a:p>
        </p:txBody>
      </p:sp>
      <p:sp>
        <p:nvSpPr>
          <p:cNvPr id="343073163" name="Shape 32"/>
          <p:cNvSpPr/>
          <p:nvPr/>
        </p:nvSpPr>
        <p:spPr bwMode="auto">
          <a:xfrm>
            <a:off x="548640" y="41148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3F5F8"/>
          </a:solidFill>
          <a:ln/>
        </p:spPr>
      </p:sp>
      <p:sp>
        <p:nvSpPr>
          <p:cNvPr id="1352482640" name="Text 33"/>
          <p:cNvSpPr/>
          <p:nvPr/>
        </p:nvSpPr>
        <p:spPr bwMode="auto">
          <a:xfrm>
            <a:off x="749808" y="4242816"/>
            <a:ext cx="32095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Bucketed by path  </a:t>
            </a: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not contents — a renamed source lands in a new bucket.</a:t>
            </a:r>
            <a:endParaRPr lang="en-US" sz="1250"/>
          </a:p>
        </p:txBody>
      </p:sp>
      <p:sp>
        <p:nvSpPr>
          <p:cNvPr id="1574897543" name="Shape 34"/>
          <p:cNvSpPr/>
          <p:nvPr/>
        </p:nvSpPr>
        <p:spPr bwMode="auto">
          <a:xfrm>
            <a:off x="4297680" y="41148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3F5F8"/>
          </a:solidFill>
          <a:ln/>
        </p:spPr>
      </p:sp>
      <p:sp>
        <p:nvSpPr>
          <p:cNvPr id="1062114313" name="Text 35"/>
          <p:cNvSpPr/>
          <p:nvPr/>
        </p:nvSpPr>
        <p:spPr bwMode="auto">
          <a:xfrm>
            <a:off x="4498848" y="4242816"/>
            <a:ext cx="32095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Stamp shared once  </a:t>
            </a: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so the folder name and CSV row can never drift.</a:t>
            </a:r>
            <a:endParaRPr lang="en-US" sz="1250"/>
          </a:p>
        </p:txBody>
      </p:sp>
      <p:sp>
        <p:nvSpPr>
          <p:cNvPr id="1030565699" name="Shape 36"/>
          <p:cNvSpPr/>
          <p:nvPr/>
        </p:nvSpPr>
        <p:spPr bwMode="auto">
          <a:xfrm>
            <a:off x="8046720" y="411480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3F5F8"/>
          </a:solidFill>
          <a:ln/>
        </p:spPr>
      </p:sp>
      <p:sp>
        <p:nvSpPr>
          <p:cNvPr id="264663131" name="Text 37"/>
          <p:cNvSpPr/>
          <p:nvPr/>
        </p:nvSpPr>
        <p:spPr bwMode="auto">
          <a:xfrm>
            <a:off x="8247888" y="4242816"/>
            <a:ext cx="3209544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CSV, not a database  </a:t>
            </a: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human-readable and greppable, at the cost of fragile parsing.</a:t>
            </a:r>
            <a:endParaRPr lang="en-US" sz="1250"/>
          </a:p>
        </p:txBody>
      </p:sp>
      <p:sp>
        <p:nvSpPr>
          <p:cNvPr id="714728487" name="Shape 38"/>
          <p:cNvSpPr/>
          <p:nvPr/>
        </p:nvSpPr>
        <p:spPr bwMode="auto">
          <a:xfrm>
            <a:off x="548640" y="5742432"/>
            <a:ext cx="11109960" cy="621792"/>
          </a:xfrm>
          <a:prstGeom prst="roundRect">
            <a:avLst>
              <a:gd name="adj" fmla="val 8824"/>
            </a:avLst>
          </a:prstGeom>
          <a:solidFill>
            <a:srgbClr val="0D1117"/>
          </a:solidFill>
          <a:ln/>
        </p:spPr>
      </p:sp>
      <p:sp>
        <p:nvSpPr>
          <p:cNvPr id="3223266" name="Text 39"/>
          <p:cNvSpPr/>
          <p:nvPr/>
        </p:nvSpPr>
        <p:spPr bwMode="auto">
          <a:xfrm>
            <a:off x="777240" y="5742432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3FB950"/>
                </a:solidFill>
              </a:rPr>
              <a:t>Result:  </a:t>
            </a:r>
            <a:r>
              <a:rPr lang="en-US" sz="13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Backup/&lt;sha1(abspath)&gt;/&lt;YYYYMMDD-HHMMSS&gt;/&lt;basename&gt;  </a:t>
            </a:r>
            <a:r>
              <a:rPr lang="en-US" sz="1300">
                <a:solidFill>
                  <a:srgbClr val="8B949E"/>
                </a:solidFill>
              </a:rPr>
              <a:t>+ one new file.csv row</a:t>
            </a:r>
            <a:endParaRPr lang="en-US" sz="1300"/>
          </a:p>
        </p:txBody>
      </p:sp>
      <p:sp>
        <p:nvSpPr>
          <p:cNvPr id="1198970251" name="Text 40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280570421" name="Text 41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4023542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4616870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ASSESSMENT</a:t>
            </a:r>
            <a:endParaRPr lang="en-US" sz="1400"/>
          </a:p>
        </p:txBody>
      </p:sp>
      <p:sp>
        <p:nvSpPr>
          <p:cNvPr id="1874992135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What it gets right — and one real risk</a:t>
            </a:r>
            <a:endParaRPr lang="en-US" sz="3350"/>
          </a:p>
        </p:txBody>
      </p:sp>
      <p:sp>
        <p:nvSpPr>
          <p:cNvPr id="958887458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sp>
        <p:nvSpPr>
          <p:cNvPr id="1260573595" name="Text 3"/>
          <p:cNvSpPr/>
          <p:nvPr/>
        </p:nvSpPr>
        <p:spPr bwMode="auto"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 spc="150">
                <a:solidFill>
                  <a:srgbClr val="3FB950"/>
                </a:solidFill>
              </a:rPr>
              <a:t>STRENGTHS</a:t>
            </a:r>
            <a:endParaRPr lang="en-US" sz="1250"/>
          </a:p>
        </p:txBody>
      </p:sp>
      <p:sp>
        <p:nvSpPr>
          <p:cNvPr id="1590985763" name="Shape 4"/>
          <p:cNvSpPr/>
          <p:nvPr/>
        </p:nvSpPr>
        <p:spPr bwMode="auto">
          <a:xfrm>
            <a:off x="566928" y="2112264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64895029" name="Text 5"/>
          <p:cNvSpPr/>
          <p:nvPr/>
        </p:nvSpPr>
        <p:spPr bwMode="auto">
          <a:xfrm>
            <a:off x="868680" y="19659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Radically simple — ~150 lines, auditable in one sitting</a:t>
            </a:r>
            <a:endParaRPr lang="en-US" sz="1300"/>
          </a:p>
        </p:txBody>
      </p:sp>
      <p:sp>
        <p:nvSpPr>
          <p:cNvPr id="1677562810" name="Shape 6"/>
          <p:cNvSpPr/>
          <p:nvPr/>
        </p:nvSpPr>
        <p:spPr bwMode="auto">
          <a:xfrm>
            <a:off x="566928" y="2679192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14180402" name="Text 7"/>
          <p:cNvSpPr/>
          <p:nvPr/>
        </p:nvSpPr>
        <p:spPr bwMode="auto">
          <a:xfrm>
            <a:off x="868680" y="253288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Zero setup — no daemon, no repo init, no config file</a:t>
            </a:r>
            <a:endParaRPr lang="en-US" sz="1300"/>
          </a:p>
        </p:txBody>
      </p:sp>
      <p:sp>
        <p:nvSpPr>
          <p:cNvPr id="1631440618" name="Shape 8"/>
          <p:cNvSpPr/>
          <p:nvPr/>
        </p:nvSpPr>
        <p:spPr bwMode="auto">
          <a:xfrm>
            <a:off x="566928" y="3246120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3796190" name="Text 9"/>
          <p:cNvSpPr/>
          <p:nvPr/>
        </p:nvSpPr>
        <p:spPr bwMode="auto">
          <a:xfrm>
            <a:off x="868680" y="3099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Transparent storage — plain files, restore by hand with cp</a:t>
            </a:r>
            <a:endParaRPr lang="en-US" sz="1300"/>
          </a:p>
        </p:txBody>
      </p:sp>
      <p:sp>
        <p:nvSpPr>
          <p:cNvPr id="1157716389" name="Shape 10"/>
          <p:cNvSpPr/>
          <p:nvPr/>
        </p:nvSpPr>
        <p:spPr bwMode="auto">
          <a:xfrm>
            <a:off x="566928" y="3813048"/>
            <a:ext cx="137160" cy="1371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06270785" name="Text 11"/>
          <p:cNvSpPr/>
          <p:nvPr/>
        </p:nvSpPr>
        <p:spPr bwMode="auto">
          <a:xfrm>
            <a:off x="868680" y="366674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No extra dependencies beyond cp, sha1sum, date</a:t>
            </a:r>
            <a:endParaRPr lang="en-US" sz="1300"/>
          </a:p>
        </p:txBody>
      </p:sp>
      <p:sp>
        <p:nvSpPr>
          <p:cNvPr id="1231082988" name="Text 12"/>
          <p:cNvSpPr/>
          <p:nvPr/>
        </p:nvSpPr>
        <p:spPr bwMode="auto"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50" b="1" spc="150">
                <a:solidFill>
                  <a:srgbClr val="6E7681"/>
                </a:solidFill>
              </a:rPr>
              <a:t>LIMITATIONS</a:t>
            </a:r>
            <a:endParaRPr lang="en-US" sz="1250"/>
          </a:p>
        </p:txBody>
      </p:sp>
      <p:sp>
        <p:nvSpPr>
          <p:cNvPr id="27305111" name="Shape 13"/>
          <p:cNvSpPr/>
          <p:nvPr/>
        </p:nvSpPr>
        <p:spPr bwMode="auto">
          <a:xfrm>
            <a:off x="566928" y="4901184"/>
            <a:ext cx="137160" cy="137160"/>
          </a:xfrm>
          <a:prstGeom prst="ellipse">
            <a:avLst/>
          </a:prstGeom>
          <a:solidFill>
            <a:srgbClr val="6E7681"/>
          </a:solidFill>
          <a:ln/>
        </p:spPr>
      </p:sp>
      <p:sp>
        <p:nvSpPr>
          <p:cNvPr id="991017849" name="Text 14"/>
          <p:cNvSpPr/>
          <p:nvPr/>
        </p:nvSpPr>
        <p:spPr bwMode="auto">
          <a:xfrm>
            <a:off x="868680" y="47548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No dedup, compression, or encryption — full plaintext copies</a:t>
            </a:r>
            <a:endParaRPr lang="en-US" sz="1300"/>
          </a:p>
        </p:txBody>
      </p:sp>
      <p:sp>
        <p:nvSpPr>
          <p:cNvPr id="2002385161" name="Shape 15"/>
          <p:cNvSpPr/>
          <p:nvPr/>
        </p:nvSpPr>
        <p:spPr bwMode="auto">
          <a:xfrm>
            <a:off x="566928" y="5468112"/>
            <a:ext cx="137160" cy="137160"/>
          </a:xfrm>
          <a:prstGeom prst="ellipse">
            <a:avLst/>
          </a:prstGeom>
          <a:solidFill>
            <a:srgbClr val="6E7681"/>
          </a:solidFill>
          <a:ln/>
        </p:spPr>
      </p:sp>
      <p:sp>
        <p:nvSpPr>
          <p:cNvPr id="873511239" name="Text 16"/>
          <p:cNvSpPr/>
          <p:nvPr/>
        </p:nvSpPr>
        <p:spPr bwMode="auto">
          <a:xfrm>
            <a:off x="868680" y="53218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No restore command and no pruning — Backup/ grows forever</a:t>
            </a:r>
            <a:endParaRPr lang="en-US" sz="1300"/>
          </a:p>
        </p:txBody>
      </p:sp>
      <p:sp>
        <p:nvSpPr>
          <p:cNvPr id="897980015" name="Shape 17"/>
          <p:cNvSpPr/>
          <p:nvPr/>
        </p:nvSpPr>
        <p:spPr bwMode="auto">
          <a:xfrm>
            <a:off x="6446520" y="169164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FF6E5"/>
          </a:solidFill>
          <a:ln w="15875">
            <a:solidFill>
              <a:srgbClr val="E3A008"/>
            </a:solidFill>
            <a:prstDash val="solid"/>
          </a:ln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pic>
        <p:nvPicPr>
          <p:cNvPr id="1714849211" name="Image 1" descr="/home/claude/safestore_ppt/assets/circle_amb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20840" y="1965960"/>
            <a:ext cx="594360" cy="594360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676380130" name="Image 2" descr="/home/claude/safestore_ppt/icons/alert-triangl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54571" y="2099691"/>
            <a:ext cx="326898" cy="326898"/>
          </a:xfrm>
          <a:prstGeom prst="rect">
            <a:avLst/>
          </a:prstGeom>
        </p:spPr>
      </p:pic>
      <p:sp>
        <p:nvSpPr>
          <p:cNvPr id="744149995" name="Text 18"/>
          <p:cNvSpPr/>
          <p:nvPr/>
        </p:nvSpPr>
        <p:spPr bwMode="auto">
          <a:xfrm>
            <a:off x="749808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5C3D00"/>
                </a:solidFill>
                <a:latin typeface="Calibri"/>
                <a:ea typeface="Calibri"/>
                <a:cs typeface="Calibri"/>
              </a:rPr>
              <a:t>Unescaped shell interpolation</a:t>
            </a:r>
            <a:endParaRPr lang="en-US" sz="1650"/>
          </a:p>
        </p:txBody>
      </p:sp>
      <p:sp>
        <p:nvSpPr>
          <p:cNvPr id="1282485341" name="Text 19"/>
          <p:cNvSpPr/>
          <p:nvPr/>
        </p:nvSpPr>
        <p:spPr bwMode="auto">
          <a:xfrm>
            <a:off x="6720840" y="274320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C3D00"/>
                </a:solidFill>
                <a:latin typeface="Calibri"/>
                <a:ea typeface="Calibri"/>
                <a:cs typeface="Calibri"/>
              </a:rPr>
              <a:t>sha1_hex() and copy_path() wrap the path in single quotes but never escape a single quote inside it — a real path can break out of the shell string.</a:t>
            </a:r>
            <a:endParaRPr lang="en-US" sz="1300"/>
          </a:p>
        </p:txBody>
      </p:sp>
      <p:sp>
        <p:nvSpPr>
          <p:cNvPr id="778032674" name="Shape 20"/>
          <p:cNvSpPr/>
          <p:nvPr/>
        </p:nvSpPr>
        <p:spPr bwMode="auto">
          <a:xfrm>
            <a:off x="6720840" y="3749040"/>
            <a:ext cx="4663440" cy="137160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/>
        </p:spPr>
      </p:sp>
      <p:sp>
        <p:nvSpPr>
          <p:cNvPr id="2104751640" name="Text 21"/>
          <p:cNvSpPr/>
          <p:nvPr/>
        </p:nvSpPr>
        <p:spPr bwMode="auto">
          <a:xfrm>
            <a:off x="6885432" y="3886200"/>
            <a:ext cx="43342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$ safestore -b "a'; touch /tmp/pwned; '"</a:t>
            </a:r>
            <a:br>
              <a:rPr lang="en-US" sz="1200">
                <a:solidFill>
                  <a:srgbClr val="E6EDF3"/>
                </a:solidFill>
                <a:latin typeface="Consolas"/>
                <a:ea typeface="Consolas"/>
                <a:cs typeface="Consolas"/>
              </a:rPr>
            </a:br>
            <a:r>
              <a:rPr lang="en-US" sz="12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# the quote breaks out of the string;</a:t>
            </a:r>
            <a:endParaRPr lang="en-US" sz="120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-US" sz="1200">
                <a:solidFill>
                  <a:srgbClr val="8B949E"/>
                </a:solidFill>
                <a:latin typeface="Consolas"/>
                <a:ea typeface="Consolas"/>
                <a:cs typeface="Consolas"/>
              </a:rPr>
              <a:t># the shell runs the injected command</a:t>
            </a:r>
            <a:endParaRPr lang="en-US" sz="1200"/>
          </a:p>
        </p:txBody>
      </p:sp>
      <p:sp>
        <p:nvSpPr>
          <p:cNvPr id="1202315672" name="Text 22"/>
          <p:cNvSpPr/>
          <p:nvPr/>
        </p:nvSpPr>
        <p:spPr bwMode="auto">
          <a:xfrm>
            <a:off x="6720840" y="53035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 i="1">
                <a:solidFill>
                  <a:srgbClr val="7A4A00"/>
                </a:solidFill>
                <a:latin typeface="Calibri"/>
                <a:ea typeface="Calibri"/>
                <a:cs typeface="Calibri"/>
              </a:rPr>
              <a:t>The fix: build argv arrays and exec directly — never interpolate untrusted paths into a shell string.</a:t>
            </a:r>
            <a:endParaRPr lang="en-US" sz="1250"/>
          </a:p>
        </p:txBody>
      </p:sp>
      <p:sp>
        <p:nvSpPr>
          <p:cNvPr id="1895168275" name="Text 23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1031220741" name="Text 24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8369638" name="Image 0" descr="/home/claude/safestore_ppt/assets/bg_titl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103505196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LITERATURE REVIEW</a:t>
            </a:r>
            <a:endParaRPr lang="en-US" sz="1400"/>
          </a:p>
        </p:txBody>
      </p:sp>
      <p:sp>
        <p:nvSpPr>
          <p:cNvPr id="363658599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E6EDF3"/>
                </a:solidFill>
                <a:latin typeface="Cambria"/>
                <a:ea typeface="Cambria"/>
                <a:cs typeface="Cambria"/>
              </a:rPr>
              <a:t>The Linux backup landscape</a:t>
            </a:r>
            <a:endParaRPr lang="en-US" sz="3350"/>
          </a:p>
        </p:txBody>
      </p:sp>
      <p:sp>
        <p:nvSpPr>
          <p:cNvPr id="983281424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sp>
        <p:nvSpPr>
          <p:cNvPr id="535140099" name="Text 3"/>
          <p:cNvSpPr/>
          <p:nvPr/>
        </p:nvSpPr>
        <p:spPr bwMode="auto">
          <a:xfrm>
            <a:off x="548640" y="1508759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Four families of tools solve the same problem safestore does, each trading simplicity for a different guarantee.</a:t>
            </a:r>
            <a:endParaRPr lang="en-US" sz="1400"/>
          </a:p>
        </p:txBody>
      </p:sp>
      <p:sp>
        <p:nvSpPr>
          <p:cNvPr id="641443311" name="Shape 4"/>
          <p:cNvSpPr/>
          <p:nvPr/>
        </p:nvSpPr>
        <p:spPr bwMode="auto">
          <a:xfrm>
            <a:off x="548640" y="214884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860698650" name="Image 1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2960" y="2468880"/>
            <a:ext cx="658368" cy="65836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827465867" name="Image 2" descr="/home/claude/safestore_ppt/icons/git-compar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80968" y="2626887"/>
            <a:ext cx="342351" cy="342351"/>
          </a:xfrm>
          <a:prstGeom prst="rect">
            <a:avLst/>
          </a:prstGeom>
        </p:spPr>
      </p:pic>
      <p:sp>
        <p:nvSpPr>
          <p:cNvPr id="1917555431" name="Text 5"/>
          <p:cNvSpPr/>
          <p:nvPr/>
        </p:nvSpPr>
        <p:spPr bwMode="auto">
          <a:xfrm>
            <a:off x="822960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3FB950"/>
                </a:solidFill>
              </a:rPr>
              <a:t>SYNC PRIMITIVES</a:t>
            </a:r>
            <a:endParaRPr lang="en-US" sz="1100"/>
          </a:p>
        </p:txBody>
      </p:sp>
      <p:sp>
        <p:nvSpPr>
          <p:cNvPr id="397186035" name="Text 6"/>
          <p:cNvSpPr/>
          <p:nvPr/>
        </p:nvSpPr>
        <p:spPr bwMode="auto">
          <a:xfrm>
            <a:off x="822960" y="3611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rsync</a:t>
            </a:r>
            <a:endParaRPr lang="en-US" sz="1600"/>
          </a:p>
        </p:txBody>
      </p:sp>
      <p:sp>
        <p:nvSpPr>
          <p:cNvPr id="965502455" name="Text 7"/>
          <p:cNvSpPr/>
          <p:nvPr/>
        </p:nvSpPr>
        <p:spPr bwMode="auto">
          <a:xfrm>
            <a:off x="822960" y="4233672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Delta-transfer mirroring since 1996 — the engine most other tools wrap.</a:t>
            </a:r>
            <a:endParaRPr lang="en-US" sz="1150"/>
          </a:p>
        </p:txBody>
      </p:sp>
      <p:sp>
        <p:nvSpPr>
          <p:cNvPr id="389063604" name="Shape 8"/>
          <p:cNvSpPr/>
          <p:nvPr/>
        </p:nvSpPr>
        <p:spPr bwMode="auto">
          <a:xfrm>
            <a:off x="3410712" y="214884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746056931" name="Image 3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685032" y="2468880"/>
            <a:ext cx="658368" cy="65836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266947972" name="Image 4" descr="/home/claude/safestore_ppt/icons/boxes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843040" y="2626887"/>
            <a:ext cx="342351" cy="342351"/>
          </a:xfrm>
          <a:prstGeom prst="rect">
            <a:avLst/>
          </a:prstGeom>
        </p:spPr>
      </p:pic>
      <p:sp>
        <p:nvSpPr>
          <p:cNvPr id="207214508" name="Text 9"/>
          <p:cNvSpPr/>
          <p:nvPr/>
        </p:nvSpPr>
        <p:spPr bwMode="auto">
          <a:xfrm>
            <a:off x="3685032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3FB950"/>
                </a:solidFill>
              </a:rPr>
              <a:t>DEDUP ARCHIVERS</a:t>
            </a:r>
            <a:endParaRPr lang="en-US" sz="1100"/>
          </a:p>
        </p:txBody>
      </p:sp>
      <p:sp>
        <p:nvSpPr>
          <p:cNvPr id="1285554638" name="Text 10"/>
          <p:cNvSpPr/>
          <p:nvPr/>
        </p:nvSpPr>
        <p:spPr bwMode="auto">
          <a:xfrm>
            <a:off x="3685032" y="3611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Borg · restic</a:t>
            </a:r>
            <a:endParaRPr lang="en-US" sz="1600"/>
          </a:p>
        </p:txBody>
      </p:sp>
      <p:sp>
        <p:nvSpPr>
          <p:cNvPr id="408195285" name="Text 11"/>
          <p:cNvSpPr/>
          <p:nvPr/>
        </p:nvSpPr>
        <p:spPr bwMode="auto">
          <a:xfrm>
            <a:off x="3685032" y="4233672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Content-defined chunking + client-side encryption for efficient history.</a:t>
            </a:r>
            <a:endParaRPr lang="en-US" sz="1150"/>
          </a:p>
        </p:txBody>
      </p:sp>
      <p:sp>
        <p:nvSpPr>
          <p:cNvPr id="275520200" name="Shape 12"/>
          <p:cNvSpPr/>
          <p:nvPr/>
        </p:nvSpPr>
        <p:spPr bwMode="auto">
          <a:xfrm>
            <a:off x="6272784" y="214884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816180676" name="Image 5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547104" y="2468880"/>
            <a:ext cx="658368" cy="65836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841534584" name="Image 6" descr="/home/claude/safestore_ppt/icons/lock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705112" y="2626887"/>
            <a:ext cx="342351" cy="342351"/>
          </a:xfrm>
          <a:prstGeom prst="rect">
            <a:avLst/>
          </a:prstGeom>
        </p:spPr>
      </p:pic>
      <p:sp>
        <p:nvSpPr>
          <p:cNvPr id="1049568155" name="Text 13"/>
          <p:cNvSpPr/>
          <p:nvPr/>
        </p:nvSpPr>
        <p:spPr bwMode="auto">
          <a:xfrm>
            <a:off x="6547104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3FB950"/>
                </a:solidFill>
              </a:rPr>
              <a:t>ENCRYPTED ARCHIVAL</a:t>
            </a:r>
            <a:endParaRPr lang="en-US" sz="1100"/>
          </a:p>
        </p:txBody>
      </p:sp>
      <p:sp>
        <p:nvSpPr>
          <p:cNvPr id="1070866237" name="Text 14"/>
          <p:cNvSpPr/>
          <p:nvPr/>
        </p:nvSpPr>
        <p:spPr bwMode="auto">
          <a:xfrm>
            <a:off x="6547104" y="3611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Duplicity · Duplicati</a:t>
            </a:r>
            <a:endParaRPr lang="en-US" sz="1600"/>
          </a:p>
        </p:txBody>
      </p:sp>
      <p:sp>
        <p:nvSpPr>
          <p:cNvPr id="668787089" name="Text 15"/>
          <p:cNvSpPr/>
          <p:nvPr/>
        </p:nvSpPr>
        <p:spPr bwMode="auto">
          <a:xfrm>
            <a:off x="6547104" y="4233672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GPG/AES-encrypted incremental archives to many remote backends.</a:t>
            </a:r>
            <a:endParaRPr lang="en-US" sz="1150"/>
          </a:p>
        </p:txBody>
      </p:sp>
      <p:sp>
        <p:nvSpPr>
          <p:cNvPr id="1643177978" name="Shape 16"/>
          <p:cNvSpPr/>
          <p:nvPr/>
        </p:nvSpPr>
        <p:spPr bwMode="auto">
          <a:xfrm>
            <a:off x="9134856" y="2148840"/>
            <a:ext cx="2606040" cy="365760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12700">
            <a:solidFill>
              <a:srgbClr val="262C36"/>
            </a:solidFill>
            <a:prstDash val="solid"/>
          </a:ln>
        </p:spPr>
      </p:sp>
      <p:pic>
        <p:nvPicPr>
          <p:cNvPr id="1484966172" name="Image 7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409176" y="2468880"/>
            <a:ext cx="658368" cy="65836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707613430" name="Image 8" descr="/home/claude/safestore_ppt/icons/rotate-ccw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567184" y="2626887"/>
            <a:ext cx="342351" cy="342351"/>
          </a:xfrm>
          <a:prstGeom prst="rect">
            <a:avLst/>
          </a:prstGeom>
        </p:spPr>
      </p:pic>
      <p:sp>
        <p:nvSpPr>
          <p:cNvPr id="278611199" name="Text 17"/>
          <p:cNvSpPr/>
          <p:nvPr/>
        </p:nvSpPr>
        <p:spPr bwMode="auto">
          <a:xfrm>
            <a:off x="9409176" y="33375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3FB950"/>
                </a:solidFill>
              </a:rPr>
              <a:t>SNAPSHOT TOOLS</a:t>
            </a:r>
            <a:endParaRPr lang="en-US" sz="1100"/>
          </a:p>
        </p:txBody>
      </p:sp>
      <p:sp>
        <p:nvSpPr>
          <p:cNvPr id="59118916" name="Text 18"/>
          <p:cNvSpPr/>
          <p:nvPr/>
        </p:nvSpPr>
        <p:spPr bwMode="auto">
          <a:xfrm>
            <a:off x="9409176" y="3611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Timeshift · rsnapshot</a:t>
            </a:r>
            <a:endParaRPr lang="en-US" sz="1600"/>
          </a:p>
        </p:txBody>
      </p:sp>
      <p:sp>
        <p:nvSpPr>
          <p:cNvPr id="558424292" name="Text 19"/>
          <p:cNvSpPr/>
          <p:nvPr/>
        </p:nvSpPr>
        <p:spPr bwMode="auto">
          <a:xfrm>
            <a:off x="9409176" y="4233672"/>
            <a:ext cx="2057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rsync+hardlink or filesystem snapshots for whole-system rollback.</a:t>
            </a:r>
            <a:endParaRPr lang="en-US" sz="1150"/>
          </a:p>
        </p:txBody>
      </p:sp>
      <p:sp>
        <p:nvSpPr>
          <p:cNvPr id="1530825054" name="Text 20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1609551939" name="Text 21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5250290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39905439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LITERATURE REVIEW</a:t>
            </a:r>
            <a:endParaRPr lang="en-US" sz="1400"/>
          </a:p>
        </p:txBody>
      </p:sp>
      <p:sp>
        <p:nvSpPr>
          <p:cNvPr id="904571413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Four approaches, at a glance</a:t>
            </a:r>
            <a:endParaRPr lang="en-US" sz="3350"/>
          </a:p>
        </p:txBody>
      </p:sp>
      <p:sp>
        <p:nvSpPr>
          <p:cNvPr id="1537410388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sp>
        <p:nvSpPr>
          <p:cNvPr id="151918954" name="Shape 3"/>
          <p:cNvSpPr/>
          <p:nvPr/>
        </p:nvSpPr>
        <p:spPr bwMode="auto">
          <a:xfrm>
            <a:off x="548640" y="1691640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3F5F8"/>
          </a:solidFill>
          <a:ln/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pic>
        <p:nvPicPr>
          <p:cNvPr id="1159487425" name="Image 1" descr="/home/claude/safestore_ppt/assets/circle_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4672" y="1947671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318377432" name="Image 2" descr="/home/claude/safestore_ppt/icons/git-compar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40735" y="2083735"/>
            <a:ext cx="294803" cy="294803"/>
          </a:xfrm>
          <a:prstGeom prst="rect">
            <a:avLst/>
          </a:prstGeom>
        </p:spPr>
      </p:pic>
      <p:sp>
        <p:nvSpPr>
          <p:cNvPr id="2136875864" name="Text 4"/>
          <p:cNvSpPr/>
          <p:nvPr/>
        </p:nvSpPr>
        <p:spPr bwMode="auto">
          <a:xfrm>
            <a:off x="1554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rsync</a:t>
            </a:r>
            <a:endParaRPr lang="en-US" sz="1650"/>
          </a:p>
        </p:txBody>
      </p:sp>
      <p:sp>
        <p:nvSpPr>
          <p:cNvPr id="111380855" name="Text 5"/>
          <p:cNvSpPr/>
          <p:nvPr/>
        </p:nvSpPr>
        <p:spPr bwMode="auto">
          <a:xfrm>
            <a:off x="804672" y="2606040"/>
            <a:ext cx="4928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Sends only changed blocks over SSH. A sync primitive, not a backup system — no versioning, encryption, or retention of its own; rsnapshot, Timeshift, and Duplicity all build on it.</a:t>
            </a:r>
            <a:endParaRPr lang="en-US" sz="1200"/>
          </a:p>
        </p:txBody>
      </p:sp>
      <p:sp>
        <p:nvSpPr>
          <p:cNvPr id="269773642" name="Shape 6"/>
          <p:cNvSpPr/>
          <p:nvPr/>
        </p:nvSpPr>
        <p:spPr bwMode="auto">
          <a:xfrm>
            <a:off x="6263640" y="1691640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3F5F8"/>
          </a:solidFill>
          <a:ln/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pic>
        <p:nvPicPr>
          <p:cNvPr id="1842312122" name="Image 3" descr="/home/claude/safestore_ppt/assets/circle_green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19672" y="1947671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372849074" name="Image 4" descr="/home/claude/safestore_ppt/icons/boxes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655735" y="2083735"/>
            <a:ext cx="294803" cy="294803"/>
          </a:xfrm>
          <a:prstGeom prst="rect">
            <a:avLst/>
          </a:prstGeom>
        </p:spPr>
      </p:pic>
      <p:sp>
        <p:nvSpPr>
          <p:cNvPr id="2087493037" name="Text 7"/>
          <p:cNvSpPr/>
          <p:nvPr/>
        </p:nvSpPr>
        <p:spPr bwMode="auto">
          <a:xfrm>
            <a:off x="7269480" y="1965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Borg &amp; restic</a:t>
            </a:r>
            <a:endParaRPr lang="en-US" sz="1650"/>
          </a:p>
        </p:txBody>
      </p:sp>
      <p:sp>
        <p:nvSpPr>
          <p:cNvPr id="321764544" name="Text 8"/>
          <p:cNvSpPr/>
          <p:nvPr/>
        </p:nvSpPr>
        <p:spPr bwMode="auto">
          <a:xfrm>
            <a:off x="6519672" y="2606040"/>
            <a:ext cx="4928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Split files into content-defined chunks; only chunks never seen before — anywhere in the repository — are stored. Client-side AES/chacha20 encryption plus selectable lz4/zstd/zlib compression.</a:t>
            </a:r>
            <a:endParaRPr lang="en-US" sz="1200"/>
          </a:p>
        </p:txBody>
      </p:sp>
      <p:sp>
        <p:nvSpPr>
          <p:cNvPr id="1857229182" name="Shape 9"/>
          <p:cNvSpPr/>
          <p:nvPr/>
        </p:nvSpPr>
        <p:spPr bwMode="auto">
          <a:xfrm>
            <a:off x="548640" y="3977640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3F5F8"/>
          </a:solidFill>
          <a:ln/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pic>
        <p:nvPicPr>
          <p:cNvPr id="1875236146" name="Image 5" descr="/home/claude/safestore_ppt/assets/circle_ink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4672" y="4233672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584419210" name="Image 6" descr="/home/claude/safestore_ppt/icons/lock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40735" y="4369735"/>
            <a:ext cx="294803" cy="294803"/>
          </a:xfrm>
          <a:prstGeom prst="rect">
            <a:avLst/>
          </a:prstGeom>
        </p:spPr>
      </p:pic>
      <p:sp>
        <p:nvSpPr>
          <p:cNvPr id="442208734" name="Text 10"/>
          <p:cNvSpPr/>
          <p:nvPr/>
        </p:nvSpPr>
        <p:spPr bwMode="auto">
          <a:xfrm>
            <a:off x="155448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Duplicity family</a:t>
            </a:r>
            <a:endParaRPr lang="en-US" sz="1650"/>
          </a:p>
        </p:txBody>
      </p:sp>
      <p:sp>
        <p:nvSpPr>
          <p:cNvPr id="1332392194" name="Text 11"/>
          <p:cNvSpPr/>
          <p:nvPr/>
        </p:nvSpPr>
        <p:spPr bwMode="auto">
          <a:xfrm>
            <a:off x="804672" y="4892039"/>
            <a:ext cx="4928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GnuPG-encrypted, librsync-compressed full + incremental tar volumes, reaching SFTP, S3, and more. Déjà Dup and Duplicati wrap the same idea in friendlier front-ends.</a:t>
            </a:r>
            <a:endParaRPr lang="en-US" sz="1200"/>
          </a:p>
        </p:txBody>
      </p:sp>
      <p:sp>
        <p:nvSpPr>
          <p:cNvPr id="1168290476" name="Shape 12"/>
          <p:cNvSpPr/>
          <p:nvPr/>
        </p:nvSpPr>
        <p:spPr bwMode="auto">
          <a:xfrm>
            <a:off x="6263640" y="3977640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3F5F8"/>
          </a:solidFill>
          <a:ln/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sp>
      <p:pic>
        <p:nvPicPr>
          <p:cNvPr id="1339062267" name="Image 7" descr="/home/claude/safestore_ppt/assets/circle_green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19672" y="4233672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633740019" name="Image 8" descr="/home/claude/safestore_ppt/icons/rotate-ccw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655735" y="4369735"/>
            <a:ext cx="294803" cy="294803"/>
          </a:xfrm>
          <a:prstGeom prst="rect">
            <a:avLst/>
          </a:prstGeom>
        </p:spPr>
      </p:pic>
      <p:sp>
        <p:nvSpPr>
          <p:cNvPr id="2108631771" name="Text 13"/>
          <p:cNvSpPr/>
          <p:nvPr/>
        </p:nvSpPr>
        <p:spPr bwMode="auto">
          <a:xfrm>
            <a:off x="726948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6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Timeshift &amp; rsnapshot</a:t>
            </a:r>
            <a:endParaRPr lang="en-US" sz="1650"/>
          </a:p>
        </p:txBody>
      </p:sp>
      <p:sp>
        <p:nvSpPr>
          <p:cNvPr id="1672942794" name="Text 14"/>
          <p:cNvSpPr/>
          <p:nvPr/>
        </p:nvSpPr>
        <p:spPr bwMode="auto">
          <a:xfrm>
            <a:off x="6519672" y="4892039"/>
            <a:ext cx="49286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rsync + hard links (or native Btrfs snapshots): unchanged files share an inode, so old snapshots cost almost nothing extra. Built for whole-system rollback, not general file archiving.</a:t>
            </a:r>
            <a:endParaRPr lang="en-US" sz="1200"/>
          </a:p>
        </p:txBody>
      </p:sp>
      <p:sp>
        <p:nvSpPr>
          <p:cNvPr id="1795617278" name="Text 15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122976723" name="Text 16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2872036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36676155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COMPARISON</a:t>
            </a:r>
            <a:endParaRPr lang="en-US" sz="1400"/>
          </a:p>
        </p:txBody>
      </p:sp>
      <p:sp>
        <p:nvSpPr>
          <p:cNvPr id="1110983100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safestore against the field</a:t>
            </a:r>
            <a:endParaRPr lang="en-US" sz="3350"/>
          </a:p>
        </p:txBody>
      </p:sp>
      <p:sp>
        <p:nvSpPr>
          <p:cNvPr id="1786371675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graphicFrame>
        <p:nvGraphicFramePr>
          <p:cNvPr id="1598235316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645920"/>
          <a:ext cx="11292840" cy="443484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965960"/>
                <a:gridCol w="1691640"/>
                <a:gridCol w="1600200"/>
                <a:gridCol w="2331720"/>
                <a:gridCol w="1783080"/>
                <a:gridCol w="1920240"/>
              </a:tblGrid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6EDF3"/>
                          </a:solidFill>
                          <a:latin typeface="Calibri"/>
                          <a:ea typeface="Calibri"/>
                          <a:cs typeface="Calibri"/>
                        </a:rPr>
                        <a:t>Feature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safestore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3FB950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6EDF3"/>
                          </a:solidFill>
                          <a:latin typeface="Calibri"/>
                          <a:ea typeface="Calibri"/>
                          <a:cs typeface="Calibri"/>
                        </a:rPr>
                        <a:t>rsync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6EDF3"/>
                          </a:solidFill>
                          <a:latin typeface="Calibri"/>
                          <a:ea typeface="Calibri"/>
                          <a:cs typeface="Calibri"/>
                        </a:rPr>
                        <a:t>Borg / restic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6EDF3"/>
                          </a:solidFill>
                          <a:latin typeface="Calibri"/>
                          <a:ea typeface="Calibri"/>
                          <a:cs typeface="Calibri"/>
                        </a:rPr>
                        <a:t>Duplicity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E6EDF3"/>
                          </a:solidFill>
                          <a:latin typeface="Calibri"/>
                          <a:ea typeface="Calibri"/>
                          <a:cs typeface="Calibri"/>
                        </a:rPr>
                        <a:t>Timeshift / rsnapshot</a:t>
                      </a:r>
                      <a:endParaRPr lang="en-US"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0D1117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Backup method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Full copy every run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Delta-transfer sync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Content-defined chunk dedup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Full + incremental tar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rsync+hardlink / Btrfs snapshot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Deduplication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 built-in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Global, chunk-level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Hard-link level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Compression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 built-in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lz4 / zstd / zlib / lzma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gzip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Encryption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 built-in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AES-256 / chacha20, client-side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GnuPG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Remote / offsite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Yes (SSH)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Yes (SSH)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Yes (many backends)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Limited, mostly local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Restore path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Manual cp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rsync pull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extract / FUSE mount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duplicity restore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One-click / live-USB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Retention policy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None — grows forever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E9F9E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Manual scripting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borg prune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remove-older-than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50">
                          <a:solidFill>
                            <a:srgbClr val="0D1117"/>
                          </a:solidFill>
                          <a:latin typeface="Calibri"/>
                          <a:ea typeface="Calibri"/>
                          <a:cs typeface="Calibri"/>
                        </a:rPr>
                        <a:t>Configurable levels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algn="ctr">
                      <a:solidFill>
                        <a:srgbClr val="E1E4E8"/>
                      </a:solidFill>
                    </a:lnL>
                    <a:lnR w="9525" algn="ctr">
                      <a:solidFill>
                        <a:srgbClr val="E1E4E8"/>
                      </a:solidFill>
                    </a:lnR>
                    <a:lnT w="9525" algn="ctr">
                      <a:solidFill>
                        <a:srgbClr val="E1E4E8"/>
                      </a:solidFill>
                    </a:lnT>
                    <a:lnB w="9525" algn="ctr">
                      <a:solidFill>
                        <a:srgbClr val="E1E4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163976" name="Text 3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592760339" name="Text 4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7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5998118" name="Image 0" descr="/home/claude/safestore_ppt/assets/bg_light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26861857" name="Text 0"/>
          <p:cNvSpPr/>
          <p:nvPr/>
        </p:nvSpPr>
        <p:spPr bwMode="auto"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 spc="220">
                <a:solidFill>
                  <a:srgbClr val="3FB950"/>
                </a:solidFill>
                <a:latin typeface="Calibri"/>
                <a:ea typeface="Calibri"/>
                <a:cs typeface="Calibri"/>
              </a:rPr>
              <a:t>LEARNINGS</a:t>
            </a:r>
            <a:endParaRPr lang="en-US" sz="1400"/>
          </a:p>
        </p:txBody>
      </p:sp>
      <p:sp>
        <p:nvSpPr>
          <p:cNvPr id="836769358" name="Text 1"/>
          <p:cNvSpPr/>
          <p:nvPr/>
        </p:nvSpPr>
        <p:spPr bwMode="auto"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350" b="1">
                <a:solidFill>
                  <a:srgbClr val="0D1117"/>
                </a:solidFill>
                <a:latin typeface="Cambria"/>
                <a:ea typeface="Cambria"/>
                <a:cs typeface="Cambria"/>
              </a:rPr>
              <a:t>What safestore could borrow from the field</a:t>
            </a:r>
            <a:endParaRPr lang="en-US" sz="3350"/>
          </a:p>
        </p:txBody>
      </p:sp>
      <p:sp>
        <p:nvSpPr>
          <p:cNvPr id="680320189" name="Shape 2"/>
          <p:cNvSpPr/>
          <p:nvPr/>
        </p:nvSpPr>
        <p:spPr bwMode="auto">
          <a:xfrm>
            <a:off x="566928" y="1426464"/>
            <a:ext cx="457200" cy="0"/>
          </a:xfrm>
          <a:prstGeom prst="line">
            <a:avLst/>
          </a:prstGeom>
          <a:noFill/>
          <a:ln w="31750">
            <a:solidFill>
              <a:srgbClr val="3FB950"/>
            </a:solidFill>
            <a:prstDash val="solid"/>
          </a:ln>
        </p:spPr>
      </p:sp>
      <p:pic>
        <p:nvPicPr>
          <p:cNvPr id="277462764" name="Image 1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1874520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588056815" name="Image 2" descr="/home/claude/safestore_ppt/icons/git-compar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84703" y="2010583"/>
            <a:ext cx="294803" cy="294803"/>
          </a:xfrm>
          <a:prstGeom prst="rect">
            <a:avLst/>
          </a:prstGeom>
        </p:spPr>
      </p:pic>
      <p:sp>
        <p:nvSpPr>
          <p:cNvPr id="1124466484" name="Text 3"/>
          <p:cNvSpPr/>
          <p:nvPr/>
        </p:nvSpPr>
        <p:spPr bwMode="auto">
          <a:xfrm>
            <a:off x="1325880" y="1856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Compression</a:t>
            </a:r>
            <a:endParaRPr lang="en-US" sz="1550"/>
          </a:p>
        </p:txBody>
      </p:sp>
      <p:sp>
        <p:nvSpPr>
          <p:cNvPr id="507014210" name="Text 4"/>
          <p:cNvSpPr/>
          <p:nvPr/>
        </p:nvSpPr>
        <p:spPr bwMode="auto">
          <a:xfrm>
            <a:off x="1325880" y="2377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To reduce file size</a:t>
            </a:r>
            <a:endParaRPr lang="en-US" sz="1250"/>
          </a:p>
        </p:txBody>
      </p:sp>
      <p:pic>
        <p:nvPicPr>
          <p:cNvPr id="1679207307" name="Image 3" descr="/home/claude/safestore_ppt/assets/circle_amber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63640" y="1874520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998287949" name="Image 4" descr="/home/claude/safestore_ppt/icons/layers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399703" y="2010583"/>
            <a:ext cx="294803" cy="294803"/>
          </a:xfrm>
          <a:prstGeom prst="rect">
            <a:avLst/>
          </a:prstGeom>
        </p:spPr>
      </p:pic>
      <p:sp>
        <p:nvSpPr>
          <p:cNvPr id="127520409" name="Text 5"/>
          <p:cNvSpPr/>
          <p:nvPr/>
        </p:nvSpPr>
        <p:spPr bwMode="auto">
          <a:xfrm>
            <a:off x="7040880" y="18562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Restore Function</a:t>
            </a:r>
            <a:endParaRPr lang="en-US" sz="1550"/>
          </a:p>
        </p:txBody>
      </p:sp>
      <p:sp>
        <p:nvSpPr>
          <p:cNvPr id="1312372095" name="Text 6"/>
          <p:cNvSpPr/>
          <p:nvPr/>
        </p:nvSpPr>
        <p:spPr bwMode="auto">
          <a:xfrm>
            <a:off x="7040880" y="23774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To restore files</a:t>
            </a:r>
            <a:endParaRPr lang="en-US" sz="1250"/>
          </a:p>
        </p:txBody>
      </p:sp>
      <p:pic>
        <p:nvPicPr>
          <p:cNvPr id="1771085167" name="Image 5" descr="/home/claude/safestore_ppt/assets/circle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8640" y="3840480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591080575" name="Image 6" descr="/home/claude/safestore_ppt/icons/lock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84703" y="3976543"/>
            <a:ext cx="294803" cy="294803"/>
          </a:xfrm>
          <a:prstGeom prst="rect">
            <a:avLst/>
          </a:prstGeom>
        </p:spPr>
      </p:pic>
      <p:sp>
        <p:nvSpPr>
          <p:cNvPr id="1840891734" name="Text 7"/>
          <p:cNvSpPr/>
          <p:nvPr/>
        </p:nvSpPr>
        <p:spPr bwMode="auto">
          <a:xfrm>
            <a:off x="1325880" y="38221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Add at-rest encryption</a:t>
            </a:r>
            <a:endParaRPr lang="en-US" sz="1550"/>
          </a:p>
        </p:txBody>
      </p:sp>
      <p:sp>
        <p:nvSpPr>
          <p:cNvPr id="561245970" name="Text 8"/>
          <p:cNvSpPr/>
          <p:nvPr/>
        </p:nvSpPr>
        <p:spPr bwMode="auto">
          <a:xfrm>
            <a:off x="1325880" y="43434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Backups are plaintext today. Even optional GPG/AES would matter once a copy leaves the local disk.</a:t>
            </a:r>
            <a:endParaRPr lang="en-US" sz="1250"/>
          </a:p>
        </p:txBody>
      </p:sp>
      <p:pic>
        <p:nvPicPr>
          <p:cNvPr id="386301231" name="Image 7" descr="/home/claude/safestore_ppt/assets/circle_amber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63640" y="3840480"/>
            <a:ext cx="566928" cy="566928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988048757" name="Image 8" descr="/home/claude/safestore_ppt/icons/scissors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399703" y="3976543"/>
            <a:ext cx="294803" cy="294803"/>
          </a:xfrm>
          <a:prstGeom prst="rect">
            <a:avLst/>
          </a:prstGeom>
        </p:spPr>
      </p:pic>
      <p:sp>
        <p:nvSpPr>
          <p:cNvPr id="522085743" name="Text 9"/>
          <p:cNvSpPr/>
          <p:nvPr/>
        </p:nvSpPr>
        <p:spPr bwMode="auto">
          <a:xfrm>
            <a:off x="7040880" y="38221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D1117"/>
                </a:solidFill>
                <a:latin typeface="Calibri"/>
                <a:ea typeface="Calibri"/>
                <a:cs typeface="Calibri"/>
              </a:rPr>
              <a:t>Introduce a retention policy</a:t>
            </a:r>
            <a:endParaRPr lang="en-US" sz="1550"/>
          </a:p>
        </p:txBody>
      </p:sp>
      <p:sp>
        <p:nvSpPr>
          <p:cNvPr id="1099696385" name="Text 10"/>
          <p:cNvSpPr/>
          <p:nvPr/>
        </p:nvSpPr>
        <p:spPr bwMode="auto">
          <a:xfrm>
            <a:off x="7040880" y="43434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Nothing prunes Backup/. A "keep last N" flag would cap growth, like borg prune.</a:t>
            </a:r>
            <a:endParaRPr lang="en-US" sz="1250"/>
          </a:p>
        </p:txBody>
      </p:sp>
      <p:sp>
        <p:nvSpPr>
          <p:cNvPr id="609367500" name="Text 11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1347464180" name="Text 12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E7681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5486354" name="Image 0" descr="/home/claude/safestore_ppt/assets/bg_conclusion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07642770" name="Image 1" descr="/home/claude/safestore_ppt/assets/glow_green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-1280160" y="3291840"/>
            <a:ext cx="3291840" cy="3291840"/>
          </a:xfrm>
          <a:prstGeom prst="rect">
            <a:avLst/>
          </a:prstGeom>
        </p:spPr>
      </p:pic>
      <p:pic>
        <p:nvPicPr>
          <p:cNvPr id="2146647723" name="Image 2" descr="/home/claude/safestore_ppt/assets/circle_green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31520" y="731520"/>
            <a:ext cx="868680" cy="868680"/>
          </a:xfrm>
          <a:prstGeom prst="rect">
            <a:avLst/>
          </a:prstGeom>
          <a:effectLst>
            <a:outerShdw blurRad="88900" dist="38100" dir="5400000" sx="100000" sy="100000" kx="0" ky="0" algn="bl" rotWithShape="0">
              <a:srgbClr val="1B1F24">
                <a:alpha val="18000"/>
              </a:srgbClr>
            </a:outerShdw>
          </a:effectLst>
        </p:spPr>
      </p:pic>
      <p:pic>
        <p:nvPicPr>
          <p:cNvPr id="1774794024" name="Image 3" descr="/home/claude/safestore_ppt/icons/compass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40003" y="940003"/>
            <a:ext cx="451714" cy="451714"/>
          </a:xfrm>
          <a:prstGeom prst="rect">
            <a:avLst/>
          </a:prstGeom>
        </p:spPr>
      </p:pic>
      <p:sp>
        <p:nvSpPr>
          <p:cNvPr id="2034339727" name="Text 0"/>
          <p:cNvSpPr/>
          <p:nvPr/>
        </p:nvSpPr>
        <p:spPr bwMode="auto">
          <a:xfrm>
            <a:off x="731520" y="1783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700" b="1">
                <a:solidFill>
                  <a:srgbClr val="E6EDF3"/>
                </a:solidFill>
                <a:latin typeface="Cambria"/>
                <a:ea typeface="Cambria"/>
                <a:cs typeface="Cambria"/>
              </a:rPr>
              <a:t>Conclusion</a:t>
            </a:r>
            <a:endParaRPr lang="en-US" sz="3700"/>
          </a:p>
        </p:txBody>
      </p:sp>
      <p:sp>
        <p:nvSpPr>
          <p:cNvPr id="796620760" name="Shape 1"/>
          <p:cNvSpPr/>
          <p:nvPr/>
        </p:nvSpPr>
        <p:spPr bwMode="auto">
          <a:xfrm>
            <a:off x="777240" y="2779776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46700508" name="Text 2"/>
          <p:cNvSpPr/>
          <p:nvPr/>
        </p:nvSpPr>
        <p:spPr bwMode="auto">
          <a:xfrm>
            <a:off x="1078992" y="26060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A clean teaching example of backup mechanics — hashing, timestamping, logging — in under 150 lines of C.</a:t>
            </a:r>
            <a:endParaRPr lang="en-US" sz="1600"/>
          </a:p>
        </p:txBody>
      </p:sp>
      <p:sp>
        <p:nvSpPr>
          <p:cNvPr id="1909891001" name="Shape 3"/>
          <p:cNvSpPr/>
          <p:nvPr/>
        </p:nvSpPr>
        <p:spPr bwMode="auto">
          <a:xfrm>
            <a:off x="777240" y="3602735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66293007" name="Text 4"/>
          <p:cNvSpPr/>
          <p:nvPr/>
        </p:nvSpPr>
        <p:spPr bwMode="auto">
          <a:xfrm>
            <a:off x="1078992" y="34290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It trades away what makes Borg, restic, rsnapshot, and Duplicity production-grade: dedup, compression, encryption, retention, and safe process execution.</a:t>
            </a:r>
            <a:endParaRPr lang="en-US" sz="1600"/>
          </a:p>
        </p:txBody>
      </p:sp>
      <p:sp>
        <p:nvSpPr>
          <p:cNvPr id="124022362" name="Shape 5"/>
          <p:cNvSpPr/>
          <p:nvPr/>
        </p:nvSpPr>
        <p:spPr bwMode="auto">
          <a:xfrm>
            <a:off x="777240" y="4425696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76432471" name="Text 6"/>
          <p:cNvSpPr/>
          <p:nvPr/>
        </p:nvSpPr>
        <p:spPr bwMode="auto">
          <a:xfrm>
            <a:off x="1078992" y="425196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Fixing the unescaped shell interpolation is the one change to make before trusting it with real, user-supplied paths.</a:t>
            </a:r>
            <a:endParaRPr lang="en-US" sz="1600"/>
          </a:p>
        </p:txBody>
      </p:sp>
      <p:sp>
        <p:nvSpPr>
          <p:cNvPr id="537780648" name="Text 7"/>
          <p:cNvSpPr/>
          <p:nvPr/>
        </p:nvSpPr>
        <p:spPr bwMode="auto"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safestore — design &amp; literature review</a:t>
            </a:r>
            <a:endParaRPr lang="en-US" sz="1050"/>
          </a:p>
        </p:txBody>
      </p:sp>
      <p:sp>
        <p:nvSpPr>
          <p:cNvPr id="2123392999" name="Text 8"/>
          <p:cNvSpPr/>
          <p:nvPr/>
        </p:nvSpPr>
        <p:spPr bwMode="auto"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05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2026-08-20T02:51:11Z</dcterms:created>
  <dcterms:modified xsi:type="dcterms:W3CDTF">2026-08-20T02:59:27Z</dcterms:modified>
</cp:coreProperties>
</file>